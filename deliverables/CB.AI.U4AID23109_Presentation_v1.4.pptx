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35a5c28300413d" /><Relationship Type="http://schemas.openxmlformats.org/officeDocument/2006/relationships/extended-properties" Target="/docProps/app.xml" Id="R456cd4adabc0433b" /><Relationship Type="http://schemas.openxmlformats.org/officeDocument/2006/relationships/officeDocument" Target="/ppt/presentation.xml" Id="R4bded9c59e7f41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24594e3f80f4fa0"/>
  </p:sldMasterIdLst>
  <p:notesMasterIdLst>
    <p:notesMasterId xmlns:r="http://schemas.openxmlformats.org/officeDocument/2006/relationships" r:id="Rd441ccf3f1bd4211"/>
  </p:notesMasterIdLst>
  <p:sldIdLst>
    <p:sldId xmlns:r="http://schemas.openxmlformats.org/officeDocument/2006/relationships" id="256" r:id="Rbaf7fdd18a1846a1"/>
    <p:sldId xmlns:r="http://schemas.openxmlformats.org/officeDocument/2006/relationships" id="257" r:id="Rb5b7ac5551ea4cbe"/>
    <p:sldId xmlns:r="http://schemas.openxmlformats.org/officeDocument/2006/relationships" id="258" r:id="Rb366e5509a3b4b08"/>
    <p:sldId xmlns:r="http://schemas.openxmlformats.org/officeDocument/2006/relationships" id="259" r:id="R2874913d94484754"/>
    <p:sldId xmlns:r="http://schemas.openxmlformats.org/officeDocument/2006/relationships" id="260" r:id="Rb2ca291279a74571"/>
    <p:sldId xmlns:r="http://schemas.openxmlformats.org/officeDocument/2006/relationships" id="261" r:id="Re8738a8f21f24f01"/>
    <p:sldId xmlns:r="http://schemas.openxmlformats.org/officeDocument/2006/relationships" id="262" r:id="R7773958bd5bc4437"/>
    <p:sldId xmlns:r="http://schemas.openxmlformats.org/officeDocument/2006/relationships" id="263" r:id="R1efd12ad2e0c4419"/>
    <p:sldId xmlns:r="http://schemas.openxmlformats.org/officeDocument/2006/relationships" id="264" r:id="R44356b543e744a11"/>
    <p:sldId xmlns:r="http://schemas.openxmlformats.org/officeDocument/2006/relationships" id="265" r:id="R08ffb0f86c2c48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8575a552f2416f" /><Relationship Type="http://schemas.openxmlformats.org/officeDocument/2006/relationships/slideMaster" Target="/ppt/slideMasters/slideMaster1.xml" Id="R324594e3f80f4fa0" /><Relationship Type="http://schemas.openxmlformats.org/officeDocument/2006/relationships/notesMaster" Target="/ppt/notesMasters/notesMaster1.xml" Id="Rd441ccf3f1bd4211" /><Relationship Type="http://schemas.openxmlformats.org/officeDocument/2006/relationships/presProps" Target="/ppt/presProps.xml" Id="Racbefaee08ae464c" /><Relationship Type="http://schemas.openxmlformats.org/officeDocument/2006/relationships/tableStyles" Target="/ppt/tableStyles.xml" Id="R1878c5e36d5b429c" /><Relationship Type="http://schemas.openxmlformats.org/officeDocument/2006/relationships/slide" Target="/ppt/slides/slide1.xml" Id="Rbaf7fdd18a1846a1" /><Relationship Type="http://schemas.openxmlformats.org/officeDocument/2006/relationships/slide" Target="/ppt/slides/slide2.xml" Id="Rb5b7ac5551ea4cbe" /><Relationship Type="http://schemas.openxmlformats.org/officeDocument/2006/relationships/slide" Target="/ppt/slides/slide3.xml" Id="Rb366e5509a3b4b08" /><Relationship Type="http://schemas.openxmlformats.org/officeDocument/2006/relationships/slide" Target="/ppt/slides/slide4.xml" Id="R2874913d94484754" /><Relationship Type="http://schemas.openxmlformats.org/officeDocument/2006/relationships/slide" Target="/ppt/slides/slide5.xml" Id="Rb2ca291279a74571" /><Relationship Type="http://schemas.openxmlformats.org/officeDocument/2006/relationships/slide" Target="/ppt/slides/slide6.xml" Id="Re8738a8f21f24f01" /><Relationship Type="http://schemas.openxmlformats.org/officeDocument/2006/relationships/slide" Target="/ppt/slides/slide7.xml" Id="R7773958bd5bc4437" /><Relationship Type="http://schemas.openxmlformats.org/officeDocument/2006/relationships/slide" Target="/ppt/slides/slide8.xml" Id="R1efd12ad2e0c4419" /><Relationship Type="http://schemas.openxmlformats.org/officeDocument/2006/relationships/slide" Target="/ppt/slides/slide9.xml" Id="R44356b543e744a11" /><Relationship Type="http://schemas.openxmlformats.org/officeDocument/2006/relationships/slide" Target="/ppt/slides/slide10.xml" Id="R08ffb0f86c2c48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f7de43030843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80843f949d46ec" /><Relationship Type="http://schemas.openxmlformats.org/officeDocument/2006/relationships/notesMaster" Target="/ppt/notesMasters/notesMaster1.xml" Id="Rb88b03359cf04c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9afb4060684f24" /><Relationship Type="http://schemas.openxmlformats.org/officeDocument/2006/relationships/notesMaster" Target="/ppt/notesMasters/notesMaster1.xml" Id="R62d112feb2fc47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e39e081d6047e8" /><Relationship Type="http://schemas.openxmlformats.org/officeDocument/2006/relationships/notesMaster" Target="/ppt/notesMasters/notesMaster1.xml" Id="R451f3512715f48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97ac0ebe234945" /><Relationship Type="http://schemas.openxmlformats.org/officeDocument/2006/relationships/notesMaster" Target="/ppt/notesMasters/notesMaster1.xml" Id="R6ac7a65d827446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e266513e53a404a" /><Relationship Type="http://schemas.openxmlformats.org/officeDocument/2006/relationships/notesMaster" Target="/ppt/notesMasters/notesMaster1.xml" Id="R856ca7bd7eec49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b8f846eccb462a" /><Relationship Type="http://schemas.openxmlformats.org/officeDocument/2006/relationships/notesMaster" Target="/ppt/notesMasters/notesMaster1.xml" Id="Rc3a3069464024a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99ff62911949b1" /><Relationship Type="http://schemas.openxmlformats.org/officeDocument/2006/relationships/notesMaster" Target="/ppt/notesMasters/notesMaster1.xml" Id="R6f4a7025e4ca4e2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d0a95276694d8a" /><Relationship Type="http://schemas.openxmlformats.org/officeDocument/2006/relationships/notesMaster" Target="/ppt/notesMasters/notesMaster1.xml" Id="Rfcfb3f0ff887490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c2848296464b7e" /><Relationship Type="http://schemas.openxmlformats.org/officeDocument/2006/relationships/notesMaster" Target="/ppt/notesMasters/notesMaster1.xml" Id="R9c7c39f153b04b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83c59acb2d4609" /><Relationship Type="http://schemas.openxmlformats.org/officeDocument/2006/relationships/notesMaster" Target="/ppt/notesMasters/notesMaster1.xml" Id="R39f8437d1eae49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introduce the confidentiality problem and the Case Study 4 objective. The cover illustration is conceptual. Source: Automotive Engineering AI Project Case Studies, pages 16-19.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Automotive Engineering AI Project Case Studies, page 16. Emphasize that the project assists reviewers and does not replace qualified reviewers or certified tools.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Automotive Engineering AI Project Case Studies, pages 17-18 and 24-26. Implementation: repository_analyzer.py, API, RAG orchestrator and review store.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Case Study 4 workflow adapted from page 17. The final human disposition is stored separately from the generated model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Automotive Engineering AI Project Case Studies, pages 16-19. The pilot scans every supported file in an uploaded ZIP; authenticated Git checkout remains a roadmap item.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demo: upload the repository ZIP. Show 3 accepted source files, 2 include edges, 4 findings, and the ignored vendor file. Results are advisory.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Case Study 4 risks and controls on page 18, common design principles on page 3, and the implemented API/storage controls.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preflight does not claim full static analysis. RAG does not replace deterministic checks. The reviewer retains decision authority.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pytest returned 15 passed. Tests include authentication, path authorization, SARIF parsing, performance observations and archive defenses. These results do not establish production quality or MISRA compliance.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questions and offering the live demo. Source: Case Study 4 implementation approach on page 19 and the common roadmap on page 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643bce660843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f7a27e62e548a7" /><Relationship Type="http://schemas.openxmlformats.org/officeDocument/2006/relationships/slideLayout" Target="/ppt/slideLayouts/slideLayout1.xml" Id="R1be5ca9116e2443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e5ca9116e2443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f66085c2641b0" /><Relationship Type="http://schemas.openxmlformats.org/officeDocument/2006/relationships/image" Target="/ppt/media/image.png" Id="R18cb1d6637134deb" /><Relationship Type="http://schemas.openxmlformats.org/officeDocument/2006/relationships/notesSlide" Target="/ppt/notesSlides/notesSlide1.xml" Id="Raae38ba358a04f2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66ff60d3e418e" /><Relationship Type="http://schemas.openxmlformats.org/officeDocument/2006/relationships/notesSlide" Target="/ppt/notesSlides/notesSlide2.xml" Id="Rd97577be6c0549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aede580824d53" /><Relationship Type="http://schemas.openxmlformats.org/officeDocument/2006/relationships/notesSlide" Target="/ppt/notesSlides/notesSlide3.xml" Id="Rb27cc6f029444d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267e45f38418f" /><Relationship Type="http://schemas.openxmlformats.org/officeDocument/2006/relationships/notesSlide" Target="/ppt/notesSlides/notesSlide4.xml" Id="Rff5d62d86f2245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4f75c76324f9d" /><Relationship Type="http://schemas.openxmlformats.org/officeDocument/2006/relationships/notesSlide" Target="/ppt/notesSlides/notesSlide5.xml" Id="R795f76897ebc41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08444130b14791" /><Relationship Type="http://schemas.openxmlformats.org/officeDocument/2006/relationships/notesSlide" Target="/ppt/notesSlides/notesSlide6.xml" Id="R39cc62b400ad4e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45ea514654122" /><Relationship Type="http://schemas.openxmlformats.org/officeDocument/2006/relationships/notesSlide" Target="/ppt/notesSlides/notesSlide7.xml" Id="Ra28ed4b52af747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9d850b8bb41bf" /><Relationship Type="http://schemas.openxmlformats.org/officeDocument/2006/relationships/notesSlide" Target="/ppt/notesSlides/notesSlide8.xml" Id="R6192a5ce7ebe41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7052c470c4a52" /><Relationship Type="http://schemas.openxmlformats.org/officeDocument/2006/relationships/notesSlide" Target="/ppt/notesSlides/notesSlide9.xml" Id="R40d567940dea4b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02c8ba46d4740" /><Relationship Type="http://schemas.openxmlformats.org/officeDocument/2006/relationships/notesSlide" Target="/ppt/notesSlides/notesSlide10.xml" Id="R6927dd46e7e6436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b1d6637134de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1B370-090C-44A0-B77B-68E1A7FC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5619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Automotive Secure Code</a:t>
            </a:r>
          </a:p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Debugging and Review Assistant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E0E334-4449-4A23-AF92-1F01D80F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547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C9D9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9E1"/>
                </a:solidFill>
                <a:latin typeface="Arial"/>
                <a:ea typeface="Arial"/>
                <a:cs typeface="Arial"/>
              </a:rPr>
              <a:t>TechPulse Capstone Project  |  Digital Track  |  Case Study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9B9C7A-E946-48CD-AB1F-13EF444F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1049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CDCE36-5E5F-4388-A503-067D208FD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Repository-scale. Local. Evidence-bound. Human-approved.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F224E-E738-4CE9-A7C3-4C0F49710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0"/>
            <a:ext cx="5476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E1"/>
                </a:solidFill>
                <a:latin typeface="Arial"/>
                <a:ea typeface="Arial"/>
                <a:cs typeface="Arial"/>
              </a:rPr>
              <a:t>Karthikeya Bellapukonda  |  CB.AI.U4AID23109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7E5C27-0EEE-413D-B341-76601A79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76900"/>
            <a:ext cx="5476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9D9E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9E1"/>
                </a:solidFill>
                <a:latin typeface="Arial"/>
                <a:ea typeface="Arial"/>
                <a:cs typeface="Arial"/>
              </a:rPr>
              <a:t>Amrita Vishwa Vidyapeetham</a:t>
            </a:r>
          </a:p>
        </p:txBody>
      </p:sp>
    </p:spTree>
    <p:extLst>
      <p:ext uri="{BB962C8B-B14F-4D97-AF65-F5344CB8AC3E}">
        <p14:creationId xmlns:p14="http://schemas.microsoft.com/office/powerpoint/2010/main" val="289885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5B420-5211-4E15-9D69-21531D97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The engineering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81933C-E6C2-46D5-89A1-87091B980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9FCC6-69C3-41D3-AEA2-2215DA319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218C39-16CA-4990-875E-9C8265C8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101864-8EAD-46C3-A0FA-C5637CB3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535C6C-7AC8-4FB4-AAF0-BB4E41D3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2B36"/>
                </a:solidFill>
                <a:latin typeface="Arial"/>
                <a:ea typeface="Arial"/>
                <a:cs typeface="Arial"/>
              </a:rPr>
              <a:t>ECU teams need faster reviews, but public AI can conflict with source-code confidentiality and regulatory controls.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C31226-DCC2-46B2-A1BC-3BFC54FE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19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Manual interpretation also varies by reviewer experience. The pilot therefore keeps code and model interactions local, grounds guidance in approved documents, and records a human decision.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1936E-1B99-4393-A0F6-09636408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3905250" cy="433387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102433"/>
          </a:solidFill>
          <a:ln xmlns:a="http://schemas.openxmlformats.org/drawingml/2006/main" w="0">
            <a:solidFill>
              <a:srgbClr val="10243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F9258E-BC05-41C9-ADD2-7C5DC6606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6212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B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B7D8"/>
                </a:solidFill>
                <a:latin typeface="Arial"/>
                <a:ea typeface="Arial"/>
                <a:cs typeface="Arial"/>
              </a:rPr>
              <a:t>APPROVED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F1B51-43FF-4F6B-8EEC-E9A6EF61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0"/>
            <a:ext cx="2762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Authorized C/C++ repository ZIP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14FE5A-7337-473E-A26A-BF34BB2A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27622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6384F"/>
          </a:solidFill>
          <a:ln xmlns:a="http://schemas.openxmlformats.org/drawingml/2006/main" w="19050">
            <a:solidFill>
              <a:srgbClr val="28B7D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model + local evidence</a:t>
            </a:r>
          </a:p>
        </p:txBody>
      </p:sp>
      <p:cxnSp>
        <p:nvCxnSpPr>
          <p:cNvPr id="25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477375" y="3200400"/>
            <a:ext cx="0" cy="6572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7742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2A6F1A-5EA5-46BB-A2C6-39666D55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435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C9D9E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9D9E1"/>
                </a:solidFill>
                <a:latin typeface="Arial"/>
                <a:ea typeface="Arial"/>
                <a:cs typeface="Arial"/>
              </a:rPr>
              <a:t>No external transmission by design</a:t>
            </a:r>
          </a:p>
        </p:txBody>
      </p:sp>
    </p:spTree>
    <p:extLst>
      <p:ext uri="{BB962C8B-B14F-4D97-AF65-F5344CB8AC3E}">
        <p14:creationId xmlns:p14="http://schemas.microsoft.com/office/powerpoint/2010/main" val="13769497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DA317-FCCA-4233-B25B-443F17E4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Solution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5F07C-64F2-462C-A641-EA04B9E5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27DE5D-F3DE-415D-8637-89A5F927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92C85-EAEB-4A12-9F59-A3147529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64FA5-CDFC-4C1B-A4A9-015D1509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26F75B-B60A-4EB4-9C94-5497AE2C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47875"/>
            <a:ext cx="1952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Streamlit</a:t>
            </a:r>
          </a:p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Repository ZIP +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802E04-0D8B-460C-823B-C19D358A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47875"/>
            <a:ext cx="1952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Validation and audit</a:t>
            </a:r>
          </a:p>
        </p:txBody>
      </p:sp>
      <p:cxnSp>
        <p:nvCxnSpPr>
          <p:cNvPr id="27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524125" y="26479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9A8"/>
            </a:solidFill>
            <a:prstDash val="solid"/>
            <a:tailEnd type="triangle" w="sm" len="sm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C0A0D-25A4-4211-A68E-0BADE3C7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047875"/>
            <a:ext cx="1952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102433"/>
          </a:solidFill>
          <a:ln xmlns:a="http://schemas.openxmlformats.org/drawingml/2006/main" w="19050">
            <a:solidFill>
              <a:srgbClr val="10243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 local analysis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ZIP map + all-file preflight + RAG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48225" y="26479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9A8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E0F910-746A-4161-89F2-8C6A5D24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47875"/>
            <a:ext cx="1952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Structured report</a:t>
            </a:r>
          </a:p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Evidence and confidence</a:t>
            </a:r>
          </a:p>
        </p:txBody>
      </p: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7172325" y="26479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9A8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8EDF1D-0912-4AD4-B5DB-7B3D5C169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047875"/>
            <a:ext cx="1952625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Human review</a:t>
            </a:r>
          </a:p>
          <a:p xmlns:a="http://schemas.openxmlformats.org/drawingml/2006/main">
            <a:pPr algn="ctr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Disposition and notes</a:t>
            </a:r>
          </a:p>
        </p:txBody>
      </p:sp>
      <p:cxnSp>
        <p:nvCxnSpPr>
          <p:cNvPr id="33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496425" y="26479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879A8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49E68-A6D9-4529-A8DA-FB6CE011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29125"/>
            <a:ext cx="20955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8F0F2"/>
          </a:solidFill>
          <a:ln xmlns:a="http://schemas.openxmlformats.org/drawingml/2006/main" w="1905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ChromaDB</a:t>
            </a:r>
          </a:p>
          <a:p xmlns:a="http://schemas.openxmlformats.org/drawingml/2006/main">
            <a:pPr algn="ctr">
              <a:defRPr sz="157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Approved guidance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E5BB5-5366-4E77-BD86-DD98025F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29125"/>
            <a:ext cx="2095500" cy="838200"/>
          </a:xfrm>
          <a:prstGeom xmlns:a="http://schemas.openxmlformats.org/drawingml/2006/main" prst="roundRect">
            <a:avLst>
              <a:gd name="adj" fmla="val 15909"/>
            </a:avLst>
          </a:prstGeom>
          <a:solidFill xmlns:a="http://schemas.openxmlformats.org/drawingml/2006/main">
            <a:srgbClr val="E8F0F2"/>
          </a:solidFill>
          <a:ln xmlns:a="http://schemas.openxmlformats.org/drawingml/2006/main" w="1905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Ollama</a:t>
            </a:r>
          </a:p>
          <a:p xmlns:a="http://schemas.openxmlformats.org/drawingml/2006/main">
            <a:pPr algn="ctr">
              <a:defRPr sz="157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Local LLM</a:t>
            </a:r>
          </a:p>
        </p:txBody>
      </p:sp>
      <p:cxnSp>
        <p:nvCxnSpPr>
          <p:cNvPr id="36" name=""/>
          <p:cNvCxnSpPr>
            <a:stCxn xmlns:a="http://schemas.openxmlformats.org/drawingml/2006/main" id="15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V="1">
            <a:off x="4857750" y="3248025"/>
            <a:ext cx="1338263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B7D8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16" idx="0"/>
            <a:endCxn xmlns:a="http://schemas.openxmlformats.org/drawingml/2006/main" id="9" idx="2"/>
          </p:cNvCxnSpPr>
          <p:nvPr/>
        </p:nvCxnSpPr>
        <p:spPr>
          <a:xfrm xmlns:a="http://schemas.openxmlformats.org/drawingml/2006/main" flipH="1" flipV="1">
            <a:off x="6196013" y="3248025"/>
            <a:ext cx="1138238" cy="11811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8B7D8"/>
            </a:solidFill>
            <a:prstDash val="solid"/>
            <a:tailEnd type="triangle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FC35AE-44CC-4C8D-A2F1-593E3693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38800"/>
            <a:ext cx="933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SQLite stores review metadata, report output, status, reviewer notes, and audit events. Source text is not stored.</a:t>
            </a:r>
          </a:p>
        </p:txBody>
      </p:sp>
    </p:spTree>
    <p:extLst>
      <p:ext uri="{BB962C8B-B14F-4D97-AF65-F5344CB8AC3E}">
        <p14:creationId xmlns:p14="http://schemas.microsoft.com/office/powerpoint/2010/main" val="18692214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0B44A13-B77B-4430-9AA3-D49841277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Review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09A43-7DEF-4A63-9C32-0017C14D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4105A-E998-4E5C-92FC-6C2AEFC4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5AECD-EC1A-4828-833F-61CBD1CD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A9D27-E4BA-40A2-9106-14B1F730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094DE9-6F71-434C-AFDD-FE9AD647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33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9A8"/>
          </a:solidFill>
          <a:ln xmlns:a="http://schemas.openxmlformats.org/drawingml/2006/main" w="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0E8FD-9178-4F7A-832D-C783CAFD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Upload ZIP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0F2E6-545D-41B5-8C33-1CB7CFCC7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Explicit repository boundary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760931-7A1B-4595-A62E-87AF0F36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0025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3CF6F-4B29-4293-AA44-2AB682E9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733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9A8"/>
          </a:solidFill>
          <a:ln xmlns:a="http://schemas.openxmlformats.org/drawingml/2006/main" w="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9F7F6-2ABD-4924-8B8C-AB450353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908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Authorize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FAF97-FFDB-4C7C-9DC4-DE47A9FF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0670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User, repository, paths, archive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BC7278-3FB3-42FA-A3A7-C9D2B21A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025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CDB99D-558A-4FA7-8F84-44D62EE5F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33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9A8"/>
          </a:solidFill>
          <a:ln xmlns:a="http://schemas.openxmlformats.org/drawingml/2006/main" w="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F00B71-E80B-49DB-A05F-014179C0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908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Map + scan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5A6DE2-BAD4-46EC-BDA9-3C02418C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670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All modules and dependencies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5C8A36-3521-46BA-BB21-CB46DA98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0025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6DA96-9271-457F-BCA3-5A9D2595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33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8588E5-EE39-4152-95A4-77DE6BB6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908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Ground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5717E3-685B-469D-B8E1-3EAE3990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670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Highest-risk module +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8B930B-138F-4C60-B221-DA79D393A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0025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B6AF78-CECC-4DFB-94F9-4596B353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733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CF37A-33E7-4E6A-89E9-FC42163C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908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Generate report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1774A5-6B93-4975-BF5A-4BE5736D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670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Evidence, confidence, fixes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9371CA-F3FB-4E3E-BD02-CC689025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000250"/>
            <a:ext cx="714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09CBE9-8F77-49B1-8A8A-05B61057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7335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A821FE-BFF4-4E06-8275-82564544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90800"/>
            <a:ext cx="1752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Record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907914-4839-4C77-805B-E7FFB94A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067050"/>
            <a:ext cx="171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Accept, reject, needs changes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DC3970-87ED-4859-821B-076E15E7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797C37-3D64-4E9F-9C68-F0C79042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Graceful degradation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7075BB7-BB96-42D0-A294-2532B1DF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33925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92B36"/>
                </a:solidFill>
                <a:latin typeface="Arial"/>
                <a:ea typeface="Arial"/>
                <a:cs typeface="Arial"/>
              </a:rPr>
              <a:t>If the local model or vector index is unavailable, the API returns a labeled deterministic-fallback report. It does not invent a standard reference.</a:t>
            </a:r>
          </a:p>
        </p:txBody>
      </p:sp>
    </p:spTree>
    <p:extLst>
      <p:ext uri="{BB962C8B-B14F-4D97-AF65-F5344CB8AC3E}">
        <p14:creationId xmlns:p14="http://schemas.microsoft.com/office/powerpoint/2010/main" val="20473680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EF7A05-834E-4727-B3D3-390B3DC3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Coverage of Case Study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0C77F9-FF35-4FDE-BB64-E8CEAFA3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65A3B-F2A6-41EA-BA3D-8FE947B5C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D09EE-161B-47A5-96FC-5F41BBB6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F9809D-B401-4C40-A6B8-61BDF671E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74BC2-EEBD-438A-95D6-F1B5C8C3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Case-study capability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2CC1F-2E2A-48A8-82F1-4D48FF0B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A6D77"/>
                </a:solidFill>
                <a:latin typeface="Arial"/>
                <a:ea typeface="Arial"/>
                <a:cs typeface="Arial"/>
              </a:rPr>
              <a:t>Implemented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482B9-E615-463C-9E73-410F93FE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69C6A-D42B-4860-A737-26D14FE1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49EEBE-8EA3-4E88-BDC3-48103B56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669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Repository understanding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EA6E7-16ED-4599-9C75-706B80C5C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669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B36"/>
                </a:solidFill>
                <a:latin typeface="Arial"/>
                <a:ea typeface="Arial"/>
                <a:cs typeface="Arial"/>
              </a:rPr>
              <a:t>Tree, module inventory, branches, loops, calls and include edges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39AC47-1F9B-4920-AF45-3533EEEE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CCB1B-7239-4C92-846C-1FC4D084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6D8597-1DB4-4695-9671-376EC15A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622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Warnings and logs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C7FE35-0EF8-42D5-9C25-1ACFF286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6222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B36"/>
                </a:solidFill>
                <a:latin typeface="Arial"/>
                <a:ea typeface="Arial"/>
                <a:cs typeface="Arial"/>
              </a:rPr>
              <a:t>Compiler evidence plus structured SARIF rules and locations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43284-D989-4388-8C3B-11695FE2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20501C-56C6-4F30-AB3E-8E14F7C7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67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4F864-0F8A-4639-8910-DACB2DB3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Defect candidates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196023-6189-431B-816E-9EAB5065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5755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B36"/>
                </a:solidFill>
                <a:latin typeface="Arial"/>
                <a:ea typeface="Arial"/>
                <a:cs typeface="Arial"/>
              </a:rPr>
              <a:t>Pointer, boundary, resource, and control-flow preflight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6FEDEC-4C8B-45E4-BDCE-34BE762F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489897-3BE6-4CD3-8728-03B87ABF3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42B348-D52F-414F-86D4-C03A34173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5287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MISRA-oriented guidance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624AC3-A287-4218-BAF4-FA0EE2C8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B36"/>
                </a:solidFill>
                <a:latin typeface="Arial"/>
                <a:ea typeface="Arial"/>
                <a:cs typeface="Arial"/>
              </a:rPr>
              <a:t>Local PDF retrieval with rule-reference 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129A28-AC96-45E8-A544-C677ACB2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8CAE80-D321-4B62-8AF1-846E6F43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577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1D4EF7-2686-4EFC-A48C-25C73D68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Structured findings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961192-A1B4-491D-951B-68F36C48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648200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B36"/>
                </a:solidFill>
                <a:latin typeface="Arial"/>
                <a:ea typeface="Arial"/>
                <a:cs typeface="Arial"/>
              </a:rPr>
              <a:t>File, function, line, severity, evidence, confidence, status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2D4793-47FB-4FDA-8E8B-D6E2FB6F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12E585-6C86-4D7D-8A6F-F33EA61C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57E509-51D9-4098-B763-414A66DC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43525"/>
            <a:ext cx="304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Performance and CI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403F1A-1FFD-4146-83AA-B0AC899C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343525"/>
            <a:ext cx="628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92B36"/>
                </a:solidFill>
                <a:latin typeface="Arial"/>
                <a:ea typeface="Arial"/>
                <a:cs typeface="Arial"/>
              </a:rPr>
              <a:t>Complexity, allocation checks, SARIF export and CI gate</a:t>
            </a:r>
          </a:p>
        </p:txBody>
      </p:sp>
    </p:spTree>
    <p:extLst>
      <p:ext uri="{BB962C8B-B14F-4D97-AF65-F5344CB8AC3E}">
        <p14:creationId xmlns:p14="http://schemas.microsoft.com/office/powerpoint/2010/main" val="9495086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9EE72E-B1B8-42D8-B55B-E1D9B7B8F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Demonstration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59F6D7-B799-4694-93B1-5FCA60D0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82215-F935-49CB-8B19-B01FA7E4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98A9B0-AAEF-4A25-8237-8A23E3E3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50D31A-493E-4628-B4AA-DB96FD0C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16223-5165-4A10-B011-45A48765D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810250" cy="4333875"/>
          </a:xfrm>
          <a:prstGeom xmlns:a="http://schemas.openxmlformats.org/drawingml/2006/main" prst="roundRect">
            <a:avLst>
              <a:gd name="adj" fmla="val 2637"/>
            </a:avLst>
          </a:prstGeom>
          <a:solidFill xmlns:a="http://schemas.openxmlformats.org/drawingml/2006/main">
            <a:srgbClr val="102433"/>
          </a:solidFill>
          <a:ln xmlns:a="http://schemas.openxmlformats.org/drawingml/2006/main" w="0">
            <a:solidFill>
              <a:srgbClr val="10243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44A3C-1073-4E28-B20D-D0C7CFB6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2387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automotive_ecu_demo/</a:t>
            </a:r>
          </a:p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├── include/</a:t>
            </a:r>
          </a:p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│   └── vehicle_state.h</a:t>
            </a:r>
          </a:p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├── src/</a:t>
            </a:r>
          </a:p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│   ├── main.c</a:t>
            </a:r>
          </a:p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│   └── vehicle_state.c</a:t>
            </a:r>
          </a:p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└── vendor/</a:t>
            </a:r>
          </a:p>
          <a:p xmlns:a="http://schemas.openxmlformats.org/drawingml/2006/main">
            <a:pPr algn="l">
              <a:defRPr sz="1875" b="0">
                <a:solidFill>
                  <a:srgbClr val="E7F1F4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E7F1F4"/>
                </a:solidFill>
                <a:latin typeface="Consolas"/>
                <a:ea typeface="Consolas"/>
                <a:cs typeface="Consolas"/>
              </a:rPr>
              <a:t>    └── legacy_copy.c  [ignored]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F008C5-5C7D-4CD3-A38C-B598E632E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3A4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23A48"/>
                </a:solidFill>
                <a:latin typeface="Arial"/>
                <a:ea typeface="Arial"/>
                <a:cs typeface="Arial"/>
              </a:rPr>
              <a:t>CRITICAL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85A638-90D0-4604-8880-8BD97C04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4310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Null-pointer dereference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09C91-4881-460A-9BF9-3707DFD7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37172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Line 17  |  CWE-476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D243D-D89B-4C45-AAB7-BA9F1D9B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52725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04A46-332E-40A3-937A-8642A85C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05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HIGH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770AB6-002A-459D-94BB-6FA40E17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2897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Unbounded string copy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1CEBA1-7FF6-47E0-A054-93106AD0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576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Line 16  |  CWE-120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76627D-5943-42D4-99A1-8FF2CC08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3860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FDC7AE-EB99-4D6F-B405-6F2E4357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79A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879A8"/>
                </a:solidFill>
                <a:latin typeface="Arial"/>
                <a:ea typeface="Arial"/>
                <a:cs typeface="Arial"/>
              </a:rPr>
              <a:t>REPOSITORY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313DE2-9FCC-45E9-B0FB-04A64509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14850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4 findings across 1 file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C6917-0EF5-4570-A28D-590C0961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9434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3 files  |  2 dependencies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9A8613-39DC-4893-99AD-146AC76C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5721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Demo ZIP: AutomotiveECURepository_v1.0</a:t>
            </a:r>
          </a:p>
        </p:txBody>
      </p:sp>
    </p:spTree>
    <p:extLst>
      <p:ext uri="{BB962C8B-B14F-4D97-AF65-F5344CB8AC3E}">
        <p14:creationId xmlns:p14="http://schemas.microsoft.com/office/powerpoint/2010/main" val="17493256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77966A-FB97-4070-B4CB-78BF3B2D4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Security and governance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5D33D-B4CE-48C4-860C-43B4A0E8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C8E6C-514D-4389-B0D7-FE07151C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93B217-8794-4DF0-ADB9-00CD23F5B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2FF21-8D8A-4533-AD7F-E0030077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06A89-D1EB-41CD-A24D-F8547F1B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24000"/>
            <a:ext cx="9810750" cy="409575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28575">
            <a:solidFill>
              <a:srgbClr val="2879A8"/>
            </a:solidFill>
            <a:prstDash val="dash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06F11-8C3A-40FF-BC11-68E8ED62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335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79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9A8"/>
                </a:solidFill>
                <a:latin typeface="Arial"/>
                <a:ea typeface="Arial"/>
                <a:cs typeface="Arial"/>
              </a:rPr>
              <a:t>LOCAL APPROVED ENVIRONMENT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048D5-1ABC-4AB4-A3D9-C712F4D52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62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9A8"/>
          </a:solidFill>
          <a:ln xmlns:a="http://schemas.openxmlformats.org/drawingml/2006/main" w="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EE590A-CBD7-4093-B956-B84EE991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352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Archive control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686F07-B3A3-41EB-8352-4231A02E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66700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Traversal, links, duplicates, encryption, sizes and compression ratio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D74AEE-B1AB-43B0-825E-B5B0C77A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622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3906EB-8C79-471B-8D0A-0D98063B7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Prompt boundary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80D29D-A82E-461E-9DEC-9922D06D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66700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Repository text and logs remain untrusted 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8B8D7B-37FA-4CEB-8C5E-B8D31C6F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623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9A8"/>
          </a:solidFill>
          <a:ln xmlns:a="http://schemas.openxmlformats.org/drawingml/2006/main" w="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4D7EC-5FA5-4945-9FC0-007D7624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352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Evidence control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524193-72FC-49B5-839B-2BAD91BB4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366712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Unsupported rule references are rejected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EA312-C43B-425B-8E8A-30FB0CB3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623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A39C8B-E4AA-4C39-A70B-B4B622CB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352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Access control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D1B472-AF47-4D96-B26D-BDDD31D8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67125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Per-run authentication plus repository and path permissions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87781-E4EF-487B-9BBA-3E8F781B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362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79A8"/>
          </a:solidFill>
          <a:ln xmlns:a="http://schemas.openxmlformats.org/drawingml/2006/main" w="0">
            <a:solidFill>
              <a:srgbClr val="2879A8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9B68FE-7584-4751-8557-8DE8BC57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3529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Data minimization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5F78BF-1BB9-440D-83C4-432F6D7B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46672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Source body is not written to SQLite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6FA728-54EF-43FE-8E76-13BD36F6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FE1253-BD20-4347-8235-BFF08057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3529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Human authority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A7EA41-8266-4C7F-8D65-E22C3AD3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667250"/>
            <a:ext cx="3667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Reviewer disposition remains mandatory</a:t>
            </a:r>
          </a:p>
        </p:txBody>
      </p:sp>
    </p:spTree>
    <p:extLst>
      <p:ext uri="{BB962C8B-B14F-4D97-AF65-F5344CB8AC3E}">
        <p14:creationId xmlns:p14="http://schemas.microsoft.com/office/powerpoint/2010/main" val="10337064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A9C25E-E476-475C-8D3D-C75F6795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Why the hybrid design is safer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86CB4B-093B-471D-BD08-428661EF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883CE4-CCD8-4ACC-9D7F-00EF45B9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71A4A-BEE3-413F-953B-3FD9B763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92366-0633-4236-A7C2-E15498D01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A65C72-420C-4CD1-8E59-0CB4C2C6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2857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Deterministic preflight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Reproducible checks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Exact source locations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Works without the LLM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8FFC7-BC34-4EF1-BB18-B3EED7AA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05000"/>
            <a:ext cx="2857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102433"/>
          </a:solidFill>
          <a:ln xmlns:a="http://schemas.openxmlformats.org/drawingml/2006/main" w="19050">
            <a:solidFill>
              <a:srgbClr val="10243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Grounded RAG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Approved local evidence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Contextual explanation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Validated rule reference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CC720A-26D2-46AA-82F9-FFE3CE2F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05000"/>
            <a:ext cx="285750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Human 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Compilation and tests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Accept or reject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Recorded rationale</a:t>
            </a:r>
          </a:p>
        </p:txBody>
      </p:sp>
      <p:cxnSp>
        <p:nvCxnSpPr>
          <p:cNvPr id="20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14750" y="3190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77742"/>
            </a:solidFill>
            <a:prstDash val="solid"/>
            <a:tailEnd type="triangle" w="med" len="med"/>
          </a:ln>
        </p:spPr>
      </p:cxnSp>
      <p:cxnSp>
        <p:nvCxnSpPr>
          <p:cNvPr id="21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524750" y="3190875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D77742"/>
            </a:solidFill>
            <a:prstDash val="solid"/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5B21F-BEBD-485B-B055-0B2538B6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958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92B3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92B36"/>
                </a:solidFill>
                <a:latin typeface="Arial"/>
                <a:ea typeface="Arial"/>
                <a:cs typeface="Arial"/>
              </a:rPr>
              <a:t>Each layer addresses a different failure mode: pattern blind spots, hallucinated guidance, and unsafe automation.</a:t>
            </a:r>
          </a:p>
        </p:txBody>
      </p:sp>
    </p:spTree>
    <p:extLst>
      <p:ext uri="{BB962C8B-B14F-4D97-AF65-F5344CB8AC3E}">
        <p14:creationId xmlns:p14="http://schemas.microsoft.com/office/powerpoint/2010/main" val="21302782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07CDCA-32A3-4856-A2D3-C4F82FAE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Validation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16D9E-7C0E-4BE7-9165-F240D452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CE031E-E94C-4F5E-BDD1-F83BCC07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AF974-570F-4869-9042-413D02DF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616099-BB17-4BE2-9908-9A05391C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DC9B7-5372-4975-AA49-80C9951D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763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2F855A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2F855A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1A476-CEF2-46F6-AF76-A325AE70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automated tests 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FBDAF-49AD-43C9-BE5B-7B167565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3 • 2 • 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4BC778-EF81-43CB-8D5F-EBA613B6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files • dependencies • findings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102F4E-16EE-433A-9B6D-6F1B5B4F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524000"/>
            <a:ext cx="190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6EA4FF-FF4A-472C-A108-E3DFBFF0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04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E38BDF-9E1C-47B1-A351-01C229EB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859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API contract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CE0E83-940B-4413-8DFF-200B2344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859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Health and validated review 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30B456-B035-4CD3-995F-3C4FFEF3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24075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DD701-C472-4079-B0AB-3ACF64D3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7F3537-23E2-45D0-93C8-6C1D7374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9552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Workflow storage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0AF79E-5A37-432A-8487-853A3695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9552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History, disposition, and metrics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3AC3DE-B0C8-4130-AD17-FC454E59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3370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26DA2-69CD-4599-B032-D781F391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C7720-ADBE-47A4-9198-AA6A23BF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051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Auth and permissions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EB97A2-9B0D-4A1D-8ADB-AFD85846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Missing key and unauthorized source paths rejected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8125AB-5B52-46A4-A4DB-EA5AEE8A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743325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65DCFD-961D-4FAE-AEDB-11538422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33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9FFDCB-AD63-4F89-8BE7-8ADD7A22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147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Finding precision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95177E-3117-4A7F-8117-D8D98363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14775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Demo reports line and function context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D88353-4078-4C73-BCFB-C2FCF70ED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52950"/>
            <a:ext cx="647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ADD"/>
          </a:solidFill>
          <a:ln xmlns:a="http://schemas.openxmlformats.org/drawingml/2006/main" w="0">
            <a:solidFill>
              <a:srgbClr val="CEDAD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72CA66-C73F-4B75-9877-F26D8142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43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55A"/>
          </a:solidFill>
          <a:ln xmlns:a="http://schemas.openxmlformats.org/drawingml/2006/main" w="0">
            <a:solidFill>
              <a:srgbClr val="2F855A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8521F2-A26B-490A-8A66-771372A3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244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SARIF and performance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2A1ED3-BCE0-4551-A63D-E49A5A81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2440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Structured evidence and allocation observation verified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EF719F-81A8-4F21-8017-B710407F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91175"/>
            <a:ext cx="657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Validation demonstrates software behavior. It does not establish production recall, false-positive rate, or MISRA compliance.</a:t>
            </a:r>
          </a:p>
        </p:txBody>
      </p:sp>
    </p:spTree>
    <p:extLst>
      <p:ext uri="{BB962C8B-B14F-4D97-AF65-F5344CB8AC3E}">
        <p14:creationId xmlns:p14="http://schemas.microsoft.com/office/powerpoint/2010/main" val="10872678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386E0-9BFE-48F5-AF6D-136346C5F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Pilot boundary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F77E50-521C-4B26-9499-476E2BB0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76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BD8EDA-6D51-494C-B1DC-FC1ADF0E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72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7742"/>
          </a:solidFill>
          <a:ln xmlns:a="http://schemas.openxmlformats.org/drawingml/2006/main" w="0">
            <a:solidFill>
              <a:srgbClr val="D7774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66721-C84A-4724-808A-C87491FA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Case Study 4  |  Secure Code Debugging and Review Assistant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DD589B-4259-455F-A830-C268FF2C5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A6D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A6D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7DC2B5-5D13-4EB4-9DCF-650B9DEA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PILOT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2E1449-1AC6-43B0-9932-4F3E6FC1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381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102433"/>
          </a:solidFill>
          <a:ln xmlns:a="http://schemas.openxmlformats.org/drawingml/2006/main" w="19050">
            <a:solidFill>
              <a:srgbClr val="102433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Authenticated repository ZIP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RAG + SARIF + CI gate</a:t>
            </a:r>
          </a:p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SQLite workflow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B0C90-1817-403B-B85B-1ECB87B33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79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9A8"/>
                </a:solidFill>
                <a:latin typeface="Arial"/>
                <a:ea typeface="Arial"/>
                <a:cs typeface="Arial"/>
              </a:rPr>
              <a:t>ENGINEERING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0DF6D-539F-4C48-AEFA-7EB17BDF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2381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Clang AST and data flow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Provider-native Git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Commit pinning</a:t>
            </a:r>
          </a:p>
        </p:txBody>
      </p: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048000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7742"/>
            </a:solidFill>
            <a:prstDash val="solid"/>
            <a:tailEnd type="triangle" w="sm" len="sm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147B8-4077-42C5-A314-9D7178EA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71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79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9A8"/>
                </a:solidFill>
                <a:latin typeface="Arial"/>
                <a:ea typeface="Arial"/>
                <a:cs typeface="Arial"/>
              </a:rPr>
              <a:t>ENTERPRISE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A9C5B-E946-4986-A62E-D9CE1CA8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2381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OIDC and RBAC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Project isolation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Encryption and monitoring</a:t>
            </a:r>
          </a:p>
        </p:txBody>
      </p:sp>
      <p:cxnSp>
        <p:nvCxnSpPr>
          <p:cNvPr id="32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905500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7742"/>
            </a:solidFill>
            <a:prstDash val="solid"/>
            <a:tailEnd type="triangle" w="sm" len="sm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9BF3B8-01FC-4AAC-B0ED-54944A94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716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79A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879A8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9AB13B-3940-4E31-8946-9A50A2EE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238125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ADD"/>
            </a:solidFill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Labeled benchmark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Quality gates</a:t>
            </a:r>
          </a:p>
          <a:p xmlns:a="http://schemas.openxmlformats.org/drawingml/2006/main">
            <a:pPr algn="ctr">
              <a:defRPr sz="17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Controlled rollout</a:t>
            </a:r>
          </a:p>
        </p:txBody>
      </p:sp>
      <p:cxnSp>
        <p:nvCxnSpPr>
          <p:cNvPr id="35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8763000" y="3024188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7742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9677B-BCD2-4C08-87C3-0D2FA15C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05375"/>
            <a:ext cx="971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0243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433"/>
                </a:solidFill>
                <a:latin typeface="Arial"/>
                <a:ea typeface="Arial"/>
                <a:cs typeface="Arial"/>
              </a:rPr>
              <a:t>The strongest result is a credible pilot: useful today, explicit about its limits, and designed for controlled expansion.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D12250-49B5-43CF-B0D9-944CD871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791200"/>
            <a:ext cx="552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879A8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2879A8"/>
                </a:solidFill>
                <a:latin typeface="Arial"/>
                <a:ea typeface="Arial"/>
                <a:cs typeface="Arial"/>
              </a:rPr>
              <a:t>github.com/Karthikeya-B19/automotive-compliance-engine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95D38-35C5-404A-89A0-D54CBC41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1150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7774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7742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84779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2026-10-05T19:25:47.3770000Z</dcterms:created>
  <dcterms:modified xsi:type="dcterms:W3CDTF">2026-10-05T19:25:47.3770000Z</dcterms:modified>
</coreProperties>
</file>