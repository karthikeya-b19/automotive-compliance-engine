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cfff27de18458f" /><Relationship Type="http://schemas.openxmlformats.org/officeDocument/2006/relationships/extended-properties" Target="/docProps/app.xml" Id="R7d6ed93e48ea4bda" /><Relationship Type="http://schemas.openxmlformats.org/officeDocument/2006/relationships/officeDocument" Target="/ppt/presentation.xml" Id="Rf2bc090d37a44e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4ac0a34d3047fc"/>
  </p:sldMasterIdLst>
  <p:notesMasterIdLst>
    <p:notesMasterId xmlns:r="http://schemas.openxmlformats.org/officeDocument/2006/relationships" r:id="R35d264d8fb614a7a"/>
  </p:notesMasterIdLst>
  <p:sldIdLst>
    <p:sldId xmlns:r="http://schemas.openxmlformats.org/officeDocument/2006/relationships" id="256" r:id="R68fdf32e73d14adf"/>
    <p:sldId xmlns:r="http://schemas.openxmlformats.org/officeDocument/2006/relationships" id="257" r:id="R21e7f47d944e499a"/>
    <p:sldId xmlns:r="http://schemas.openxmlformats.org/officeDocument/2006/relationships" id="258" r:id="R9562515a13eb45eb"/>
    <p:sldId xmlns:r="http://schemas.openxmlformats.org/officeDocument/2006/relationships" id="259" r:id="R2cfa82e0322741f0"/>
    <p:sldId xmlns:r="http://schemas.openxmlformats.org/officeDocument/2006/relationships" id="260" r:id="R53e297e1035e4932"/>
    <p:sldId xmlns:r="http://schemas.openxmlformats.org/officeDocument/2006/relationships" id="261" r:id="R868088ee34a8440f"/>
    <p:sldId xmlns:r="http://schemas.openxmlformats.org/officeDocument/2006/relationships" id="262" r:id="R11ded520d320487d"/>
    <p:sldId xmlns:r="http://schemas.openxmlformats.org/officeDocument/2006/relationships" id="263" r:id="R354d1783f96c4fb3"/>
    <p:sldId xmlns:r="http://schemas.openxmlformats.org/officeDocument/2006/relationships" id="264" r:id="Rf84f8ea1ee96461d"/>
    <p:sldId xmlns:r="http://schemas.openxmlformats.org/officeDocument/2006/relationships" id="265" r:id="R503ef3d657d742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decbecc7f948e7" /><Relationship Type="http://schemas.openxmlformats.org/officeDocument/2006/relationships/slideMaster" Target="/ppt/slideMasters/slideMaster1.xml" Id="R114ac0a34d3047fc" /><Relationship Type="http://schemas.openxmlformats.org/officeDocument/2006/relationships/notesMaster" Target="/ppt/notesMasters/notesMaster1.xml" Id="R35d264d8fb614a7a" /><Relationship Type="http://schemas.openxmlformats.org/officeDocument/2006/relationships/presProps" Target="/ppt/presProps.xml" Id="Rf77c1209eb184203" /><Relationship Type="http://schemas.openxmlformats.org/officeDocument/2006/relationships/tableStyles" Target="/ppt/tableStyles.xml" Id="R55c733d364804526" /><Relationship Type="http://schemas.openxmlformats.org/officeDocument/2006/relationships/slide" Target="/ppt/slides/slide1.xml" Id="R68fdf32e73d14adf" /><Relationship Type="http://schemas.openxmlformats.org/officeDocument/2006/relationships/slide" Target="/ppt/slides/slide2.xml" Id="R21e7f47d944e499a" /><Relationship Type="http://schemas.openxmlformats.org/officeDocument/2006/relationships/slide" Target="/ppt/slides/slide3.xml" Id="R9562515a13eb45eb" /><Relationship Type="http://schemas.openxmlformats.org/officeDocument/2006/relationships/slide" Target="/ppt/slides/slide4.xml" Id="R2cfa82e0322741f0" /><Relationship Type="http://schemas.openxmlformats.org/officeDocument/2006/relationships/slide" Target="/ppt/slides/slide5.xml" Id="R53e297e1035e4932" /><Relationship Type="http://schemas.openxmlformats.org/officeDocument/2006/relationships/slide" Target="/ppt/slides/slide6.xml" Id="R868088ee34a8440f" /><Relationship Type="http://schemas.openxmlformats.org/officeDocument/2006/relationships/slide" Target="/ppt/slides/slide7.xml" Id="R11ded520d320487d" /><Relationship Type="http://schemas.openxmlformats.org/officeDocument/2006/relationships/slide" Target="/ppt/slides/slide8.xml" Id="R354d1783f96c4fb3" /><Relationship Type="http://schemas.openxmlformats.org/officeDocument/2006/relationships/slide" Target="/ppt/slides/slide9.xml" Id="Rf84f8ea1ee96461d" /><Relationship Type="http://schemas.openxmlformats.org/officeDocument/2006/relationships/slide" Target="/ppt/slides/slide10.xml" Id="R503ef3d657d742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8f9e1426524f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6a979270c44dc" /><Relationship Type="http://schemas.openxmlformats.org/officeDocument/2006/relationships/notesMaster" Target="/ppt/notesMasters/notesMaster1.xml" Id="Raa28f6e33d7247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f74f21073749e6" /><Relationship Type="http://schemas.openxmlformats.org/officeDocument/2006/relationships/notesMaster" Target="/ppt/notesMasters/notesMaster1.xml" Id="Raca743e4df8e4e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4dcaf8de0b46ff" /><Relationship Type="http://schemas.openxmlformats.org/officeDocument/2006/relationships/notesMaster" Target="/ppt/notesMasters/notesMaster1.xml" Id="R1834cdf2026e4c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cc3c6c64ca4e4d" /><Relationship Type="http://schemas.openxmlformats.org/officeDocument/2006/relationships/notesMaster" Target="/ppt/notesMasters/notesMaster1.xml" Id="Rb24741daab9749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ae79d9a80c4408" /><Relationship Type="http://schemas.openxmlformats.org/officeDocument/2006/relationships/notesMaster" Target="/ppt/notesMasters/notesMaster1.xml" Id="Rd7c041b564b24e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4e8ea0f054b45" /><Relationship Type="http://schemas.openxmlformats.org/officeDocument/2006/relationships/notesMaster" Target="/ppt/notesMasters/notesMaster1.xml" Id="R076eee0b228b4d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1ed6b6fca7432d" /><Relationship Type="http://schemas.openxmlformats.org/officeDocument/2006/relationships/notesMaster" Target="/ppt/notesMasters/notesMaster1.xml" Id="Rb609ba87cf9d4a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1dd27733c94d19" /><Relationship Type="http://schemas.openxmlformats.org/officeDocument/2006/relationships/notesMaster" Target="/ppt/notesMasters/notesMaster1.xml" Id="R83d35c5618e34a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ded78496194be4" /><Relationship Type="http://schemas.openxmlformats.org/officeDocument/2006/relationships/notesMaster" Target="/ppt/notesMasters/notesMaster1.xml" Id="R3067e4f74f4a42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e3eeae8e5f4e8e" /><Relationship Type="http://schemas.openxmlformats.org/officeDocument/2006/relationships/notesMaster" Target="/ppt/notesMasters/notesMaster1.xml" Id="R1980190a087a48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the confidentiality problem and the Case Study 4 objective. The cover illustration is conceptual. Source: Automotive Engineering AI Project Case Studies, pages 16-19.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Automotive Engineering AI Project Case Studies, page 16. Emphasize that the project assists reviewers and does not replace qualified reviewers or certified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Automotive Engineering AI Project Case Studies, pages 17-18 and 24-26. The Streamlit dashboard uses an explicit high-contrast theme for readable text, inputs, tabs, metrics, findings and buttons. Implementation: repository_analyzer.py, API, RAG orchestrator and review 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Study 4 workflow adapted from page 17. The final human disposition is stored separately from the generated model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Automotive Engineering AI Project Case Studies, pages 16-19. The pilot scans every supported file in an uploaded ZIP; authenticated Git checkout remains a roadmap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upload the repository ZIP. Show 3 accepted source files, 2 include edges, 4 findings, and the ignored vendor file. Results are advisory.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Case Study 4 risks and controls on page 18, common design principles on page 3, and the implemented API/storage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preflight does not claim full static analysis. RAG does not replace deterministic checks. The reviewer retains decision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pytest returned 15 passed. Tests include authentication, path authorization, SARIF parsing, performance observations and archive defenses. These results do not establish production quality or MISRA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questions and offering the live demo. Source: Case Study 4 implementation approach on page 19 and the common roadmap on page 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6cd77d6f24a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bc57d101ff463d" /><Relationship Type="http://schemas.openxmlformats.org/officeDocument/2006/relationships/slideLayout" Target="/ppt/slideLayouts/slideLayout1.xml" Id="R6db0c230b4fe46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b0c230b4fe46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ee79a5a4a45a9" /><Relationship Type="http://schemas.openxmlformats.org/officeDocument/2006/relationships/image" Target="/ppt/media/image.png" Id="R9cdf55d9ca86417a" /><Relationship Type="http://schemas.openxmlformats.org/officeDocument/2006/relationships/notesSlide" Target="/ppt/notesSlides/notesSlide1.xml" Id="R25d54d04188444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de105533b4751" /><Relationship Type="http://schemas.openxmlformats.org/officeDocument/2006/relationships/notesSlide" Target="/ppt/notesSlides/notesSlide2.xml" Id="R5e359b6601364c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46504cf254c94" /><Relationship Type="http://schemas.openxmlformats.org/officeDocument/2006/relationships/notesSlide" Target="/ppt/notesSlides/notesSlide3.xml" Id="R1aad9e5e8c4f49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a46e140b5438a" /><Relationship Type="http://schemas.openxmlformats.org/officeDocument/2006/relationships/notesSlide" Target="/ppt/notesSlides/notesSlide4.xml" Id="R35b517419fab45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c8c7e5ad64a88" /><Relationship Type="http://schemas.openxmlformats.org/officeDocument/2006/relationships/notesSlide" Target="/ppt/notesSlides/notesSlide5.xml" Id="Re65fc24f0c0641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42d1c177947c4" /><Relationship Type="http://schemas.openxmlformats.org/officeDocument/2006/relationships/notesSlide" Target="/ppt/notesSlides/notesSlide6.xml" Id="R34b267ef144c40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3f11575034095" /><Relationship Type="http://schemas.openxmlformats.org/officeDocument/2006/relationships/notesSlide" Target="/ppt/notesSlides/notesSlide7.xml" Id="R85fb327847c945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031faab1d46ea" /><Relationship Type="http://schemas.openxmlformats.org/officeDocument/2006/relationships/notesSlide" Target="/ppt/notesSlides/notesSlide8.xml" Id="R8fc1aefff3e241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45f11cd4f41ea" /><Relationship Type="http://schemas.openxmlformats.org/officeDocument/2006/relationships/notesSlide" Target="/ppt/notesSlides/notesSlide9.xml" Id="R779de690962b4e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62710665d4951" /><Relationship Type="http://schemas.openxmlformats.org/officeDocument/2006/relationships/notesSlide" Target="/ppt/notesSlides/notesSlide10.xml" Id="R647985e59b834f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f55d9ca86417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9F8D7-6607-46DC-91CE-7B58D908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Automotive Secure Code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Debugging and Review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29C28-742B-44E4-A1AA-B6CB4C89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47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9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9E1"/>
                </a:solidFill>
                <a:latin typeface="Arial"/>
                <a:ea typeface="Arial"/>
                <a:cs typeface="Arial"/>
              </a:rPr>
              <a:t>TechPulse Capstone Project  |  Digital Track  |  Case Study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5A820-3787-4DFF-AA95-0820931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104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545C0-785B-44E5-AA1A-0C613F0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Repository-scale. Local. Evidence-bound. Human-approved.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EE606-AF04-467E-90AE-3F123F5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547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E1"/>
                </a:solidFill>
                <a:latin typeface="Arial"/>
                <a:ea typeface="Arial"/>
                <a:cs typeface="Arial"/>
              </a:rPr>
              <a:t>Karthikeya Bellapukonda  |  CB.AI.U4AID23109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3B1E6-62EA-4106-ADFD-D90D372F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E1"/>
                </a:solidFill>
                <a:latin typeface="Arial"/>
                <a:ea typeface="Arial"/>
                <a:cs typeface="Arial"/>
              </a:rPr>
              <a:t>Amrita Vishwa Vidyapeetham</a:t>
            </a:r>
          </a:p>
        </p:txBody>
      </p:sp>
    </p:spTree>
    <p:extLst>
      <p:ext uri="{BB962C8B-B14F-4D97-AF65-F5344CB8AC3E}">
        <p14:creationId xmlns:p14="http://schemas.microsoft.com/office/powerpoint/2010/main" val="172992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3FDCE-AF6D-4DC3-BFF3-F63AA08A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The engineering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FB2C3-9607-4755-86E0-39AF5C2C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A942B-FBC0-4454-8579-44852007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3A383-63F9-4FE3-A712-265C8E89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2C758-F18F-40DA-A3F1-61485829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DFF1B-4172-436E-BEDC-217D9ADF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2B36"/>
                </a:solidFill>
                <a:latin typeface="Arial"/>
                <a:ea typeface="Arial"/>
                <a:cs typeface="Arial"/>
              </a:rPr>
              <a:t>ECU teams need faster reviews, but public AI can conflict with source-code confidentiality and regulatory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2DBDB-88D2-41DD-88DB-6CF622D9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Manual interpretation also varies by reviewer experience. The pilot therefore keeps code and model interactions local, grounds guidance in approved documents, and records a human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8D932-40F2-467E-8CBC-BBB588AF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905250" cy="433387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0">
            <a:solidFill>
              <a:srgbClr val="1024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ADBB8-4078-406E-8E25-F7A27D14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B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B7D8"/>
                </a:solidFill>
                <a:latin typeface="Arial"/>
                <a:ea typeface="Arial"/>
                <a:cs typeface="Arial"/>
              </a:rPr>
              <a:t>APPROVED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959E9-CEDB-4043-AD87-5A868CD6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762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Authorized C/C++ repository ZIP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84508-4487-4F98-9466-34CD21D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762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6384F"/>
          </a:solidFill>
          <a:ln xmlns:a="http://schemas.openxmlformats.org/drawingml/2006/main" w="19050">
            <a:solidFill>
              <a:srgbClr val="28B7D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model + local evidence</a:t>
            </a:r>
          </a:p>
        </p:txBody>
      </p:sp>
      <p:cxnSp>
        <p:nvCxnSpPr>
          <p:cNvPr id="2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477375" y="320040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742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EC755-F201-46BA-B3AB-4DE83049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9D9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9E1"/>
                </a:solidFill>
                <a:latin typeface="Arial"/>
                <a:ea typeface="Arial"/>
                <a:cs typeface="Arial"/>
              </a:rPr>
              <a:t>No external transmission by design</a:t>
            </a:r>
          </a:p>
        </p:txBody>
      </p:sp>
    </p:spTree>
    <p:extLst>
      <p:ext uri="{BB962C8B-B14F-4D97-AF65-F5344CB8AC3E}">
        <p14:creationId xmlns:p14="http://schemas.microsoft.com/office/powerpoint/2010/main" val="1416068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6AB52-1BB7-46F8-B021-5DA1F84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Solution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9127B-B3EA-429E-AE47-57265682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58972-B16A-4158-9D8F-1AEA4DF7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C368E-2BB5-415D-828D-8D279B73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58ACB-D5DF-4D98-94FF-D19A96E0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58B32-A866-47E7-8459-3E2A9BDB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Streamlit</a:t>
            </a:r>
          </a:p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Accessible ZIP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9918E-1592-4187-AF18-30F6A430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Validation and audit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24125" y="26479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9A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D4C3B-114F-47DE-ACF0-371F6FEE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19050">
            <a:solidFill>
              <a:srgbClr val="1024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local analysis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ZIP map + all-file preflight + RAG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48225" y="26479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9A8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35445-A7FF-4BF4-BB32-1FC10FA7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Structured report</a:t>
            </a:r>
          </a:p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Evidence and confidence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72325" y="26479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9A8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8C20C-0E62-4D31-8545-A50AACD6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Disposition and notes</a:t>
            </a:r>
          </a:p>
        </p:txBody>
      </p:sp>
      <p:cxnSp>
        <p:nvCxnSpPr>
          <p:cNvPr id="3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96425" y="26479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9A8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84A4D-2472-46C2-A7E4-20F6933F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20955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8F0F2"/>
          </a:solidFill>
          <a:ln xmlns:a="http://schemas.openxmlformats.org/drawingml/2006/main" w="1905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ChromaDB</a:t>
            </a:r>
          </a:p>
          <a:p xmlns:a="http://schemas.openxmlformats.org/drawingml/2006/main">
            <a:pPr algn="ctr">
              <a:defRPr sz="15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Approved guidance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3E388-E5A7-414D-B308-E8C0EB3E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0955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8F0F2"/>
          </a:solidFill>
          <a:ln xmlns:a="http://schemas.openxmlformats.org/drawingml/2006/main" w="1905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Ollama</a:t>
            </a:r>
          </a:p>
          <a:p xmlns:a="http://schemas.openxmlformats.org/drawingml/2006/main">
            <a:pPr algn="ctr">
              <a:defRPr sz="15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cxnSp>
        <p:nvCxnSpPr>
          <p:cNvPr id="36" name=""/>
          <p:cNvCxnSpPr>
            <a:stCxn xmlns:a="http://schemas.openxmlformats.org/drawingml/2006/main" id="15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4857750" y="3248025"/>
            <a:ext cx="1338263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7D8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6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6196013" y="3248025"/>
            <a:ext cx="1138238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7D8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6025B-DA4A-4F0D-8E73-734EF43E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SQLite stores review metadata, report output, status, reviewer notes, and audit events. Source text is not stored.</a:t>
            </a:r>
          </a:p>
        </p:txBody>
      </p:sp>
    </p:spTree>
    <p:extLst>
      <p:ext uri="{BB962C8B-B14F-4D97-AF65-F5344CB8AC3E}">
        <p14:creationId xmlns:p14="http://schemas.microsoft.com/office/powerpoint/2010/main" val="369379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BFB7A6-4C8E-4DEA-A1BE-755EA964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1C89B-9601-446F-B445-024A1384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8F31B-15CA-4F8B-96DD-ABAE1A9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04E6A-D465-4195-8390-8A6F494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DAC22-3B4D-48EA-A4AE-9503B56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01BCE-A3B2-4AD7-867B-19BA3D07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10D18-BFE9-4377-9481-1BB52744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Upload ZIP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7B2A0-49BA-487A-B676-C2337B91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Explicit repository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6593D-FC2A-4A09-8E35-6730C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8F537-5AA3-4E29-B6B8-33626A18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A3A49-BD5F-4C0C-9403-7310ADD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Authorize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41E93-EE96-4208-8B32-990AC34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User, repository, paths, archive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F2BAB-8D9A-49A5-ABE6-54D72FB4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ED07F-945B-42B3-B421-A0B5AF1E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1CB50-DD39-48EF-B2A0-86D796C0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Map + scan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F9228-4A06-4F68-8FD8-A0FAD3B2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All modules and dependencies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17AAF-D0D2-41EA-84FE-C8AA1EA5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8785F-555C-484C-9FE8-FF96C62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D8FC6-3492-4A67-A146-D943CE89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5AA2E-6572-4B38-A0F5-D076EF53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Highest-risk module +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4C79E-0C7A-473E-B9D7-36C06AA4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4F82B-B028-427B-8B65-C8AFD614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0E62D-1822-4B03-90AD-D36C9429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Generate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2B18F-09BA-4DED-941F-C85B2998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Evidence, confidence, fixes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B06B0-38D0-464D-8556-861BFB62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81617-3B0E-479F-9C8A-8CB5DF05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F1EDE-43FF-4C06-A84B-AC2D06A6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Record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F1DEC-CBE2-4B30-AC6B-2D99C226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Accept, reject, needs changes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AF8AE8-C172-41D5-A39B-FF92A38B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9BE38-F259-4224-ACED-EBF35EB1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Graceful degradation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C03D41-C2A2-41D9-9D73-45F50435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3392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If the local model or vector index is unavailable, the API returns a labeled deterministic-fallback report. It does not invent a standard reference.</a:t>
            </a:r>
          </a:p>
        </p:txBody>
      </p:sp>
    </p:spTree>
    <p:extLst>
      <p:ext uri="{BB962C8B-B14F-4D97-AF65-F5344CB8AC3E}">
        <p14:creationId xmlns:p14="http://schemas.microsoft.com/office/powerpoint/2010/main" val="1030753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5D84E1-9524-4731-919B-08A9AECA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Coverage of Case Study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56B29-32F1-4D28-B716-FCE4335B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DEEE1-A2A9-4692-B8CE-F9929960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4EE42-DA11-406A-A7EE-AA8C51A9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B905C-F71B-411F-9EA2-B18FFAC0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D3E61-C5CA-4C40-BDBC-6BFB571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Case-study capability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A288A-E1D9-45FF-AFAE-F01EBF4C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6D77"/>
                </a:solidFill>
                <a:latin typeface="Arial"/>
                <a:ea typeface="Arial"/>
                <a:cs typeface="Arial"/>
              </a:rPr>
              <a:t>Implemented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02C78-5E26-4549-B58F-C27202B9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4E51A-59BF-4BD2-AAAE-0690D77E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D2F9F-5BC7-4305-85F7-246B7E7A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669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Repository understanding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F233F-DFFE-423F-B48C-5B33BE36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Tree, module inventory, branches, loops, calls and include edges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1FCE1-FE29-463A-BF55-38419AAF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BCA94-AE72-4857-85F3-419873C3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779B2-03D8-4330-9E24-7F1DD495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622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Warnings and 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6ED87-D050-4F27-BFE8-A6EB51A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6222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Compiler evidence plus structured SARIF rules and locations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54FD9-F59C-49BC-9012-B3564F1A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8D053-39CA-4C65-9D47-CEFEFCF1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3127D-E218-4FDA-9503-BE216D5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Defect candidates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834E3-5026-486F-AE09-9E2B2407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Pointer, boundary, resource, and control-flow preflight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F8E91-0CE8-4913-8267-447DB9E0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96481-E10B-4D99-B921-F3EC53DF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89E9D-FCC3-4452-A785-2E8A7AB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MISRA-oriented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23A91-E9FA-4DFB-AEAC-8837530F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Local PDF retrieval with rule-reference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D7D594-BF72-4C6E-9C43-7EA93D7F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462CB-AE76-4289-B3D8-891BABAD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CD976-F352-440A-8B82-4EBB731B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Structured findings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571CA-E113-460D-BEDE-2B203382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482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File, function, line, severity, evidence, confidence,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D2690-61CB-4367-9060-5707A1B2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286F8-A073-4340-8B61-F1212ED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A2A17F-67E9-43A9-BD30-D2FF40C6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435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Performance and CI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9FB6F-5DD9-4451-B100-A0A1B53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4352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Complexity, allocation checks, SARIF export and CI gate</a:t>
            </a:r>
          </a:p>
        </p:txBody>
      </p:sp>
    </p:spTree>
    <p:extLst>
      <p:ext uri="{BB962C8B-B14F-4D97-AF65-F5344CB8AC3E}">
        <p14:creationId xmlns:p14="http://schemas.microsoft.com/office/powerpoint/2010/main" val="1424740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C6187-2B3D-4422-B070-5ACFBBF4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Demonstration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16D7B-2F4F-4029-A39E-B9F68845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C4E07-72A2-4F56-9BCE-87BF8744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5B7E5-4037-4670-8688-056157B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47F13-FA81-4689-8B2D-4BEEAD9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E9AA8-DE7B-4D89-ADB4-E637C43D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0">
            <a:solidFill>
              <a:srgbClr val="1024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8F029-C647-413A-8757-6CA8836A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238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automotive_ecu_demo/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├── include/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│   └── vehicle_state.h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├── src/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│   ├── main.c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│   └── vehicle_state.c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└── vendor/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    └── legacy_copy.c  [ignored]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75EB0-1E4B-4C3E-9F81-47B981A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83459-E48A-47DC-AAAF-2F3492C1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431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Null-pointer dereference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AAD76-CFA5-461D-87B8-F68289A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717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Line 17  |  CWE-476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0AB81-5BB3-400A-82AB-54C213A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527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D1AE9-257C-402C-B58B-9A2236AF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B5247-578D-4F68-9184-12568EA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289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Unbounded string 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404F6-6F17-42A5-9D85-F9FEFFA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57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Line 16  |  CWE-120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69D11-A83A-4558-B941-633FF9EC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386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37B68-9946-45C8-B03E-D3B34721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2A658-C734-4A13-B53E-918F98A4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14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4 findings across 1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014E3-0B59-4DD7-979D-17232BA0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43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3 files  |  2 dependencies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547A1-7945-4803-86B5-54FD6ED9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72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Demo ZIP: AutomotiveECURepository_v1.0</a:t>
            </a:r>
          </a:p>
        </p:txBody>
      </p:sp>
    </p:spTree>
    <p:extLst>
      <p:ext uri="{BB962C8B-B14F-4D97-AF65-F5344CB8AC3E}">
        <p14:creationId xmlns:p14="http://schemas.microsoft.com/office/powerpoint/2010/main" val="1589279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CB2971-B697-4C0F-8729-C6916F8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Security and governance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2FE5B-0274-4CB3-8CC2-3AE930DD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D4467-91D7-4875-B592-945405D1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10143-0433-42BE-A2D7-8D0AFEF3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51850-5C63-47EB-AA52-6BB77D11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6D877-1252-432E-9A40-A378A88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"/>
            <a:ext cx="981075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28575">
            <a:solidFill>
              <a:srgbClr val="2879A8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1214C-F5E7-4DD1-A3B7-65FC266C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33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LOCAL APPROVED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DB91B-A744-41D7-AD1C-9EBE4958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62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23298-9C26-4373-8212-DDFD09A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352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Archive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9AEB1-A3BD-446C-9699-3C2A5ED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6700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Traversal, links, duplicates, encryption, sizes and compression ratio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46A8A-102E-4748-B334-1922AD30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BD094-8649-42EA-BB46-F3AA8B4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Prompt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5BD33-277B-452D-8582-40170F1D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6700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Repository text and logs remain untrusted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40E87-49CB-442E-8B76-33CBB1F1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2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4817F-E0B6-4FDC-AB39-C7C6830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352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Evidence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ECF4A-F7BA-4F92-AD4F-2AB6CD8F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671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Unsupported rule references are rejected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C5D2E-5437-4950-A5EA-B1FD1BE1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62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222F9-1190-4240-98C4-796A477B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52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Access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CEE89-3A59-4EE0-850F-C7CE3471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671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Per-run authentication plus repository and path permissions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1610D-C3EC-47C2-971B-621C1EDB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62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47E69-9E6B-41C5-8498-CD28D5C0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352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Data minimization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8CA33-5AB8-448D-A0F5-10FCD6BF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6672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Source body is not written to 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1E945-5D8E-495C-8E3C-CECC54DC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87B59-0C77-4CE2-AD27-70E1B66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352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Human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A5C49-A1C1-4263-AFFA-ECD1DE90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6672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Reviewer disposition remains mandatory</a:t>
            </a:r>
          </a:p>
        </p:txBody>
      </p:sp>
    </p:spTree>
    <p:extLst>
      <p:ext uri="{BB962C8B-B14F-4D97-AF65-F5344CB8AC3E}">
        <p14:creationId xmlns:p14="http://schemas.microsoft.com/office/powerpoint/2010/main" val="1664804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6B055-9365-4329-95BA-6A63E343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Why the hybrid design is safer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9A1E0-2138-45E3-8BDA-60D7330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217CC-0D79-4EA7-A0E5-8116C9FA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D4ABD-EAFF-4426-86D4-8415BF9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69D7C-4BC2-4105-9EC6-7DBE1C63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36D3C-6885-4407-A840-5A4A0C3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857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Deterministic preflight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Reproducible checks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Exact source locations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Works without the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205BB-35F1-47F5-9511-B2D1677F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57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19050">
            <a:solidFill>
              <a:srgbClr val="1024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Grounded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Approved local evidence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Contextual explanation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rule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5E1EF-C015-450B-91FA-F09D4BB4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857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Compilation and tests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Accept or reject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Recorded rationale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14750" y="3190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77742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3190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77742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F3722-FE03-45CE-B6BC-CC64EC7C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B36"/>
                </a:solidFill>
                <a:latin typeface="Arial"/>
                <a:ea typeface="Arial"/>
                <a:cs typeface="Arial"/>
              </a:rPr>
              <a:t>Each layer addresses a different failure mode: pattern blind spots, hallucinated guidance, and unsafe automation.</a:t>
            </a:r>
          </a:p>
        </p:txBody>
      </p:sp>
    </p:spTree>
    <p:extLst>
      <p:ext uri="{BB962C8B-B14F-4D97-AF65-F5344CB8AC3E}">
        <p14:creationId xmlns:p14="http://schemas.microsoft.com/office/powerpoint/2010/main" val="61163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567DC-DAF8-40DB-822D-A004757C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66029-D65B-4544-AB83-21E0DDB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CDC26-A3F3-41EA-B58D-272E5FAB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60521-E845-4854-AA89-8298C10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27557-A2C2-4AFD-8EF5-94854B58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0F899-C0AD-4A84-A74E-52165567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FE63F-0733-47D1-A026-42DF8C72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automated tests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AF98D-D984-49B7-B88B-89394316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3 • 2 •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FC1B3-C423-4282-B31D-0C9FCC49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files • dependencies •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20DBF-242D-4B54-A61E-7181146B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240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A05D7-BD9C-4023-8BEB-8B459CA6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CEC72-B724-4C08-81BB-F76ABAB1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85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API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1BA61-3911-40EE-B772-9E46451E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Health and validated review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B5ACD-394A-4109-A443-D9E72E71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2407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D9189-6C22-4009-A69F-8A7D1BE1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ED1B0-A014-4D91-A867-085DC6BF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95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Workflow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A94F7-FA87-4500-9F72-02D1A3C0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955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History, disposition, and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59B21-BA38-4FD5-9821-E69C9FAA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16362-D4CF-4F53-B9A1-A0A2D683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16338-86BF-44C4-99FB-C4FA0D88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Auth and permissions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6A971-A728-4B44-8515-6F52B96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Missing key and unauthorized source paths rejected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53859-2B20-4BBF-BB62-DDBD6A1D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332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B891E-2CA0-496F-B097-24B44B5B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33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5CC8F-A751-4650-88A5-49352193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147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Finding precision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C87A7-01B0-44FF-B754-6129F0F6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147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Demo reports line and function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989CA-E035-40EB-8BC3-BEFAE95F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FD854-A85D-48CE-9157-CEF38E63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947D1-5FE8-4BDA-8393-F457C46D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SARIF and performance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0C3C8-347F-4F34-BCCA-EB2A835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244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Structured evidence and allocation observation verified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A90012-DD97-4139-86C2-5E10028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91175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Validation demonstrates software behavior. It does not establish production recall, false-positive rate, or MISRA compliance.</a:t>
            </a:r>
          </a:p>
        </p:txBody>
      </p:sp>
    </p:spTree>
    <p:extLst>
      <p:ext uri="{BB962C8B-B14F-4D97-AF65-F5344CB8AC3E}">
        <p14:creationId xmlns:p14="http://schemas.microsoft.com/office/powerpoint/2010/main" val="8682278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2A24B-A62D-4899-AAE6-B828096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Pilot boundary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93A66-D981-4305-B8FB-9758795B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89F6E-A93C-4D09-AB55-53A75156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06135-B06E-4E2F-8B5F-36B4D113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E7079-5F0B-47EF-97E1-967A775C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FD764-3508-4643-8374-0E449368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PILOT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23766-B1D8-4089-B76F-2B56FBC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381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19050">
            <a:solidFill>
              <a:srgbClr val="1024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Authenticated repository ZIP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RAG + SARIF + CI gate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CA588-BEF2-4F5A-8E35-2D7FC76E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A5BA5-3D3F-4873-9E71-4A0A3AAB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381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Clang AST and data flow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Provider-native Git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Commit pinning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742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6FA19-48A1-4589-A64D-C3FD5F4C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05103-88F2-4225-893E-F1CABCF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381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OIDC and RBAC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Project isolation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Encryption and monitoring</a:t>
            </a:r>
          </a:p>
        </p:txBody>
      </p: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0550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742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89F18-7D5B-491B-87A0-91397D2F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A90B6-34DC-4A71-AEFC-B8881BE5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2381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Labeled benchmark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Quality gates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Controlled rollout</a:t>
            </a:r>
          </a:p>
        </p:txBody>
      </p:sp>
      <p:cxnSp>
        <p:nvCxnSpPr>
          <p:cNvPr id="3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742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276D7-CC89-455C-9F84-83951A17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0537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The strongest result is a credible pilot: useful today, explicit about its limits, and designed for controlled expansion.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0B21B-D576-4325-946D-98A286FD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912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879A8"/>
                </a:solidFill>
                <a:latin typeface="Arial"/>
                <a:ea typeface="Arial"/>
                <a:cs typeface="Arial"/>
              </a:rPr>
              <a:t>github.com/Karthikeya-B19/automotive-compliance-engine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58A22-31F9-44E2-8A5F-ABDA64F8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72182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2026-10-05T20:06:00.0830000Z</dcterms:created>
  <dcterms:modified xsi:type="dcterms:W3CDTF">2026-10-05T20:06:00.0830000Z</dcterms:modified>
</coreProperties>
</file>