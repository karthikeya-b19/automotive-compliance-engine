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c15d52bff90402b" /><Relationship Type="http://schemas.openxmlformats.org/officeDocument/2006/relationships/extended-properties" Target="/docProps/app.xml" Id="R61ddee1b7ac7499e" /><Relationship Type="http://schemas.openxmlformats.org/officeDocument/2006/relationships/officeDocument" Target="/ppt/presentation.xml" Id="R49207eb666eb4b2e" /></Relationships>
</file>

<file path=ppt/presentation.xml><?xml version="1.0" encoding="utf-8"?>
<p:presentation xmlns:p="http://schemas.openxmlformats.org/presentationml/2006/main">
  <p:sldMasterIdLst>
    <p:sldMasterId xmlns:r="http://schemas.openxmlformats.org/officeDocument/2006/relationships" id="2147483648" r:id="Rb15caaff7fe04196"/>
  </p:sldMasterIdLst>
  <p:notesMasterIdLst>
    <p:notesMasterId xmlns:r="http://schemas.openxmlformats.org/officeDocument/2006/relationships" r:id="Rdb00269ea1cb480c"/>
  </p:notesMasterIdLst>
  <p:sldIdLst>
    <p:sldId xmlns:r="http://schemas.openxmlformats.org/officeDocument/2006/relationships" id="256" r:id="R4e5505e147394731"/>
    <p:sldId xmlns:r="http://schemas.openxmlformats.org/officeDocument/2006/relationships" id="257" r:id="Rf14d19c3448c468d"/>
    <p:sldId xmlns:r="http://schemas.openxmlformats.org/officeDocument/2006/relationships" id="258" r:id="R9055d230799e4b9e"/>
    <p:sldId xmlns:r="http://schemas.openxmlformats.org/officeDocument/2006/relationships" id="259" r:id="R35eea82acfb54f8b"/>
    <p:sldId xmlns:r="http://schemas.openxmlformats.org/officeDocument/2006/relationships" id="260" r:id="Rd29de4b952ed416d"/>
    <p:sldId xmlns:r="http://schemas.openxmlformats.org/officeDocument/2006/relationships" id="261" r:id="R0f2945b3308940ec"/>
    <p:sldId xmlns:r="http://schemas.openxmlformats.org/officeDocument/2006/relationships" id="262" r:id="R34a18edd31984b21"/>
    <p:sldId xmlns:r="http://schemas.openxmlformats.org/officeDocument/2006/relationships" id="263" r:id="R02a2332b5ce4423f"/>
    <p:sldId xmlns:r="http://schemas.openxmlformats.org/officeDocument/2006/relationships" id="264" r:id="Rd9c297127fa64be2"/>
    <p:sldId xmlns:r="http://schemas.openxmlformats.org/officeDocument/2006/relationships" id="265" r:id="R534d7b538ae54f0b"/>
    <p:sldId xmlns:r="http://schemas.openxmlformats.org/officeDocument/2006/relationships" id="266" r:id="Rc863225fda944c38"/>
    <p:sldId xmlns:r="http://schemas.openxmlformats.org/officeDocument/2006/relationships" id="267" r:id="Rf982ea923a8a4b7c"/>
    <p:sldId xmlns:r="http://schemas.openxmlformats.org/officeDocument/2006/relationships" id="268" r:id="Rf7e981bd38df439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36dfc2f5dac4e88" /><Relationship Type="http://schemas.openxmlformats.org/officeDocument/2006/relationships/slideMaster" Target="/ppt/slideMasters/slideMaster1.xml" Id="Rb15caaff7fe04196" /><Relationship Type="http://schemas.openxmlformats.org/officeDocument/2006/relationships/notesMaster" Target="/ppt/notesMasters/notesMaster1.xml" Id="Rdb00269ea1cb480c" /><Relationship Type="http://schemas.openxmlformats.org/officeDocument/2006/relationships/presProps" Target="/ppt/presProps.xml" Id="Rb64eca846ca04722" /><Relationship Type="http://schemas.openxmlformats.org/officeDocument/2006/relationships/tableStyles" Target="/ppt/tableStyles.xml" Id="R679de01304ec4cc8" /><Relationship Type="http://schemas.openxmlformats.org/officeDocument/2006/relationships/slide" Target="/ppt/slides/slide1.xml" Id="R4e5505e147394731" /><Relationship Type="http://schemas.openxmlformats.org/officeDocument/2006/relationships/slide" Target="/ppt/slides/slide2.xml" Id="Rf14d19c3448c468d" /><Relationship Type="http://schemas.openxmlformats.org/officeDocument/2006/relationships/slide" Target="/ppt/slides/slide3.xml" Id="R9055d230799e4b9e" /><Relationship Type="http://schemas.openxmlformats.org/officeDocument/2006/relationships/slide" Target="/ppt/slides/slide4.xml" Id="R35eea82acfb54f8b" /><Relationship Type="http://schemas.openxmlformats.org/officeDocument/2006/relationships/slide" Target="/ppt/slides/slide5.xml" Id="Rd29de4b952ed416d" /><Relationship Type="http://schemas.openxmlformats.org/officeDocument/2006/relationships/slide" Target="/ppt/slides/slide6.xml" Id="R0f2945b3308940ec" /><Relationship Type="http://schemas.openxmlformats.org/officeDocument/2006/relationships/slide" Target="/ppt/slides/slide7.xml" Id="R34a18edd31984b21" /><Relationship Type="http://schemas.openxmlformats.org/officeDocument/2006/relationships/slide" Target="/ppt/slides/slide8.xml" Id="R02a2332b5ce4423f" /><Relationship Type="http://schemas.openxmlformats.org/officeDocument/2006/relationships/slide" Target="/ppt/slides/slide9.xml" Id="Rd9c297127fa64be2" /><Relationship Type="http://schemas.openxmlformats.org/officeDocument/2006/relationships/slide" Target="/ppt/slides/slide10.xml" Id="R534d7b538ae54f0b" /><Relationship Type="http://schemas.openxmlformats.org/officeDocument/2006/relationships/slide" Target="/ppt/slides/slide11.xml" Id="Rc863225fda944c38" /><Relationship Type="http://schemas.openxmlformats.org/officeDocument/2006/relationships/slide" Target="/ppt/slides/slide12.xml" Id="Rf982ea923a8a4b7c" /><Relationship Type="http://schemas.openxmlformats.org/officeDocument/2006/relationships/slide" Target="/ppt/slides/slide13.xml" Id="Rf7e981bd38df439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657f4409ff64bc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d5963f417d94c58" /><Relationship Type="http://schemas.openxmlformats.org/officeDocument/2006/relationships/notesMaster" Target="/ppt/notesMasters/notesMaster1.xml" Id="R0332c5b33ed24735" /></Relationships>
</file>

<file path=ppt/notesSlides/_rels/notesSlide2.xml.rels>&#65279;<?xml version="1.0" encoding="utf-8"?><Relationships xmlns="http://schemas.openxmlformats.org/package/2006/relationships"><Relationship Type="http://schemas.openxmlformats.org/officeDocument/2006/relationships/slide" Target="/ppt/slides/slide2.xml" Id="Rda55aa286a184146" /><Relationship Type="http://schemas.openxmlformats.org/officeDocument/2006/relationships/notesMaster" Target="/ppt/notesMasters/notesMaster1.xml" Id="R7a92c039b472426c" /></Relationships>
</file>

<file path=ppt/notesSlides/_rels/notesSlide3.xml.rels>&#65279;<?xml version="1.0" encoding="utf-8"?><Relationships xmlns="http://schemas.openxmlformats.org/package/2006/relationships"><Relationship Type="http://schemas.openxmlformats.org/officeDocument/2006/relationships/slide" Target="/ppt/slides/slide3.xml" Id="Rb1fbc59ae4964a31" /><Relationship Type="http://schemas.openxmlformats.org/officeDocument/2006/relationships/notesMaster" Target="/ppt/notesMasters/notesMaster1.xml" Id="R76167085c89c4e07" /></Relationships>
</file>

<file path=ppt/notesSlides/_rels/notesSlide4.xml.rels>&#65279;<?xml version="1.0" encoding="utf-8"?><Relationships xmlns="http://schemas.openxmlformats.org/package/2006/relationships"><Relationship Type="http://schemas.openxmlformats.org/officeDocument/2006/relationships/slide" Target="/ppt/slides/slide4.xml" Id="R9bdfcfdbd3724f18" /><Relationship Type="http://schemas.openxmlformats.org/officeDocument/2006/relationships/notesMaster" Target="/ppt/notesMasters/notesMaster1.xml" Id="Rc216d9f16e5242bc" /></Relationships>
</file>

<file path=ppt/notesSlides/_rels/notesSlide5.xml.rels>&#65279;<?xml version="1.0" encoding="utf-8"?><Relationships xmlns="http://schemas.openxmlformats.org/package/2006/relationships"><Relationship Type="http://schemas.openxmlformats.org/officeDocument/2006/relationships/slide" Target="/ppt/slides/slide5.xml" Id="R930c404658c84429" /><Relationship Type="http://schemas.openxmlformats.org/officeDocument/2006/relationships/notesMaster" Target="/ppt/notesMasters/notesMaster1.xml" Id="R417fae53e7f94d25" /></Relationships>
</file>

<file path=ppt/notesSlides/_rels/notesSlide6.xml.rels>&#65279;<?xml version="1.0" encoding="utf-8"?><Relationships xmlns="http://schemas.openxmlformats.org/package/2006/relationships"><Relationship Type="http://schemas.openxmlformats.org/officeDocument/2006/relationships/slide" Target="/ppt/slides/slide6.xml" Id="R0d74f5027317468d" /><Relationship Type="http://schemas.openxmlformats.org/officeDocument/2006/relationships/notesMaster" Target="/ppt/notesMasters/notesMaster1.xml" Id="Rd99d59219f354512" /></Relationships>
</file>

<file path=ppt/notesSlides/_rels/notesSlide7.xml.rels>&#65279;<?xml version="1.0" encoding="utf-8"?><Relationships xmlns="http://schemas.openxmlformats.org/package/2006/relationships"><Relationship Type="http://schemas.openxmlformats.org/officeDocument/2006/relationships/slide" Target="/ppt/slides/slide7.xml" Id="Rf207e11561634f76" /><Relationship Type="http://schemas.openxmlformats.org/officeDocument/2006/relationships/notesMaster" Target="/ppt/notesMasters/notesMaster1.xml" Id="R1b8cd458fe8843cb" /></Relationships>
</file>

<file path=ppt/notesSlides/_rels/notesSlide8.xml.rels>&#65279;<?xml version="1.0" encoding="utf-8"?><Relationships xmlns="http://schemas.openxmlformats.org/package/2006/relationships"><Relationship Type="http://schemas.openxmlformats.org/officeDocument/2006/relationships/slide" Target="/ppt/slides/slide8.xml" Id="Rb54a246dbd684951" /><Relationship Type="http://schemas.openxmlformats.org/officeDocument/2006/relationships/notesMaster" Target="/ppt/notesMasters/notesMaster1.xml" Id="R0af46cd1c91e46e6" /></Relationships>
</file>

<file path=ppt/notesSlides/_rels/notesSlide9.xml.rels>&#65279;<?xml version="1.0" encoding="utf-8"?><Relationships xmlns="http://schemas.openxmlformats.org/package/2006/relationships"><Relationship Type="http://schemas.openxmlformats.org/officeDocument/2006/relationships/slide" Target="/ppt/slides/slide9.xml" Id="Rb488f7b0ae814bb6" /><Relationship Type="http://schemas.openxmlformats.org/officeDocument/2006/relationships/notesMaster" Target="/ppt/notesMasters/notesMaster1.xml" Id="Rb59f5806ba6e476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0525ea80da34020" /><Relationship Type="http://schemas.openxmlformats.org/officeDocument/2006/relationships/notesMaster" Target="/ppt/notesMasters/notesMaster1.xml" Id="Re030f6c50539410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2f400b2edcf4ad5" /><Relationship Type="http://schemas.openxmlformats.org/officeDocument/2006/relationships/notesMaster" Target="/ppt/notesMasters/notesMaster1.xml" Id="Rd9396e8dec0f4f6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92681952f5345a8" /><Relationship Type="http://schemas.openxmlformats.org/officeDocument/2006/relationships/notesMaster" Target="/ppt/notesMasters/notesMaster1.xml" Id="R6d8feafd3317426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e208654a4c74005" /><Relationship Type="http://schemas.openxmlformats.org/officeDocument/2006/relationships/notesMaster" Target="/ppt/notesMasters/notesMaster1.xml" Id="R83f4bafb1f8643b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Individual TechPulse Case Study 4. Version 2.0, 12 October 2026. This deck explains the implemented pipeline and measured evidence. Synthetic guidance is advisory, not official MISRA or ISO clauses.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src/api/main.py, src/analysis, src/rag and src/ui/app.py. The application is local decision support and requires human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Evaluation_Results/component_evidence.json, public_benchmark/summary.json, ecu_mutations/results.json and rag_evidence/*.json. Each evidence layer answers a different question.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data/standards/automotive_rule_cards.json. Rules are synthetic and use project AUTO IDs. ISR rules use function-name heuristics. Shift checks assume a 32-bit int target. Classical CAN assumptions do not apply automatically to CAN FD.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src/rag/automotive_retrieval.py and orchestrator.py. Project-specific composition of established retrieval techniques, not a scientific novelty claim. The active v2 path uses rule cards, not the legacy PDF Chroma index.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Measured source: Evaluation_Results/rag_evidence/retrieval_results.json. Embeddings are all-MiniLM-L6-v2 cached locally. BM25 favors exact vocabulary; normalized embedding dot products measure semantic similarity. RRF constant is 60.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retrieval_results.json controls and tests/test_expanded_scenarios.py. Deleting a corpus rule changes support without changing the deterministic finding. Rejected model evidence clears its citation and remediation.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public_benchmark/summary.json and results.json. Public convenience sample, not 100 production ECUs. All eligible files pass through bounded scanner partitions. Snapshot and source hashes, exclusions and implementation hashes support auditing. No upstream code executes.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https://github.com/speeduino/speeduino and https://github.com/rusefi/rusefi. See ecu_mutations/results.json for pinned snapshot roots, hashes, licenses, source functions and injected-line matches. Original ECU source was not compiled or flashed.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rag_evidence/retrieval_results.json. Twenty author-labelled natural-language queries, one per synthetic card. Exact metrics are retained with per-query misses and ranks. Results do not establish large-corpus or unseen-code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rag_evidence/live_generation.json and component_evidence.json. The production orchestrator used actual installed llama3.1. Final run: unsafe-copy evidence passed, zero-division model evidence failed and was rejected. Deterministic candidate guidance remained inspectable. A clean comparison returned no supported candidate. Tests also execute actual CLI gates and a host compiler warning.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src/ui/app.py and tests/test_ui.py. Native Streamlit AppTest verifies screen construction and evidence widgets. Contrast tests verify declared text/background pairs. Connected browser surfaces were unavailable, so no full browser visual certification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proposed compiler AST and reviewed ECU profile are future work, not implemented capabilities. Current text heuristics do not provide complete alias/path analysis, hardware validation, WCET or certified MISRA compliance. The 100-repository benchmark measures bounded-batch robustness, not concurrent service capacity.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9c0eff401e944a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5915f0129f6464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290e87dfc13429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fc81cdc9273471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227ca6266ae426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60587b932a441e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49E683C-50DA-4779-A6BA-EEAF5FAA51F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31F05D4-593B-4E0F-A079-8F8F4A3CF7B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60A7A4B-2730-4290-A79D-2E4AE498EBD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CAE5D8C-D8B1-42CB-9719-758466223CC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3D5C7B5-2D1A-4101-8150-D307CF34D9F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D6210F6-934B-44EA-9B7E-8862D7DC369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D140837-1A36-4C65-A3CA-78A0CA6C9E4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DE1CCBC-C8A9-4F20-84D4-CC0E6226500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58A000A-7EB0-4DF6-9547-4C1A65059A4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B79E47B-53F9-41FB-A759-126653ABD44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d77c19d81d34482" /><Relationship Type="http://schemas.openxmlformats.org/officeDocument/2006/relationships/slideLayout" Target="/ppt/slideLayouts/slideLayout1.xml" Id="Rfd999e099cb7405f" /><Relationship Type="http://schemas.openxmlformats.org/officeDocument/2006/relationships/slideLayout" Target="/ppt/slideLayouts/slideLayout2.xml" Id="R4c19cdf3eb42437d" /><Relationship Type="http://schemas.openxmlformats.org/officeDocument/2006/relationships/slideLayout" Target="/ppt/slideLayouts/slideLayout3.xml" Id="R8ce8ed798b814c3f" /><Relationship Type="http://schemas.openxmlformats.org/officeDocument/2006/relationships/slideLayout" Target="/ppt/slideLayouts/slideLayout4.xml" Id="R89d29c99ca4d4003" /><Relationship Type="http://schemas.openxmlformats.org/officeDocument/2006/relationships/slideLayout" Target="/ppt/slideLayouts/slideLayout5.xml" Id="R6675a691932448db" /><Relationship Type="http://schemas.openxmlformats.org/officeDocument/2006/relationships/slideLayout" Target="/ppt/slideLayouts/slideLayout6.xml" Id="Rdf57351bac9a430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d999e099cb7405f"/>
    <p:sldLayoutId xmlns:r="http://schemas.openxmlformats.org/officeDocument/2006/relationships" id="2147483650" r:id="R4c19cdf3eb42437d"/>
    <p:sldLayoutId xmlns:r="http://schemas.openxmlformats.org/officeDocument/2006/relationships" id="2147483651" r:id="R8ce8ed798b814c3f"/>
    <p:sldLayoutId xmlns:r="http://schemas.openxmlformats.org/officeDocument/2006/relationships" id="2147483652" r:id="R89d29c99ca4d4003"/>
    <p:sldLayoutId xmlns:r="http://schemas.openxmlformats.org/officeDocument/2006/relationships" id="2147483653" r:id="R6675a691932448db"/>
    <p:sldLayoutId xmlns:r="http://schemas.openxmlformats.org/officeDocument/2006/relationships" id="2147483654" r:id="Rdf57351bac9a430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07d2551df024875" /><Relationship Type="http://schemas.openxmlformats.org/officeDocument/2006/relationships/notesSlide" Target="/ppt/notesSlides/notesSlide1.xml" Id="R9a075109937946c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b88736d031345f4" /><Relationship Type="http://schemas.openxmlformats.org/officeDocument/2006/relationships/notesSlide" Target="/ppt/notesSlides/notesSlide2.xml" Id="R5044c191a81c408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fbf43688fdc4b84" /><Relationship Type="http://schemas.openxmlformats.org/officeDocument/2006/relationships/notesSlide" Target="/ppt/notesSlides/notesSlide3.xml" Id="Ref4dc34424ac457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171aac840794d22" /><Relationship Type="http://schemas.openxmlformats.org/officeDocument/2006/relationships/notesSlide" Target="/ppt/notesSlides/notesSlide4.xml" Id="R6f6d1983b1dd402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0e991601e7e4ec6" /><Relationship Type="http://schemas.openxmlformats.org/officeDocument/2006/relationships/notesSlide" Target="/ppt/notesSlides/notesSlide5.xml" Id="R348602b10823461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b73f56373c847d0" /><Relationship Type="http://schemas.openxmlformats.org/officeDocument/2006/relationships/notesSlide" Target="/ppt/notesSlides/notesSlide6.xml" Id="Ra37f313b8dee439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dfb35e5f97f4418" /><Relationship Type="http://schemas.openxmlformats.org/officeDocument/2006/relationships/notesSlide" Target="/ppt/notesSlides/notesSlide7.xml" Id="R95a76ffd3bd940d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0f1fa2e175845dd" /><Relationship Type="http://schemas.openxmlformats.org/officeDocument/2006/relationships/notesSlide" Target="/ppt/notesSlides/notesSlide8.xml" Id="Ra82f237a4b37440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44a877439e149d6" /><Relationship Type="http://schemas.openxmlformats.org/officeDocument/2006/relationships/notesSlide" Target="/ppt/notesSlides/notesSlide9.xml" Id="R314d5270c3f741b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0559afd0e2247af" /><Relationship Type="http://schemas.openxmlformats.org/officeDocument/2006/relationships/notesSlide" Target="/ppt/notesSlides/notesSlide10.xml" Id="Rcc184d7cf75f48d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c7f5252df3f434b" /><Relationship Type="http://schemas.openxmlformats.org/officeDocument/2006/relationships/notesSlide" Target="/ppt/notesSlides/notesSlide11.xml" Id="R6ecbc46ee021482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32ed41b419484406" /><Relationship Type="http://schemas.openxmlformats.org/officeDocument/2006/relationships/notesSlide" Target="/ppt/notesSlides/notesSlide12.xml" Id="R6ff9a8b9232b449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ee9353e1eb88486a" /><Relationship Type="http://schemas.openxmlformats.org/officeDocument/2006/relationships/notesSlide" Target="/ppt/notesSlides/notesSlide13.xml" Id="Reb922bc1d07b4b18" /></Relationships>
</file>

<file path=ppt/slides/slide1.xml><?xml version="1.0" encoding="utf-8"?>
<p:sld xmlns:p="http://schemas.openxmlformats.org/presentationml/2006/main">
  <p:cSld>
    <p:bg>
      <p:bgPr>
        <a:solidFill xmlns:a="http://schemas.openxmlformats.org/drawingml/2006/main">
          <a:srgbClr val="102B32"/>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458E044A-51F4-459B-AADF-488023D17A66}"/>
              </a:ext>
            </a:extLst>
          </p:cNvPr>
          <p:cNvSpPr>
            <a:spLocks xmlns:a="http://schemas.openxmlformats.org/drawingml/2006/main" noGrp="1"/>
          </p:cNvSpPr>
          <p:nvPr/>
        </p:nvSpPr>
        <p:spPr>
          <a:xfrm xmlns:a="http://schemas.openxmlformats.org/drawingml/2006/main">
            <a:off x="685800" y="76200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93E0D5"/>
                </a:solidFill>
                <a:latin typeface="Arial"/>
                <a:ea typeface="Arial"/>
                <a:cs typeface="Arial"/>
              </a:defRPr>
            </a:defPPr>
          </a:lstStyle>
          <a:p xmlns:a="http://schemas.openxmlformats.org/drawingml/2006/main">
            <a:pPr>
              <a:defRPr sz="1425" b="1">
                <a:solidFill>
                  <a:srgbClr val="93E0D5"/>
                </a:solidFill>
                <a:latin typeface="Arial"/>
                <a:ea typeface="Arial"/>
                <a:cs typeface="Arial"/>
              </a:defRPr>
            </a:pPr>
            <a:r>
              <a:rPr sz="1425" b="1">
                <a:solidFill>
                  <a:srgbClr val="93E0D5"/>
                </a:solidFill>
                <a:latin typeface="Arial"/>
                <a:ea typeface="Arial"/>
                <a:cs typeface="Arial"/>
              </a:rPr>
              <a:t>AUTOMOTIVE SOFTWARE ENGINEERING</a:t>
            </a:r>
          </a:p>
        </p:txBody>
      </p:sp>
      <p:sp>
        <p:nvSpPr>
          <p:cNvPr id="2" name="">
            <a:extLst xmlns:a="http://schemas.openxmlformats.org/drawingml/2006/main">
              <a:ext uri="{FF2B5EF4-FFF2-40B4-BE49-F238E27FC236}">
                <a16:creationId xmlns:a16="http://schemas.microsoft.com/office/drawing/2014/main" id="{B822FC5A-2402-4E70-8008-6F879AA1B2BA}"/>
              </a:ext>
            </a:extLst>
          </p:cNvPr>
          <p:cNvSpPr>
            <a:spLocks xmlns:a="http://schemas.openxmlformats.org/drawingml/2006/main" noGrp="1"/>
          </p:cNvSpPr>
          <p:nvPr/>
        </p:nvSpPr>
        <p:spPr>
          <a:xfrm xmlns:a="http://schemas.openxmlformats.org/drawingml/2006/main">
            <a:off x="685800" y="2047875"/>
            <a:ext cx="108204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5250" b="1">
                <a:solidFill>
                  <a:srgbClr val="FFFFFF"/>
                </a:solidFill>
                <a:latin typeface="Arial"/>
                <a:ea typeface="Arial"/>
                <a:cs typeface="Arial"/>
              </a:defRPr>
            </a:defPPr>
          </a:lstStyle>
          <a:p xmlns:a="http://schemas.openxmlformats.org/drawingml/2006/main">
            <a:pPr>
              <a:defRPr sz="5250" b="1">
                <a:solidFill>
                  <a:srgbClr val="FFFFFF"/>
                </a:solidFill>
                <a:latin typeface="Arial"/>
                <a:ea typeface="Arial"/>
                <a:cs typeface="Arial"/>
              </a:defRPr>
            </a:pPr>
            <a:r>
              <a:rPr sz="5250" b="1">
                <a:solidFill>
                  <a:srgbClr val="FFFFFF"/>
                </a:solidFill>
                <a:latin typeface="Arial"/>
                <a:ea typeface="Arial"/>
                <a:cs typeface="Arial"/>
              </a:rPr>
              <a:t>ECU code review</a:t>
            </a:r>
          </a:p>
          <a:p xmlns:a="http://schemas.openxmlformats.org/drawingml/2006/main">
            <a:pPr>
              <a:defRPr sz="5250" b="1">
                <a:solidFill>
                  <a:srgbClr val="FFFFFF"/>
                </a:solidFill>
                <a:latin typeface="Arial"/>
                <a:ea typeface="Arial"/>
                <a:cs typeface="Arial"/>
              </a:defRPr>
            </a:pPr>
            <a:r>
              <a:rPr sz="5250" b="1">
                <a:solidFill>
                  <a:srgbClr val="FFFFFF"/>
                </a:solidFill>
                <a:latin typeface="Arial"/>
                <a:ea typeface="Arial"/>
                <a:cs typeface="Arial"/>
              </a:rPr>
              <a:t>Evidence and RAG</a:t>
            </a:r>
          </a:p>
        </p:txBody>
      </p:sp>
      <p:sp>
        <p:nvSpPr>
          <p:cNvPr id="3" name="">
            <a:extLst xmlns:a="http://schemas.openxmlformats.org/drawingml/2006/main">
              <a:ext uri="{FF2B5EF4-FFF2-40B4-BE49-F238E27FC236}">
                <a16:creationId xmlns:a16="http://schemas.microsoft.com/office/drawing/2014/main" id="{7A0A80D1-E6FF-49DD-9BA6-BC3E8BE4E8F3}"/>
              </a:ext>
            </a:extLst>
          </p:cNvPr>
          <p:cNvSpPr>
            <a:spLocks xmlns:a="http://schemas.openxmlformats.org/drawingml/2006/main" noGrp="1"/>
          </p:cNvSpPr>
          <p:nvPr/>
        </p:nvSpPr>
        <p:spPr>
          <a:xfrm xmlns:a="http://schemas.openxmlformats.org/drawingml/2006/main">
            <a:off x="723900" y="5048250"/>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C7D5D8"/>
                </a:solidFill>
                <a:latin typeface="Arial"/>
                <a:ea typeface="Arial"/>
                <a:cs typeface="Arial"/>
              </a:defRPr>
            </a:defPPr>
          </a:lstStyle>
          <a:p xmlns:a="http://schemas.openxmlformats.org/drawingml/2006/main">
            <a:pPr>
              <a:defRPr sz="1800" b="0">
                <a:solidFill>
                  <a:srgbClr val="C7D5D8"/>
                </a:solidFill>
                <a:latin typeface="Arial"/>
                <a:ea typeface="Arial"/>
                <a:cs typeface="Arial"/>
              </a:defRPr>
            </a:pPr>
            <a:r>
              <a:rPr sz="1800" b="0">
                <a:solidFill>
                  <a:srgbClr val="C7D5D8"/>
                </a:solidFill>
                <a:latin typeface="Arial"/>
                <a:ea typeface="Arial"/>
                <a:cs typeface="Arial"/>
              </a:rPr>
              <a:t>Karthikeya Bellapukonda</a:t>
            </a:r>
          </a:p>
          <a:p xmlns:a="http://schemas.openxmlformats.org/drawingml/2006/main">
            <a:pPr>
              <a:defRPr sz="1800" b="0">
                <a:solidFill>
                  <a:srgbClr val="C7D5D8"/>
                </a:solidFill>
                <a:latin typeface="Arial"/>
                <a:ea typeface="Arial"/>
                <a:cs typeface="Arial"/>
              </a:defRPr>
            </a:pPr>
            <a:r>
              <a:rPr sz="1800" b="0">
                <a:solidFill>
                  <a:srgbClr val="C7D5D8"/>
                </a:solidFill>
                <a:latin typeface="Arial"/>
                <a:ea typeface="Arial"/>
                <a:cs typeface="Arial"/>
              </a:rPr>
              <a:t>CB.AI.U4AID23109  /  Amrita Vishwa Vidyapeetham</a:t>
            </a:r>
          </a:p>
        </p:txBody>
      </p:sp>
    </p:spTree>
    <p:extLst>
      <p:ext uri="{BB962C8B-B14F-4D97-AF65-F5344CB8AC3E}">
        <p14:creationId xmlns:p14="http://schemas.microsoft.com/office/powerpoint/2010/main" val="192664073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F3D625C-F604-4EDE-8D34-A205F728F9DF}"/>
              </a:ext>
            </a:extLst>
          </p:cNvPr>
          <p:cNvSpPr>
            <a:spLocks xmlns:a="http://schemas.openxmlformats.org/drawingml/2006/main" noGrp="1"/>
          </p:cNvSpPr>
          <p:nvPr/>
        </p:nvSpPr>
        <p:spPr>
          <a:xfrm xmlns:a="http://schemas.openxmlformats.org/drawingml/2006/main">
            <a:off x="685800" y="5334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02B32"/>
                </a:solidFill>
                <a:latin typeface="Arial"/>
                <a:ea typeface="Arial"/>
                <a:cs typeface="Arial"/>
              </a:defRPr>
            </a:defPPr>
          </a:lstStyle>
          <a:p xmlns:a="http://schemas.openxmlformats.org/drawingml/2006/main">
            <a:pPr>
              <a:defRPr sz="3300" b="1">
                <a:solidFill>
                  <a:srgbClr val="102B32"/>
                </a:solidFill>
                <a:latin typeface="Arial"/>
                <a:ea typeface="Arial"/>
                <a:cs typeface="Arial"/>
              </a:defRPr>
            </a:pPr>
            <a:r>
              <a:rPr sz="3300" b="1">
                <a:solidFill>
                  <a:srgbClr val="102B32"/>
                </a:solidFill>
                <a:latin typeface="Arial"/>
                <a:ea typeface="Arial"/>
                <a:cs typeface="Arial"/>
              </a:rPr>
              <a:t>The review assistant</a:t>
            </a:r>
          </a:p>
        </p:txBody>
      </p:sp>
      <p:sp>
        <p:nvSpPr>
          <p:cNvPr id="2" name="">
            <a:extLst xmlns:a="http://schemas.openxmlformats.org/drawingml/2006/main">
              <a:ext uri="{FF2B5EF4-FFF2-40B4-BE49-F238E27FC236}">
                <a16:creationId xmlns:a16="http://schemas.microsoft.com/office/drawing/2014/main" id="{50CBF083-7405-4F8B-A654-78FD2C378976}"/>
              </a:ext>
            </a:extLst>
          </p:cNvPr>
          <p:cNvSpPr>
            <a:spLocks xmlns:a="http://schemas.openxmlformats.org/drawingml/2006/main" noGrp="1"/>
          </p:cNvSpPr>
          <p:nvPr/>
        </p:nvSpPr>
        <p:spPr>
          <a:xfrm xmlns:a="http://schemas.openxmlformats.org/drawingml/2006/main">
            <a:off x="685800" y="630555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2676E"/>
                </a:solidFill>
                <a:latin typeface="Arial"/>
                <a:ea typeface="Arial"/>
                <a:cs typeface="Arial"/>
              </a:defRPr>
            </a:defPPr>
          </a:lstStyle>
          <a:p xmlns:a="http://schemas.openxmlformats.org/drawingml/2006/main">
            <a:pPr>
              <a:defRPr sz="1125" b="0">
                <a:solidFill>
                  <a:srgbClr val="52676E"/>
                </a:solidFill>
                <a:latin typeface="Arial"/>
                <a:ea typeface="Arial"/>
                <a:cs typeface="Arial"/>
              </a:defRPr>
            </a:pPr>
            <a:r>
              <a:rPr sz="1125" b="0">
                <a:solidFill>
                  <a:srgbClr val="52676E"/>
                </a:solidFill>
                <a:latin typeface="Arial"/>
                <a:ea typeface="Arial"/>
                <a:cs typeface="Arial"/>
              </a:rPr>
              <a:t>ECU REVIEW STUDIO</a:t>
            </a:r>
          </a:p>
        </p:txBody>
      </p:sp>
      <p:sp>
        <p:nvSpPr>
          <p:cNvPr id="3" name="">
            <a:extLst xmlns:a="http://schemas.openxmlformats.org/drawingml/2006/main">
              <a:ext uri="{FF2B5EF4-FFF2-40B4-BE49-F238E27FC236}">
                <a16:creationId xmlns:a16="http://schemas.microsoft.com/office/drawing/2014/main" id="{1FEE4DFC-2D87-4FDF-B9D0-43E78FFCEE25}"/>
              </a:ext>
            </a:extLst>
          </p:cNvPr>
          <p:cNvSpPr>
            <a:spLocks xmlns:a="http://schemas.openxmlformats.org/drawingml/2006/main" noGrp="1"/>
          </p:cNvSpPr>
          <p:nvPr/>
        </p:nvSpPr>
        <p:spPr>
          <a:xfrm xmlns:a="http://schemas.openxmlformats.org/drawingml/2006/main">
            <a:off x="10953750" y="63055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2676E"/>
                </a:solidFill>
                <a:latin typeface="Arial"/>
                <a:ea typeface="Arial"/>
                <a:cs typeface="Arial"/>
              </a:defRPr>
            </a:defPPr>
          </a:lstStyle>
          <a:p xmlns:a="http://schemas.openxmlformats.org/drawingml/2006/main">
            <a:pPr>
              <a:defRPr sz="1125" b="0">
                <a:solidFill>
                  <a:srgbClr val="52676E"/>
                </a:solidFill>
                <a:latin typeface="Arial"/>
                <a:ea typeface="Arial"/>
                <a:cs typeface="Arial"/>
              </a:defRPr>
            </a:pPr>
            <a:r>
              <a:rPr sz="1125" b="0">
                <a:solidFill>
                  <a:srgbClr val="52676E"/>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F06AB1A7-D90B-4AB0-95FB-B08CDEE9D335}"/>
              </a:ext>
            </a:extLst>
          </p:cNvPr>
          <p:cNvSpPr>
            <a:spLocks xmlns:a="http://schemas.openxmlformats.org/drawingml/2006/main" noGrp="1"/>
          </p:cNvSpPr>
          <p:nvPr/>
        </p:nvSpPr>
        <p:spPr>
          <a:xfrm xmlns:a="http://schemas.openxmlformats.org/drawingml/2006/main">
            <a:off x="685800" y="1666875"/>
            <a:ext cx="106680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82E35"/>
                </a:solidFill>
                <a:latin typeface="Arial"/>
                <a:ea typeface="Arial"/>
                <a:cs typeface="Arial"/>
              </a:defRPr>
            </a:defPPr>
          </a:lstStyle>
          <a:p xmlns:a="http://schemas.openxmlformats.org/drawingml/2006/main">
            <a:pPr>
              <a:defRPr sz="2100" b="0">
                <a:solidFill>
                  <a:srgbClr val="182E35"/>
                </a:solidFill>
                <a:latin typeface="Arial"/>
                <a:ea typeface="Arial"/>
                <a:cs typeface="Arial"/>
              </a:defRPr>
            </a:pPr>
            <a:r>
              <a:rPr sz="2100" b="0">
                <a:solidFill>
                  <a:srgbClr val="182E35"/>
                </a:solidFill>
                <a:latin typeface="Arial"/>
                <a:ea typeface="Arial"/>
                <a:cs typeface="Arial"/>
              </a:rPr>
              <a:t>Input: a C/C++ repository ZIP, snippet or compiler evidence.</a:t>
            </a:r>
          </a:p>
        </p:txBody>
      </p:sp>
      <p:sp>
        <p:nvSpPr>
          <p:cNvPr id="5" name="">
            <a:extLst xmlns:a="http://schemas.openxmlformats.org/drawingml/2006/main">
              <a:ext uri="{FF2B5EF4-FFF2-40B4-BE49-F238E27FC236}">
                <a16:creationId xmlns:a16="http://schemas.microsoft.com/office/drawing/2014/main" id="{6FFEDCB3-86E3-41C2-B608-A7893D4E945F}"/>
              </a:ext>
            </a:extLst>
          </p:cNvPr>
          <p:cNvSpPr>
            <a:spLocks xmlns:a="http://schemas.openxmlformats.org/drawingml/2006/main" noGrp="1"/>
          </p:cNvSpPr>
          <p:nvPr/>
        </p:nvSpPr>
        <p:spPr>
          <a:xfrm xmlns:a="http://schemas.openxmlformats.org/drawingml/2006/main">
            <a:off x="685800" y="2647950"/>
            <a:ext cx="106680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82E35"/>
                </a:solidFill>
                <a:latin typeface="Arial"/>
                <a:ea typeface="Arial"/>
                <a:cs typeface="Arial"/>
              </a:defRPr>
            </a:defPPr>
          </a:lstStyle>
          <a:p xmlns:a="http://schemas.openxmlformats.org/drawingml/2006/main">
            <a:pPr>
              <a:defRPr sz="2100" b="0">
                <a:solidFill>
                  <a:srgbClr val="182E35"/>
                </a:solidFill>
                <a:latin typeface="Arial"/>
                <a:ea typeface="Arial"/>
                <a:cs typeface="Arial"/>
              </a:defRPr>
            </a:pPr>
            <a:r>
              <a:rPr sz="2100" b="0">
                <a:solidFill>
                  <a:srgbClr val="182E35"/>
                </a:solidFill>
                <a:latin typeface="Arial"/>
                <a:ea typeface="Arial"/>
                <a:cs typeface="Arial"/>
              </a:rPr>
              <a:t>Output: located review candidates, module inventory and include dependencies.</a:t>
            </a:r>
          </a:p>
        </p:txBody>
      </p:sp>
      <p:sp>
        <p:nvSpPr>
          <p:cNvPr id="6" name="">
            <a:extLst xmlns:a="http://schemas.openxmlformats.org/drawingml/2006/main">
              <a:ext uri="{FF2B5EF4-FFF2-40B4-BE49-F238E27FC236}">
                <a16:creationId xmlns:a16="http://schemas.microsoft.com/office/drawing/2014/main" id="{AF23AC4E-D924-4AC8-AC3E-54BC8B08D18F}"/>
              </a:ext>
            </a:extLst>
          </p:cNvPr>
          <p:cNvSpPr>
            <a:spLocks xmlns:a="http://schemas.openxmlformats.org/drawingml/2006/main" noGrp="1"/>
          </p:cNvSpPr>
          <p:nvPr/>
        </p:nvSpPr>
        <p:spPr>
          <a:xfrm xmlns:a="http://schemas.openxmlformats.org/drawingml/2006/main">
            <a:off x="685800" y="3629025"/>
            <a:ext cx="106680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82E35"/>
                </a:solidFill>
                <a:latin typeface="Arial"/>
                <a:ea typeface="Arial"/>
                <a:cs typeface="Arial"/>
              </a:defRPr>
            </a:defPPr>
          </a:lstStyle>
          <a:p xmlns:a="http://schemas.openxmlformats.org/drawingml/2006/main">
            <a:pPr>
              <a:defRPr sz="2100" b="0">
                <a:solidFill>
                  <a:srgbClr val="182E35"/>
                </a:solidFill>
                <a:latin typeface="Arial"/>
                <a:ea typeface="Arial"/>
                <a:cs typeface="Arial"/>
              </a:defRPr>
            </a:pPr>
            <a:r>
              <a:rPr sz="2100" b="0">
                <a:solidFill>
                  <a:srgbClr val="182E35"/>
                </a:solidFill>
                <a:latin typeface="Arial"/>
                <a:ea typeface="Arial"/>
                <a:cs typeface="Arial"/>
              </a:rPr>
              <a:t>Guidance: retrieved advisory rules with assumptions and inspectable citations.</a:t>
            </a:r>
          </a:p>
        </p:txBody>
      </p:sp>
      <p:sp>
        <p:nvSpPr>
          <p:cNvPr id="7" name="">
            <a:extLst xmlns:a="http://schemas.openxmlformats.org/drawingml/2006/main">
              <a:ext uri="{FF2B5EF4-FFF2-40B4-BE49-F238E27FC236}">
                <a16:creationId xmlns:a16="http://schemas.microsoft.com/office/drawing/2014/main" id="{071B6D79-6381-4F8B-BEA6-B8FCD29EC39A}"/>
              </a:ext>
            </a:extLst>
          </p:cNvPr>
          <p:cNvSpPr>
            <a:spLocks xmlns:a="http://schemas.openxmlformats.org/drawingml/2006/main" noGrp="1"/>
          </p:cNvSpPr>
          <p:nvPr/>
        </p:nvSpPr>
        <p:spPr>
          <a:xfrm xmlns:a="http://schemas.openxmlformats.org/drawingml/2006/main">
            <a:off x="685800" y="4610100"/>
            <a:ext cx="106680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82E35"/>
                </a:solidFill>
                <a:latin typeface="Arial"/>
                <a:ea typeface="Arial"/>
                <a:cs typeface="Arial"/>
              </a:defRPr>
            </a:defPPr>
          </a:lstStyle>
          <a:p xmlns:a="http://schemas.openxmlformats.org/drawingml/2006/main">
            <a:pPr>
              <a:defRPr sz="2100" b="0">
                <a:solidFill>
                  <a:srgbClr val="182E35"/>
                </a:solidFill>
                <a:latin typeface="Arial"/>
                <a:ea typeface="Arial"/>
                <a:cs typeface="Arial"/>
              </a:defRPr>
            </a:pPr>
            <a:r>
              <a:rPr sz="2100" b="0">
                <a:solidFill>
                  <a:srgbClr val="182E35"/>
                </a:solidFill>
                <a:latin typeface="Arial"/>
                <a:ea typeface="Arial"/>
                <a:cs typeface="Arial"/>
              </a:rPr>
              <a:t>Human decision: report export, saved review and recorded disposition.</a:t>
            </a:r>
          </a:p>
        </p:txBody>
      </p:sp>
    </p:spTree>
    <p:extLst>
      <p:ext uri="{BB962C8B-B14F-4D97-AF65-F5344CB8AC3E}">
        <p14:creationId xmlns:p14="http://schemas.microsoft.com/office/powerpoint/2010/main" val="2273583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AFA8E8D-E0AA-45DE-91CD-F3520B4D2DBA}"/>
              </a:ext>
            </a:extLst>
          </p:cNvPr>
          <p:cNvSpPr>
            <a:spLocks xmlns:a="http://schemas.openxmlformats.org/drawingml/2006/main" noGrp="1"/>
          </p:cNvSpPr>
          <p:nvPr/>
        </p:nvSpPr>
        <p:spPr>
          <a:xfrm xmlns:a="http://schemas.openxmlformats.org/drawingml/2006/main">
            <a:off x="685800" y="5334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02B32"/>
                </a:solidFill>
                <a:latin typeface="Arial"/>
                <a:ea typeface="Arial"/>
                <a:cs typeface="Arial"/>
              </a:defRPr>
            </a:defPPr>
          </a:lstStyle>
          <a:p xmlns:a="http://schemas.openxmlformats.org/drawingml/2006/main">
            <a:pPr>
              <a:defRPr sz="3300" b="1">
                <a:solidFill>
                  <a:srgbClr val="102B32"/>
                </a:solidFill>
                <a:latin typeface="Arial"/>
                <a:ea typeface="Arial"/>
                <a:cs typeface="Arial"/>
              </a:defRPr>
            </a:pPr>
            <a:r>
              <a:rPr sz="3300" b="1">
                <a:solidFill>
                  <a:srgbClr val="102B32"/>
                </a:solidFill>
                <a:latin typeface="Arial"/>
                <a:ea typeface="Arial"/>
                <a:cs typeface="Arial"/>
              </a:rPr>
              <a:t>What each experiment proves</a:t>
            </a:r>
          </a:p>
        </p:txBody>
      </p:sp>
      <p:sp>
        <p:nvSpPr>
          <p:cNvPr id="2" name="">
            <a:extLst xmlns:a="http://schemas.openxmlformats.org/drawingml/2006/main">
              <a:ext uri="{FF2B5EF4-FFF2-40B4-BE49-F238E27FC236}">
                <a16:creationId xmlns:a16="http://schemas.microsoft.com/office/drawing/2014/main" id="{8F399570-8AA3-455E-A372-FB27EB326A44}"/>
              </a:ext>
            </a:extLst>
          </p:cNvPr>
          <p:cNvSpPr>
            <a:spLocks xmlns:a="http://schemas.openxmlformats.org/drawingml/2006/main" noGrp="1"/>
          </p:cNvSpPr>
          <p:nvPr/>
        </p:nvSpPr>
        <p:spPr>
          <a:xfrm xmlns:a="http://schemas.openxmlformats.org/drawingml/2006/main">
            <a:off x="685800" y="630555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2676E"/>
                </a:solidFill>
                <a:latin typeface="Arial"/>
                <a:ea typeface="Arial"/>
                <a:cs typeface="Arial"/>
              </a:defRPr>
            </a:defPPr>
          </a:lstStyle>
          <a:p xmlns:a="http://schemas.openxmlformats.org/drawingml/2006/main">
            <a:pPr>
              <a:defRPr sz="1125" b="0">
                <a:solidFill>
                  <a:srgbClr val="52676E"/>
                </a:solidFill>
                <a:latin typeface="Arial"/>
                <a:ea typeface="Arial"/>
                <a:cs typeface="Arial"/>
              </a:defRPr>
            </a:pPr>
            <a:r>
              <a:rPr sz="1125" b="0">
                <a:solidFill>
                  <a:srgbClr val="52676E"/>
                </a:solidFill>
                <a:latin typeface="Arial"/>
                <a:ea typeface="Arial"/>
                <a:cs typeface="Arial"/>
              </a:rPr>
              <a:t>ECU REVIEW STUDIO</a:t>
            </a:r>
          </a:p>
        </p:txBody>
      </p:sp>
      <p:sp>
        <p:nvSpPr>
          <p:cNvPr id="3" name="">
            <a:extLst xmlns:a="http://schemas.openxmlformats.org/drawingml/2006/main">
              <a:ext uri="{FF2B5EF4-FFF2-40B4-BE49-F238E27FC236}">
                <a16:creationId xmlns:a16="http://schemas.microsoft.com/office/drawing/2014/main" id="{187A1BA1-0982-4209-B62E-9A60C020D815}"/>
              </a:ext>
            </a:extLst>
          </p:cNvPr>
          <p:cNvSpPr>
            <a:spLocks xmlns:a="http://schemas.openxmlformats.org/drawingml/2006/main" noGrp="1"/>
          </p:cNvSpPr>
          <p:nvPr/>
        </p:nvSpPr>
        <p:spPr>
          <a:xfrm xmlns:a="http://schemas.openxmlformats.org/drawingml/2006/main">
            <a:off x="10953750" y="63055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2676E"/>
                </a:solidFill>
                <a:latin typeface="Arial"/>
                <a:ea typeface="Arial"/>
                <a:cs typeface="Arial"/>
              </a:defRPr>
            </a:defPPr>
          </a:lstStyle>
          <a:p xmlns:a="http://schemas.openxmlformats.org/drawingml/2006/main">
            <a:pPr>
              <a:defRPr sz="1125" b="0">
                <a:solidFill>
                  <a:srgbClr val="52676E"/>
                </a:solidFill>
                <a:latin typeface="Arial"/>
                <a:ea typeface="Arial"/>
                <a:cs typeface="Arial"/>
              </a:defRPr>
            </a:pPr>
            <a:r>
              <a:rPr sz="1125" b="0">
                <a:solidFill>
                  <a:srgbClr val="52676E"/>
                </a:solidFill>
                <a:latin typeface="Arial"/>
                <a:ea typeface="Arial"/>
                <a:cs typeface="Arial"/>
              </a:rPr>
              <a:t>03</a:t>
            </a:r>
          </a:p>
        </p:txBody>
      </p:sp>
      <p:graphicFrame>
        <p:nvGraphicFramePr>
          <p:cNvPr id="4" name="">
            <a:extLst xmlns:a="http://schemas.openxmlformats.org/drawingml/2006/main">
              <a:ext uri="{FF2B5EF4-FFF2-40B4-BE49-F238E27FC236}">
                <a16:creationId xmlns:a16="http://schemas.microsoft.com/office/drawing/2014/main" id="{27126348-3089-4E7C-A2F0-389C61278027}"/>
              </a:ext>
            </a:extLst>
          </p:cNvPr>
          <p:cNvGraphicFramePr/>
          <p:nvPr/>
        </p:nvGraphicFramePr>
        <p:xfrm>
          <a:off xmlns:a="http://schemas.openxmlformats.org/drawingml/2006/main" x="685800" y="1666875"/>
          <a:ext xmlns:a="http://schemas.openxmlformats.org/drawingml/2006/main" cx="10820400" cy="4048125"/>
        </p:xfrm>
        <a:graphic xmlns:a="http://schemas.openxmlformats.org/drawingml/2006/main">
          <a:graphicData uri="http://schemas.openxmlformats.org/drawingml/2006/table">
            <a:tbl>
              <a:tblPr/>
              <a:tblGrid>
                <a:gridCol w="3905250"/>
                <a:gridCol w="6915150"/>
              </a:tblGrid>
              <a:tr h="674688">
                <a:tc>
                  <a:txBody>
                    <a:bodyPr>
                      <a:noAutofit/>
                    </a:bodyPr>
                    <a:lstStyle/>
                    <a:p>
                      <a:r>
                        <a:rPr sz="1725" b="1">
                          <a:solidFill>
                            <a:srgbClr val="FFFFFF"/>
                          </a:solidFill>
                          <a:latin typeface="Arial"/>
                          <a:ea typeface="Arial"/>
                          <a:cs typeface="Arial"/>
                        </a:rPr>
                        <a:t>Experiment</a:t>
                      </a:r>
                    </a:p>
                  </a:txBody>
                  <a:tcPr marL="91440" marR="91440" marT="45720" marB="45720">
                    <a:lnL w="9525">
                      <a:solidFill>
                        <a:srgbClr val="D6E2E4"/>
                      </a:solidFill>
                      <a:prstDash val="solid"/>
                    </a:lnL>
                    <a:lnR w="9525">
                      <a:solidFill>
                        <a:srgbClr val="D6E2E4"/>
                      </a:solidFill>
                      <a:prstDash val="solid"/>
                    </a:lnR>
                    <a:lnT w="9525">
                      <a:solidFill>
                        <a:srgbClr val="D6E2E4"/>
                      </a:solidFill>
                      <a:prstDash val="solid"/>
                    </a:lnT>
                    <a:lnB w="9525">
                      <a:solidFill>
                        <a:srgbClr val="D6E2E4"/>
                      </a:solidFill>
                      <a:prstDash val="solid"/>
                    </a:lnB>
                    <a:solidFill>
                      <a:srgbClr val="102B32"/>
                    </a:solidFill>
                  </a:tcPr>
                </a:tc>
                <a:tc>
                  <a:txBody>
                    <a:bodyPr>
                      <a:noAutofit/>
                    </a:bodyPr>
                    <a:lstStyle/>
                    <a:p>
                      <a:r>
                        <a:rPr sz="1725" b="1">
                          <a:solidFill>
                            <a:srgbClr val="FFFFFF"/>
                          </a:solidFill>
                          <a:latin typeface="Arial"/>
                          <a:ea typeface="Arial"/>
                          <a:cs typeface="Arial"/>
                        </a:rPr>
                        <a:t>Measured question</a:t>
                      </a:r>
                    </a:p>
                  </a:txBody>
                  <a:tcPr marL="91440" marR="91440" marT="45720" marB="45720">
                    <a:lnR w="9525">
                      <a:solidFill>
                        <a:srgbClr val="D6E2E4"/>
                      </a:solidFill>
                      <a:prstDash val="solid"/>
                    </a:lnR>
                    <a:lnT w="9525">
                      <a:solidFill>
                        <a:srgbClr val="D6E2E4"/>
                      </a:solidFill>
                      <a:prstDash val="solid"/>
                    </a:lnT>
                    <a:lnB w="9525">
                      <a:solidFill>
                        <a:srgbClr val="D6E2E4"/>
                      </a:solidFill>
                      <a:prstDash val="solid"/>
                    </a:lnB>
                    <a:solidFill>
                      <a:srgbClr val="102B32"/>
                    </a:solidFill>
                  </a:tcPr>
                </a:tc>
              </a:tr>
              <a:tr h="674688">
                <a:tc>
                  <a:txBody>
                    <a:bodyPr>
                      <a:noAutofit/>
                    </a:bodyPr>
                    <a:lstStyle/>
                    <a:p>
                      <a:r>
                        <a:rPr sz="1725" b="0">
                          <a:solidFill>
                            <a:srgbClr val="182E35"/>
                          </a:solidFill>
                          <a:latin typeface="Arial"/>
                          <a:ea typeface="Arial"/>
                          <a:cs typeface="Arial"/>
                        </a:rPr>
                        <a:t>Component and API tests</a:t>
                      </a:r>
                    </a:p>
                  </a:txBody>
                  <a:tcPr marL="91440" marR="91440" marT="45720" marB="45720">
                    <a:lnL w="9525">
                      <a:solidFill>
                        <a:srgbClr val="D6E2E4"/>
                      </a:solidFill>
                      <a:prstDash val="solid"/>
                    </a:lnL>
                    <a:lnR w="9525">
                      <a:solidFill>
                        <a:srgbClr val="D6E2E4"/>
                      </a:solidFill>
                      <a:prstDash val="solid"/>
                    </a:lnR>
                    <a:lnB w="9525">
                      <a:solidFill>
                        <a:srgbClr val="D6E2E4"/>
                      </a:solidFill>
                      <a:prstDash val="solid"/>
                    </a:lnB>
                    <a:solidFill>
                      <a:srgbClr val="FFFFFF"/>
                    </a:solidFill>
                  </a:tcPr>
                </a:tc>
                <a:tc>
                  <a:txBody>
                    <a:bodyPr>
                      <a:noAutofit/>
                    </a:bodyPr>
                    <a:lstStyle/>
                    <a:p>
                      <a:r>
                        <a:rPr sz="1725" b="0">
                          <a:solidFill>
                            <a:srgbClr val="182E35"/>
                          </a:solidFill>
                          <a:latin typeface="Arial"/>
                          <a:ea typeface="Arial"/>
                          <a:cs typeface="Arial"/>
                        </a:rPr>
                        <a:t>Does each specified contract hold?</a:t>
                      </a:r>
                    </a:p>
                  </a:txBody>
                  <a:tcPr marL="91440" marR="91440" marT="45720" marB="45720">
                    <a:lnR w="9525">
                      <a:solidFill>
                        <a:srgbClr val="D6E2E4"/>
                      </a:solidFill>
                      <a:prstDash val="solid"/>
                    </a:lnR>
                    <a:lnB w="9525">
                      <a:solidFill>
                        <a:srgbClr val="D6E2E4"/>
                      </a:solidFill>
                      <a:prstDash val="solid"/>
                    </a:lnB>
                    <a:solidFill>
                      <a:srgbClr val="FFFFFF"/>
                    </a:solidFill>
                  </a:tcPr>
                </a:tc>
              </a:tr>
              <a:tr h="674688">
                <a:tc>
                  <a:txBody>
                    <a:bodyPr>
                      <a:noAutofit/>
                    </a:bodyPr>
                    <a:lstStyle/>
                    <a:p>
                      <a:r>
                        <a:rPr sz="1725" b="0">
                          <a:solidFill>
                            <a:srgbClr val="182E35"/>
                          </a:solidFill>
                          <a:latin typeface="Arial"/>
                          <a:ea typeface="Arial"/>
                          <a:cs typeface="Arial"/>
                        </a:rPr>
                        <a:t>100 public source trees</a:t>
                      </a:r>
                    </a:p>
                  </a:txBody>
                  <a:tcPr marL="91440" marR="91440" marT="45720" marB="45720">
                    <a:lnL w="9525">
                      <a:solidFill>
                        <a:srgbClr val="D6E2E4"/>
                      </a:solidFill>
                      <a:prstDash val="solid"/>
                    </a:lnL>
                    <a:lnR w="9525">
                      <a:solidFill>
                        <a:srgbClr val="D6E2E4"/>
                      </a:solidFill>
                      <a:prstDash val="solid"/>
                    </a:lnR>
                    <a:lnB w="9525">
                      <a:solidFill>
                        <a:srgbClr val="D6E2E4"/>
                      </a:solidFill>
                      <a:prstDash val="solid"/>
                    </a:lnB>
                    <a:solidFill>
                      <a:srgbClr val="E9F1F2"/>
                    </a:solidFill>
                  </a:tcPr>
                </a:tc>
                <a:tc>
                  <a:txBody>
                    <a:bodyPr>
                      <a:noAutofit/>
                    </a:bodyPr>
                    <a:lstStyle/>
                    <a:p>
                      <a:r>
                        <a:rPr sz="1725" b="0">
                          <a:solidFill>
                            <a:srgbClr val="182E35"/>
                          </a:solidFill>
                          <a:latin typeface="Arial"/>
                          <a:ea typeface="Arial"/>
                          <a:cs typeface="Arial"/>
                        </a:rPr>
                        <a:t>Can the scanner handle varied eligible files?</a:t>
                      </a:r>
                    </a:p>
                  </a:txBody>
                  <a:tcPr marL="91440" marR="91440" marT="45720" marB="45720">
                    <a:lnR w="9525">
                      <a:solidFill>
                        <a:srgbClr val="D6E2E4"/>
                      </a:solidFill>
                      <a:prstDash val="solid"/>
                    </a:lnR>
                    <a:lnB w="9525">
                      <a:solidFill>
                        <a:srgbClr val="D6E2E4"/>
                      </a:solidFill>
                      <a:prstDash val="solid"/>
                    </a:lnB>
                    <a:solidFill>
                      <a:srgbClr val="E9F1F2"/>
                    </a:solidFill>
                  </a:tcPr>
                </a:tc>
              </a:tr>
              <a:tr h="674688">
                <a:tc>
                  <a:txBody>
                    <a:bodyPr>
                      <a:noAutofit/>
                    </a:bodyPr>
                    <a:lstStyle/>
                    <a:p>
                      <a:r>
                        <a:rPr sz="1725" b="0">
                          <a:solidFill>
                            <a:srgbClr val="182E35"/>
                          </a:solidFill>
                          <a:latin typeface="Arial"/>
                          <a:ea typeface="Arial"/>
                          <a:cs typeface="Arial"/>
                        </a:rPr>
                        <a:t>Real ECU mutations</a:t>
                      </a:r>
                    </a:p>
                  </a:txBody>
                  <a:tcPr marL="91440" marR="91440" marT="45720" marB="45720">
                    <a:lnL w="9525">
                      <a:solidFill>
                        <a:srgbClr val="D6E2E4"/>
                      </a:solidFill>
                      <a:prstDash val="solid"/>
                    </a:lnL>
                    <a:lnR w="9525">
                      <a:solidFill>
                        <a:srgbClr val="D6E2E4"/>
                      </a:solidFill>
                      <a:prstDash val="solid"/>
                    </a:lnR>
                    <a:lnB w="9525">
                      <a:solidFill>
                        <a:srgbClr val="D6E2E4"/>
                      </a:solidFill>
                      <a:prstDash val="solid"/>
                    </a:lnB>
                    <a:solidFill>
                      <a:srgbClr val="FFFFFF"/>
                    </a:solidFill>
                  </a:tcPr>
                </a:tc>
                <a:tc>
                  <a:txBody>
                    <a:bodyPr>
                      <a:noAutofit/>
                    </a:bodyPr>
                    <a:lstStyle/>
                    <a:p>
                      <a:r>
                        <a:rPr sz="1725" b="0">
                          <a:solidFill>
                            <a:srgbClr val="182E35"/>
                          </a:solidFill>
                          <a:latin typeface="Arial"/>
                          <a:ea typeface="Arial"/>
                          <a:cs typeface="Arial"/>
                        </a:rPr>
                        <a:t>Does it locate these injected defect families?</a:t>
                      </a:r>
                    </a:p>
                  </a:txBody>
                  <a:tcPr marL="91440" marR="91440" marT="45720" marB="45720">
                    <a:lnR w="9525">
                      <a:solidFill>
                        <a:srgbClr val="D6E2E4"/>
                      </a:solidFill>
                      <a:prstDash val="solid"/>
                    </a:lnR>
                    <a:lnB w="9525">
                      <a:solidFill>
                        <a:srgbClr val="D6E2E4"/>
                      </a:solidFill>
                      <a:prstDash val="solid"/>
                    </a:lnB>
                    <a:solidFill>
                      <a:srgbClr val="FFFFFF"/>
                    </a:solidFill>
                  </a:tcPr>
                </a:tc>
              </a:tr>
              <a:tr h="674688">
                <a:tc>
                  <a:txBody>
                    <a:bodyPr>
                      <a:noAutofit/>
                    </a:bodyPr>
                    <a:lstStyle/>
                    <a:p>
                      <a:r>
                        <a:rPr sz="1725" b="0">
                          <a:solidFill>
                            <a:srgbClr val="182E35"/>
                          </a:solidFill>
                          <a:latin typeface="Arial"/>
                          <a:ea typeface="Arial"/>
                          <a:cs typeface="Arial"/>
                        </a:rPr>
                        <a:t>Retrieval interventions</a:t>
                      </a:r>
                    </a:p>
                  </a:txBody>
                  <a:tcPr marL="91440" marR="91440" marT="45720" marB="45720">
                    <a:lnL w="9525">
                      <a:solidFill>
                        <a:srgbClr val="D6E2E4"/>
                      </a:solidFill>
                      <a:prstDash val="solid"/>
                    </a:lnL>
                    <a:lnR w="9525">
                      <a:solidFill>
                        <a:srgbClr val="D6E2E4"/>
                      </a:solidFill>
                      <a:prstDash val="solid"/>
                    </a:lnR>
                    <a:lnB w="9525">
                      <a:solidFill>
                        <a:srgbClr val="D6E2E4"/>
                      </a:solidFill>
                      <a:prstDash val="solid"/>
                    </a:lnB>
                    <a:solidFill>
                      <a:srgbClr val="E9F1F2"/>
                    </a:solidFill>
                  </a:tcPr>
                </a:tc>
                <a:tc>
                  <a:txBody>
                    <a:bodyPr>
                      <a:noAutofit/>
                    </a:bodyPr>
                    <a:lstStyle/>
                    <a:p>
                      <a:r>
                        <a:rPr sz="1725" b="0">
                          <a:solidFill>
                            <a:srgbClr val="182E35"/>
                          </a:solidFill>
                          <a:latin typeface="Arial"/>
                          <a:ea typeface="Arial"/>
                          <a:cs typeface="Arial"/>
                        </a:rPr>
                        <a:t>Does the answer depend on applicable context?</a:t>
                      </a:r>
                    </a:p>
                  </a:txBody>
                  <a:tcPr marL="91440" marR="91440" marT="45720" marB="45720">
                    <a:lnR w="9525">
                      <a:solidFill>
                        <a:srgbClr val="D6E2E4"/>
                      </a:solidFill>
                      <a:prstDash val="solid"/>
                    </a:lnR>
                    <a:lnB w="9525">
                      <a:solidFill>
                        <a:srgbClr val="D6E2E4"/>
                      </a:solidFill>
                      <a:prstDash val="solid"/>
                    </a:lnB>
                    <a:solidFill>
                      <a:srgbClr val="E9F1F2"/>
                    </a:solidFill>
                  </a:tcPr>
                </a:tc>
              </a:tr>
              <a:tr h="674688">
                <a:tc>
                  <a:txBody>
                    <a:bodyPr>
                      <a:noAutofit/>
                    </a:bodyPr>
                    <a:lstStyle/>
                    <a:p>
                      <a:r>
                        <a:rPr sz="1725" b="0">
                          <a:solidFill>
                            <a:srgbClr val="182E35"/>
                          </a:solidFill>
                          <a:latin typeface="Arial"/>
                          <a:ea typeface="Arial"/>
                          <a:cs typeface="Arial"/>
                        </a:rPr>
                        <a:t>Actual local generation</a:t>
                      </a:r>
                    </a:p>
                  </a:txBody>
                  <a:tcPr marL="91440" marR="91440" marT="45720" marB="45720">
                    <a:lnL w="9525">
                      <a:solidFill>
                        <a:srgbClr val="D6E2E4"/>
                      </a:solidFill>
                      <a:prstDash val="solid"/>
                    </a:lnL>
                    <a:lnR w="9525">
                      <a:solidFill>
                        <a:srgbClr val="D6E2E4"/>
                      </a:solidFill>
                      <a:prstDash val="solid"/>
                    </a:lnR>
                    <a:lnB w="9525">
                      <a:solidFill>
                        <a:srgbClr val="D6E2E4"/>
                      </a:solidFill>
                      <a:prstDash val="solid"/>
                    </a:lnB>
                    <a:solidFill>
                      <a:srgbClr val="FFFFFF"/>
                    </a:solidFill>
                  </a:tcPr>
                </a:tc>
                <a:tc>
                  <a:txBody>
                    <a:bodyPr>
                      <a:noAutofit/>
                    </a:bodyPr>
                    <a:lstStyle/>
                    <a:p>
                      <a:r>
                        <a:rPr sz="1725" b="0">
                          <a:solidFill>
                            <a:srgbClr val="182E35"/>
                          </a:solidFill>
                          <a:latin typeface="Arial"/>
                          <a:ea typeface="Arial"/>
                          <a:cs typeface="Arial"/>
                        </a:rPr>
                        <a:t>Did the LLM run and pass citation validation?</a:t>
                      </a:r>
                    </a:p>
                  </a:txBody>
                  <a:tcPr marL="91440" marR="91440" marT="45720" marB="45720">
                    <a:lnR w="9525">
                      <a:solidFill>
                        <a:srgbClr val="D6E2E4"/>
                      </a:solidFill>
                      <a:prstDash val="solid"/>
                    </a:lnR>
                    <a:lnB w="9525">
                      <a:solidFill>
                        <a:srgbClr val="D6E2E4"/>
                      </a:solidFill>
                      <a:prstDash val="solid"/>
                    </a:lnB>
                    <a:solidFill>
                      <a:srgbClr val="FFFFFF"/>
                    </a:solidFill>
                  </a:tcPr>
                </a:tc>
              </a:tr>
            </a:tbl>
          </a:graphicData>
        </a:graphic>
      </p:graphicFrame>
    </p:spTree>
    <p:extLst>
      <p:ext uri="{BB962C8B-B14F-4D97-AF65-F5344CB8AC3E}">
        <p14:creationId xmlns:p14="http://schemas.microsoft.com/office/powerpoint/2010/main" val="87115865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F3A8CB8-5A7E-471D-B948-F4FFAA387E2B}"/>
              </a:ext>
            </a:extLst>
          </p:cNvPr>
          <p:cNvSpPr>
            <a:spLocks xmlns:a="http://schemas.openxmlformats.org/drawingml/2006/main" noGrp="1"/>
          </p:cNvSpPr>
          <p:nvPr/>
        </p:nvSpPr>
        <p:spPr>
          <a:xfrm xmlns:a="http://schemas.openxmlformats.org/drawingml/2006/main">
            <a:off x="685800" y="5334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02B32"/>
                </a:solidFill>
                <a:latin typeface="Arial"/>
                <a:ea typeface="Arial"/>
                <a:cs typeface="Arial"/>
              </a:defRPr>
            </a:defPPr>
          </a:lstStyle>
          <a:p xmlns:a="http://schemas.openxmlformats.org/drawingml/2006/main">
            <a:pPr>
              <a:defRPr sz="3300" b="1">
                <a:solidFill>
                  <a:srgbClr val="102B32"/>
                </a:solidFill>
                <a:latin typeface="Arial"/>
                <a:ea typeface="Arial"/>
                <a:cs typeface="Arial"/>
              </a:defRPr>
            </a:pPr>
            <a:r>
              <a:rPr sz="3300" b="1">
                <a:solidFill>
                  <a:srgbClr val="102B32"/>
                </a:solidFill>
                <a:latin typeface="Arial"/>
                <a:ea typeface="Arial"/>
                <a:cs typeface="Arial"/>
              </a:rPr>
              <a:t>Twenty advisory rule families</a:t>
            </a:r>
          </a:p>
        </p:txBody>
      </p:sp>
      <p:sp>
        <p:nvSpPr>
          <p:cNvPr id="2" name="">
            <a:extLst xmlns:a="http://schemas.openxmlformats.org/drawingml/2006/main">
              <a:ext uri="{FF2B5EF4-FFF2-40B4-BE49-F238E27FC236}">
                <a16:creationId xmlns:a16="http://schemas.microsoft.com/office/drawing/2014/main" id="{986EDA61-4D82-4E65-A66F-8AF837A76279}"/>
              </a:ext>
            </a:extLst>
          </p:cNvPr>
          <p:cNvSpPr>
            <a:spLocks xmlns:a="http://schemas.openxmlformats.org/drawingml/2006/main" noGrp="1"/>
          </p:cNvSpPr>
          <p:nvPr/>
        </p:nvSpPr>
        <p:spPr>
          <a:xfrm xmlns:a="http://schemas.openxmlformats.org/drawingml/2006/main">
            <a:off x="685800" y="630555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2676E"/>
                </a:solidFill>
                <a:latin typeface="Arial"/>
                <a:ea typeface="Arial"/>
                <a:cs typeface="Arial"/>
              </a:defRPr>
            </a:defPPr>
          </a:lstStyle>
          <a:p xmlns:a="http://schemas.openxmlformats.org/drawingml/2006/main">
            <a:pPr>
              <a:defRPr sz="1125" b="0">
                <a:solidFill>
                  <a:srgbClr val="52676E"/>
                </a:solidFill>
                <a:latin typeface="Arial"/>
                <a:ea typeface="Arial"/>
                <a:cs typeface="Arial"/>
              </a:defRPr>
            </a:pPr>
            <a:r>
              <a:rPr sz="1125" b="0">
                <a:solidFill>
                  <a:srgbClr val="52676E"/>
                </a:solidFill>
                <a:latin typeface="Arial"/>
                <a:ea typeface="Arial"/>
                <a:cs typeface="Arial"/>
              </a:rPr>
              <a:t>ECU REVIEW STUDIO</a:t>
            </a:r>
          </a:p>
        </p:txBody>
      </p:sp>
      <p:sp>
        <p:nvSpPr>
          <p:cNvPr id="3" name="">
            <a:extLst xmlns:a="http://schemas.openxmlformats.org/drawingml/2006/main">
              <a:ext uri="{FF2B5EF4-FFF2-40B4-BE49-F238E27FC236}">
                <a16:creationId xmlns:a16="http://schemas.microsoft.com/office/drawing/2014/main" id="{A3C6D16D-3CB1-4FDC-8925-11AF699CAAC8}"/>
              </a:ext>
            </a:extLst>
          </p:cNvPr>
          <p:cNvSpPr>
            <a:spLocks xmlns:a="http://schemas.openxmlformats.org/drawingml/2006/main" noGrp="1"/>
          </p:cNvSpPr>
          <p:nvPr/>
        </p:nvSpPr>
        <p:spPr>
          <a:xfrm xmlns:a="http://schemas.openxmlformats.org/drawingml/2006/main">
            <a:off x="10953750" y="63055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2676E"/>
                </a:solidFill>
                <a:latin typeface="Arial"/>
                <a:ea typeface="Arial"/>
                <a:cs typeface="Arial"/>
              </a:defRPr>
            </a:defPPr>
          </a:lstStyle>
          <a:p xmlns:a="http://schemas.openxmlformats.org/drawingml/2006/main">
            <a:pPr>
              <a:defRPr sz="1125" b="0">
                <a:solidFill>
                  <a:srgbClr val="52676E"/>
                </a:solidFill>
                <a:latin typeface="Arial"/>
                <a:ea typeface="Arial"/>
                <a:cs typeface="Arial"/>
              </a:defRPr>
            </a:pPr>
            <a:r>
              <a:rPr sz="1125" b="0">
                <a:solidFill>
                  <a:srgbClr val="52676E"/>
                </a:solidFill>
                <a:latin typeface="Arial"/>
                <a:ea typeface="Arial"/>
                <a:cs typeface="Arial"/>
              </a:rPr>
              <a:t>04</a:t>
            </a:r>
          </a:p>
        </p:txBody>
      </p:sp>
      <p:graphicFrame>
        <p:nvGraphicFramePr>
          <p:cNvPr id="4" name="">
            <a:extLst xmlns:a="http://schemas.openxmlformats.org/drawingml/2006/main">
              <a:ext uri="{FF2B5EF4-FFF2-40B4-BE49-F238E27FC236}">
                <a16:creationId xmlns:a16="http://schemas.microsoft.com/office/drawing/2014/main" id="{E67A50FC-D820-4613-A869-936F33C81FAC}"/>
              </a:ext>
            </a:extLst>
          </p:cNvPr>
          <p:cNvGraphicFramePr/>
          <p:nvPr/>
        </p:nvGraphicFramePr>
        <p:xfrm>
          <a:off xmlns:a="http://schemas.openxmlformats.org/drawingml/2006/main" x="685800" y="1571625"/>
          <a:ext xmlns:a="http://schemas.openxmlformats.org/drawingml/2006/main" cx="10820400" cy="4095750"/>
        </p:xfrm>
        <a:graphic xmlns:a="http://schemas.openxmlformats.org/drawingml/2006/main">
          <a:graphicData uri="http://schemas.openxmlformats.org/drawingml/2006/table">
            <a:tbl>
              <a:tblPr/>
              <a:tblGrid>
                <a:gridCol w="2667000"/>
                <a:gridCol w="952500"/>
                <a:gridCol w="7200900"/>
              </a:tblGrid>
              <a:tr h="585107">
                <a:tc>
                  <a:txBody>
                    <a:bodyPr>
                      <a:noAutofit/>
                    </a:bodyPr>
                    <a:lstStyle/>
                    <a:p>
                      <a:r>
                        <a:rPr sz="1725" b="1">
                          <a:solidFill>
                            <a:srgbClr val="FFFFFF"/>
                          </a:solidFill>
                          <a:latin typeface="Arial"/>
                          <a:ea typeface="Arial"/>
                          <a:cs typeface="Arial"/>
                        </a:rPr>
                        <a:t>Family</a:t>
                      </a:r>
                    </a:p>
                  </a:txBody>
                  <a:tcPr marL="91440" marR="91440" marT="45720" marB="45720">
                    <a:lnL w="9525">
                      <a:solidFill>
                        <a:srgbClr val="D6E2E4"/>
                      </a:solidFill>
                      <a:prstDash val="solid"/>
                    </a:lnL>
                    <a:lnR w="9525">
                      <a:solidFill>
                        <a:srgbClr val="D6E2E4"/>
                      </a:solidFill>
                      <a:prstDash val="solid"/>
                    </a:lnR>
                    <a:lnT w="9525">
                      <a:solidFill>
                        <a:srgbClr val="D6E2E4"/>
                      </a:solidFill>
                      <a:prstDash val="solid"/>
                    </a:lnT>
                    <a:lnB w="9525">
                      <a:solidFill>
                        <a:srgbClr val="D6E2E4"/>
                      </a:solidFill>
                      <a:prstDash val="solid"/>
                    </a:lnB>
                    <a:solidFill>
                      <a:srgbClr val="102B32"/>
                    </a:solidFill>
                  </a:tcPr>
                </a:tc>
                <a:tc>
                  <a:txBody>
                    <a:bodyPr>
                      <a:noAutofit/>
                    </a:bodyPr>
                    <a:lstStyle/>
                    <a:p>
                      <a:r>
                        <a:rPr sz="1725" b="1">
                          <a:solidFill>
                            <a:srgbClr val="FFFFFF"/>
                          </a:solidFill>
                          <a:latin typeface="Arial"/>
                          <a:ea typeface="Arial"/>
                          <a:cs typeface="Arial"/>
                        </a:rPr>
                        <a:t>Rules</a:t>
                      </a:r>
                    </a:p>
                  </a:txBody>
                  <a:tcPr marL="91440" marR="91440" marT="45720" marB="45720">
                    <a:lnR w="9525">
                      <a:solidFill>
                        <a:srgbClr val="D6E2E4"/>
                      </a:solidFill>
                      <a:prstDash val="solid"/>
                    </a:lnR>
                    <a:lnT w="9525">
                      <a:solidFill>
                        <a:srgbClr val="D6E2E4"/>
                      </a:solidFill>
                      <a:prstDash val="solid"/>
                    </a:lnT>
                    <a:lnB w="9525">
                      <a:solidFill>
                        <a:srgbClr val="D6E2E4"/>
                      </a:solidFill>
                      <a:prstDash val="solid"/>
                    </a:lnB>
                    <a:solidFill>
                      <a:srgbClr val="102B32"/>
                    </a:solidFill>
                  </a:tcPr>
                </a:tc>
                <a:tc>
                  <a:txBody>
                    <a:bodyPr>
                      <a:noAutofit/>
                    </a:bodyPr>
                    <a:lstStyle/>
                    <a:p>
                      <a:r>
                        <a:rPr sz="1725" b="1">
                          <a:solidFill>
                            <a:srgbClr val="FFFFFF"/>
                          </a:solidFill>
                          <a:latin typeface="Arial"/>
                          <a:ea typeface="Arial"/>
                          <a:cs typeface="Arial"/>
                        </a:rPr>
                        <a:t>Scope</a:t>
                      </a:r>
                    </a:p>
                  </a:txBody>
                  <a:tcPr marL="91440" marR="91440" marT="45720" marB="45720">
                    <a:lnR w="9525">
                      <a:solidFill>
                        <a:srgbClr val="D6E2E4"/>
                      </a:solidFill>
                      <a:prstDash val="solid"/>
                    </a:lnR>
                    <a:lnT w="9525">
                      <a:solidFill>
                        <a:srgbClr val="D6E2E4"/>
                      </a:solidFill>
                      <a:prstDash val="solid"/>
                    </a:lnT>
                    <a:lnB w="9525">
                      <a:solidFill>
                        <a:srgbClr val="D6E2E4"/>
                      </a:solidFill>
                      <a:prstDash val="solid"/>
                    </a:lnB>
                    <a:solidFill>
                      <a:srgbClr val="102B32"/>
                    </a:solidFill>
                  </a:tcPr>
                </a:tc>
              </a:tr>
              <a:tr h="585107">
                <a:tc>
                  <a:txBody>
                    <a:bodyPr>
                      <a:noAutofit/>
                    </a:bodyPr>
                    <a:lstStyle/>
                    <a:p>
                      <a:r>
                        <a:rPr sz="1725" b="0">
                          <a:solidFill>
                            <a:srgbClr val="182E35"/>
                          </a:solidFill>
                          <a:latin typeface="Arial"/>
                          <a:ea typeface="Arial"/>
                          <a:cs typeface="Arial"/>
                        </a:rPr>
                        <a:t>Boundary</a:t>
                      </a:r>
                    </a:p>
                  </a:txBody>
                  <a:tcPr marL="91440" marR="91440" marT="45720" marB="45720">
                    <a:lnL w="9525">
                      <a:solidFill>
                        <a:srgbClr val="D6E2E4"/>
                      </a:solidFill>
                      <a:prstDash val="solid"/>
                    </a:lnL>
                    <a:lnR w="9525">
                      <a:solidFill>
                        <a:srgbClr val="D6E2E4"/>
                      </a:solidFill>
                      <a:prstDash val="solid"/>
                    </a:lnR>
                    <a:lnB w="9525">
                      <a:solidFill>
                        <a:srgbClr val="D6E2E4"/>
                      </a:solidFill>
                      <a:prstDash val="solid"/>
                    </a:lnB>
                    <a:solidFill>
                      <a:srgbClr val="FFFFFF"/>
                    </a:solidFill>
                  </a:tcPr>
                </a:tc>
                <a:tc>
                  <a:txBody>
                    <a:bodyPr>
                      <a:noAutofit/>
                    </a:bodyPr>
                    <a:lstStyle/>
                    <a:p>
                      <a:r>
                        <a:rPr sz="1725" b="0">
                          <a:solidFill>
                            <a:srgbClr val="182E35"/>
                          </a:solidFill>
                          <a:latin typeface="Arial"/>
                          <a:ea typeface="Arial"/>
                          <a:cs typeface="Arial"/>
                        </a:rPr>
                        <a:t>5</a:t>
                      </a:r>
                    </a:p>
                  </a:txBody>
                  <a:tcPr marL="91440" marR="91440" marT="45720" marB="45720">
                    <a:lnR w="9525">
                      <a:solidFill>
                        <a:srgbClr val="D6E2E4"/>
                      </a:solidFill>
                      <a:prstDash val="solid"/>
                    </a:lnR>
                    <a:lnB w="9525">
                      <a:solidFill>
                        <a:srgbClr val="D6E2E4"/>
                      </a:solidFill>
                      <a:prstDash val="solid"/>
                    </a:lnB>
                    <a:solidFill>
                      <a:srgbClr val="FFFFFF"/>
                    </a:solidFill>
                  </a:tcPr>
                </a:tc>
                <a:tc>
                  <a:txBody>
                    <a:bodyPr>
                      <a:noAutofit/>
                    </a:bodyPr>
                    <a:lstStyle/>
                    <a:p>
                      <a:r>
                        <a:rPr sz="1725" b="0">
                          <a:solidFill>
                            <a:srgbClr val="182E35"/>
                          </a:solidFill>
                          <a:latin typeface="Arial"/>
                          <a:ea typeface="Arial"/>
                          <a:cs typeface="Arial"/>
                        </a:rPr>
                        <a:t>Input, copies, formatting and fixed indexes</a:t>
                      </a:r>
                    </a:p>
                  </a:txBody>
                  <a:tcPr marL="91440" marR="91440" marT="45720" marB="45720">
                    <a:lnR w="9525">
                      <a:solidFill>
                        <a:srgbClr val="D6E2E4"/>
                      </a:solidFill>
                      <a:prstDash val="solid"/>
                    </a:lnR>
                    <a:lnB w="9525">
                      <a:solidFill>
                        <a:srgbClr val="D6E2E4"/>
                      </a:solidFill>
                      <a:prstDash val="solid"/>
                    </a:lnB>
                    <a:solidFill>
                      <a:srgbClr val="FFFFFF"/>
                    </a:solidFill>
                  </a:tcPr>
                </a:tc>
              </a:tr>
              <a:tr h="585107">
                <a:tc>
                  <a:txBody>
                    <a:bodyPr>
                      <a:noAutofit/>
                    </a:bodyPr>
                    <a:lstStyle/>
                    <a:p>
                      <a:r>
                        <a:rPr sz="1725" b="0">
                          <a:solidFill>
                            <a:srgbClr val="182E35"/>
                          </a:solidFill>
                          <a:latin typeface="Arial"/>
                          <a:ea typeface="Arial"/>
                          <a:cs typeface="Arial"/>
                        </a:rPr>
                        <a:t>Pointer and resources</a:t>
                      </a:r>
                    </a:p>
                  </a:txBody>
                  <a:tcPr marL="91440" marR="91440" marT="45720" marB="45720">
                    <a:lnL w="9525">
                      <a:solidFill>
                        <a:srgbClr val="D6E2E4"/>
                      </a:solidFill>
                      <a:prstDash val="solid"/>
                    </a:lnL>
                    <a:lnR w="9525">
                      <a:solidFill>
                        <a:srgbClr val="D6E2E4"/>
                      </a:solidFill>
                      <a:prstDash val="solid"/>
                    </a:lnR>
                    <a:lnB w="9525">
                      <a:solidFill>
                        <a:srgbClr val="D6E2E4"/>
                      </a:solidFill>
                      <a:prstDash val="solid"/>
                    </a:lnB>
                    <a:solidFill>
                      <a:srgbClr val="E9F1F2"/>
                    </a:solidFill>
                  </a:tcPr>
                </a:tc>
                <a:tc>
                  <a:txBody>
                    <a:bodyPr>
                      <a:noAutofit/>
                    </a:bodyPr>
                    <a:lstStyle/>
                    <a:p>
                      <a:r>
                        <a:rPr sz="1725" b="0">
                          <a:solidFill>
                            <a:srgbClr val="182E35"/>
                          </a:solidFill>
                          <a:latin typeface="Arial"/>
                          <a:ea typeface="Arial"/>
                          <a:cs typeface="Arial"/>
                        </a:rPr>
                        <a:t>4</a:t>
                      </a:r>
                    </a:p>
                  </a:txBody>
                  <a:tcPr marL="91440" marR="91440" marT="45720" marB="45720">
                    <a:lnR w="9525">
                      <a:solidFill>
                        <a:srgbClr val="D6E2E4"/>
                      </a:solidFill>
                      <a:prstDash val="solid"/>
                    </a:lnR>
                    <a:lnB w="9525">
                      <a:solidFill>
                        <a:srgbClr val="D6E2E4"/>
                      </a:solidFill>
                      <a:prstDash val="solid"/>
                    </a:lnB>
                    <a:solidFill>
                      <a:srgbClr val="E9F1F2"/>
                    </a:solidFill>
                  </a:tcPr>
                </a:tc>
                <a:tc>
                  <a:txBody>
                    <a:bodyPr>
                      <a:noAutofit/>
                    </a:bodyPr>
                    <a:lstStyle/>
                    <a:p>
                      <a:r>
                        <a:rPr sz="1725" b="0">
                          <a:solidFill>
                            <a:srgbClr val="182E35"/>
                          </a:solidFill>
                          <a:latin typeface="Arial"/>
                          <a:ea typeface="Arial"/>
                          <a:cs typeface="Arial"/>
                        </a:rPr>
                        <a:t>Null, lifetime, release and repeated free</a:t>
                      </a:r>
                    </a:p>
                  </a:txBody>
                  <a:tcPr marL="91440" marR="91440" marT="45720" marB="45720">
                    <a:lnR w="9525">
                      <a:solidFill>
                        <a:srgbClr val="D6E2E4"/>
                      </a:solidFill>
                      <a:prstDash val="solid"/>
                    </a:lnR>
                    <a:lnB w="9525">
                      <a:solidFill>
                        <a:srgbClr val="D6E2E4"/>
                      </a:solidFill>
                      <a:prstDash val="solid"/>
                    </a:lnB>
                    <a:solidFill>
                      <a:srgbClr val="E9F1F2"/>
                    </a:solidFill>
                  </a:tcPr>
                </a:tc>
              </a:tr>
              <a:tr h="585107">
                <a:tc>
                  <a:txBody>
                    <a:bodyPr>
                      <a:noAutofit/>
                    </a:bodyPr>
                    <a:lstStyle/>
                    <a:p>
                      <a:r>
                        <a:rPr sz="1725" b="0">
                          <a:solidFill>
                            <a:srgbClr val="182E35"/>
                          </a:solidFill>
                          <a:latin typeface="Arial"/>
                          <a:ea typeface="Arial"/>
                          <a:cs typeface="Arial"/>
                        </a:rPr>
                        <a:t>Arithmetic</a:t>
                      </a:r>
                    </a:p>
                  </a:txBody>
                  <a:tcPr marL="91440" marR="91440" marT="45720" marB="45720">
                    <a:lnL w="9525">
                      <a:solidFill>
                        <a:srgbClr val="D6E2E4"/>
                      </a:solidFill>
                      <a:prstDash val="solid"/>
                    </a:lnL>
                    <a:lnR w="9525">
                      <a:solidFill>
                        <a:srgbClr val="D6E2E4"/>
                      </a:solidFill>
                      <a:prstDash val="solid"/>
                    </a:lnR>
                    <a:lnB w="9525">
                      <a:solidFill>
                        <a:srgbClr val="D6E2E4"/>
                      </a:solidFill>
                      <a:prstDash val="solid"/>
                    </a:lnB>
                    <a:solidFill>
                      <a:srgbClr val="FFFFFF"/>
                    </a:solidFill>
                  </a:tcPr>
                </a:tc>
                <a:tc>
                  <a:txBody>
                    <a:bodyPr>
                      <a:noAutofit/>
                    </a:bodyPr>
                    <a:lstStyle/>
                    <a:p>
                      <a:r>
                        <a:rPr sz="1725" b="0">
                          <a:solidFill>
                            <a:srgbClr val="182E35"/>
                          </a:solidFill>
                          <a:latin typeface="Arial"/>
                          <a:ea typeface="Arial"/>
                          <a:cs typeface="Arial"/>
                        </a:rPr>
                        <a:t>2</a:t>
                      </a:r>
                    </a:p>
                  </a:txBody>
                  <a:tcPr marL="91440" marR="91440" marT="45720" marB="45720">
                    <a:lnR w="9525">
                      <a:solidFill>
                        <a:srgbClr val="D6E2E4"/>
                      </a:solidFill>
                      <a:prstDash val="solid"/>
                    </a:lnR>
                    <a:lnB w="9525">
                      <a:solidFill>
                        <a:srgbClr val="D6E2E4"/>
                      </a:solidFill>
                      <a:prstDash val="solid"/>
                    </a:lnB>
                    <a:solidFill>
                      <a:srgbClr val="FFFFFF"/>
                    </a:solidFill>
                  </a:tcPr>
                </a:tc>
                <a:tc>
                  <a:txBody>
                    <a:bodyPr>
                      <a:noAutofit/>
                    </a:bodyPr>
                    <a:lstStyle/>
                    <a:p>
                      <a:r>
                        <a:rPr sz="1725" b="0">
                          <a:solidFill>
                            <a:srgbClr val="182E35"/>
                          </a:solidFill>
                          <a:latin typeface="Arial"/>
                          <a:ea typeface="Arial"/>
                          <a:cs typeface="Arial"/>
                        </a:rPr>
                        <a:t>Literal zero divisors and fixed-width shifts</a:t>
                      </a:r>
                    </a:p>
                  </a:txBody>
                  <a:tcPr marL="91440" marR="91440" marT="45720" marB="45720">
                    <a:lnR w="9525">
                      <a:solidFill>
                        <a:srgbClr val="D6E2E4"/>
                      </a:solidFill>
                      <a:prstDash val="solid"/>
                    </a:lnR>
                    <a:lnB w="9525">
                      <a:solidFill>
                        <a:srgbClr val="D6E2E4"/>
                      </a:solidFill>
                      <a:prstDash val="solid"/>
                    </a:lnB>
                    <a:solidFill>
                      <a:srgbClr val="FFFFFF"/>
                    </a:solidFill>
                  </a:tcPr>
                </a:tc>
              </a:tr>
              <a:tr h="585107">
                <a:tc>
                  <a:txBody>
                    <a:bodyPr>
                      <a:noAutofit/>
                    </a:bodyPr>
                    <a:lstStyle/>
                    <a:p>
                      <a:r>
                        <a:rPr sz="1725" b="0">
                          <a:solidFill>
                            <a:srgbClr val="182E35"/>
                          </a:solidFill>
                          <a:latin typeface="Arial"/>
                          <a:ea typeface="Arial"/>
                          <a:cs typeface="Arial"/>
                        </a:rPr>
                        <a:t>Control flow</a:t>
                      </a:r>
                    </a:p>
                  </a:txBody>
                  <a:tcPr marL="91440" marR="91440" marT="45720" marB="45720">
                    <a:lnL w="9525">
                      <a:solidFill>
                        <a:srgbClr val="D6E2E4"/>
                      </a:solidFill>
                      <a:prstDash val="solid"/>
                    </a:lnL>
                    <a:lnR w="9525">
                      <a:solidFill>
                        <a:srgbClr val="D6E2E4"/>
                      </a:solidFill>
                      <a:prstDash val="solid"/>
                    </a:lnR>
                    <a:lnB w="9525">
                      <a:solidFill>
                        <a:srgbClr val="D6E2E4"/>
                      </a:solidFill>
                      <a:prstDash val="solid"/>
                    </a:lnB>
                    <a:solidFill>
                      <a:srgbClr val="E9F1F2"/>
                    </a:solidFill>
                  </a:tcPr>
                </a:tc>
                <a:tc>
                  <a:txBody>
                    <a:bodyPr>
                      <a:noAutofit/>
                    </a:bodyPr>
                    <a:lstStyle/>
                    <a:p>
                      <a:r>
                        <a:rPr sz="1725" b="0">
                          <a:solidFill>
                            <a:srgbClr val="182E35"/>
                          </a:solidFill>
                          <a:latin typeface="Arial"/>
                          <a:ea typeface="Arial"/>
                          <a:cs typeface="Arial"/>
                        </a:rPr>
                        <a:t>2</a:t>
                      </a:r>
                    </a:p>
                  </a:txBody>
                  <a:tcPr marL="91440" marR="91440" marT="45720" marB="45720">
                    <a:lnR w="9525">
                      <a:solidFill>
                        <a:srgbClr val="D6E2E4"/>
                      </a:solidFill>
                      <a:prstDash val="solid"/>
                    </a:lnR>
                    <a:lnB w="9525">
                      <a:solidFill>
                        <a:srgbClr val="D6E2E4"/>
                      </a:solidFill>
                      <a:prstDash val="solid"/>
                    </a:lnB>
                    <a:solidFill>
                      <a:srgbClr val="E9F1F2"/>
                    </a:solidFill>
                  </a:tcPr>
                </a:tc>
                <a:tc>
                  <a:txBody>
                    <a:bodyPr>
                      <a:noAutofit/>
                    </a:bodyPr>
                    <a:lstStyle/>
                    <a:p>
                      <a:r>
                        <a:rPr sz="1725" b="0">
                          <a:solidFill>
                            <a:srgbClr val="182E35"/>
                          </a:solidFill>
                          <a:latin typeface="Arial"/>
                          <a:ea typeface="Arial"/>
                          <a:cs typeface="Arial"/>
                        </a:rPr>
                        <a:t>Assignment conditions and default handling</a:t>
                      </a:r>
                    </a:p>
                  </a:txBody>
                  <a:tcPr marL="91440" marR="91440" marT="45720" marB="45720">
                    <a:lnR w="9525">
                      <a:solidFill>
                        <a:srgbClr val="D6E2E4"/>
                      </a:solidFill>
                      <a:prstDash val="solid"/>
                    </a:lnR>
                    <a:lnB w="9525">
                      <a:solidFill>
                        <a:srgbClr val="D6E2E4"/>
                      </a:solidFill>
                      <a:prstDash val="solid"/>
                    </a:lnB>
                    <a:solidFill>
                      <a:srgbClr val="E9F1F2"/>
                    </a:solidFill>
                  </a:tcPr>
                </a:tc>
              </a:tr>
              <a:tr h="585107">
                <a:tc>
                  <a:txBody>
                    <a:bodyPr>
                      <a:noAutofit/>
                    </a:bodyPr>
                    <a:lstStyle/>
                    <a:p>
                      <a:r>
                        <a:rPr sz="1725" b="0">
                          <a:solidFill>
                            <a:srgbClr val="182E35"/>
                          </a:solidFill>
                          <a:latin typeface="Arial"/>
                          <a:ea typeface="Arial"/>
                          <a:cs typeface="Arial"/>
                        </a:rPr>
                        <a:t>Real-time review</a:t>
                      </a:r>
                    </a:p>
                  </a:txBody>
                  <a:tcPr marL="91440" marR="91440" marT="45720" marB="45720">
                    <a:lnL w="9525">
                      <a:solidFill>
                        <a:srgbClr val="D6E2E4"/>
                      </a:solidFill>
                      <a:prstDash val="solid"/>
                    </a:lnL>
                    <a:lnR w="9525">
                      <a:solidFill>
                        <a:srgbClr val="D6E2E4"/>
                      </a:solidFill>
                      <a:prstDash val="solid"/>
                    </a:lnR>
                    <a:lnB w="9525">
                      <a:solidFill>
                        <a:srgbClr val="D6E2E4"/>
                      </a:solidFill>
                      <a:prstDash val="solid"/>
                    </a:lnB>
                    <a:solidFill>
                      <a:srgbClr val="FFFFFF"/>
                    </a:solidFill>
                  </a:tcPr>
                </a:tc>
                <a:tc>
                  <a:txBody>
                    <a:bodyPr>
                      <a:noAutofit/>
                    </a:bodyPr>
                    <a:lstStyle/>
                    <a:p>
                      <a:r>
                        <a:rPr sz="1725" b="0">
                          <a:solidFill>
                            <a:srgbClr val="182E35"/>
                          </a:solidFill>
                          <a:latin typeface="Arial"/>
                          <a:ea typeface="Arial"/>
                          <a:cs typeface="Arial"/>
                        </a:rPr>
                        <a:t>4</a:t>
                      </a:r>
                    </a:p>
                  </a:txBody>
                  <a:tcPr marL="91440" marR="91440" marT="45720" marB="45720">
                    <a:lnR w="9525">
                      <a:solidFill>
                        <a:srgbClr val="D6E2E4"/>
                      </a:solidFill>
                      <a:prstDash val="solid"/>
                    </a:lnR>
                    <a:lnB w="9525">
                      <a:solidFill>
                        <a:srgbClr val="D6E2E4"/>
                      </a:solidFill>
                      <a:prstDash val="solid"/>
                    </a:lnB>
                    <a:solidFill>
                      <a:srgbClr val="FFFFFF"/>
                    </a:solidFill>
                  </a:tcPr>
                </a:tc>
                <a:tc>
                  <a:txBody>
                    <a:bodyPr>
                      <a:noAutofit/>
                    </a:bodyPr>
                    <a:lstStyle/>
                    <a:p>
                      <a:r>
                        <a:rPr sz="1725" b="0">
                          <a:solidFill>
                            <a:srgbClr val="182E35"/>
                          </a:solidFill>
                          <a:latin typeface="Arial"/>
                          <a:ea typeface="Arial"/>
                          <a:cs typeface="Arial"/>
                        </a:rPr>
                        <a:t>ISR allocation/blocking, recursion, empty waits</a:t>
                      </a:r>
                    </a:p>
                  </a:txBody>
                  <a:tcPr marL="91440" marR="91440" marT="45720" marB="45720">
                    <a:lnR w="9525">
                      <a:solidFill>
                        <a:srgbClr val="D6E2E4"/>
                      </a:solidFill>
                      <a:prstDash val="solid"/>
                    </a:lnR>
                    <a:lnB w="9525">
                      <a:solidFill>
                        <a:srgbClr val="D6E2E4"/>
                      </a:solidFill>
                      <a:prstDash val="solid"/>
                    </a:lnB>
                    <a:solidFill>
                      <a:srgbClr val="FFFFFF"/>
                    </a:solidFill>
                  </a:tcPr>
                </a:tc>
              </a:tr>
              <a:tr h="585107">
                <a:tc>
                  <a:txBody>
                    <a:bodyPr>
                      <a:noAutofit/>
                    </a:bodyPr>
                    <a:lstStyle/>
                    <a:p>
                      <a:r>
                        <a:rPr sz="1725" b="0">
                          <a:solidFill>
                            <a:srgbClr val="182E35"/>
                          </a:solidFill>
                          <a:latin typeface="Arial"/>
                          <a:ea typeface="Arial"/>
                          <a:cs typeface="Arial"/>
                        </a:rPr>
                        <a:t>Protocol and input</a:t>
                      </a:r>
                    </a:p>
                  </a:txBody>
                  <a:tcPr marL="91440" marR="91440" marT="45720" marB="45720">
                    <a:lnL w="9525">
                      <a:solidFill>
                        <a:srgbClr val="D6E2E4"/>
                      </a:solidFill>
                      <a:prstDash val="solid"/>
                    </a:lnL>
                    <a:lnR w="9525">
                      <a:solidFill>
                        <a:srgbClr val="D6E2E4"/>
                      </a:solidFill>
                      <a:prstDash val="solid"/>
                    </a:lnR>
                    <a:lnB w="9525">
                      <a:solidFill>
                        <a:srgbClr val="D6E2E4"/>
                      </a:solidFill>
                      <a:prstDash val="solid"/>
                    </a:lnB>
                    <a:solidFill>
                      <a:srgbClr val="E9F1F2"/>
                    </a:solidFill>
                  </a:tcPr>
                </a:tc>
                <a:tc>
                  <a:txBody>
                    <a:bodyPr>
                      <a:noAutofit/>
                    </a:bodyPr>
                    <a:lstStyle/>
                    <a:p>
                      <a:r>
                        <a:rPr sz="1725" b="0">
                          <a:solidFill>
                            <a:srgbClr val="182E35"/>
                          </a:solidFill>
                          <a:latin typeface="Arial"/>
                          <a:ea typeface="Arial"/>
                          <a:cs typeface="Arial"/>
                        </a:rPr>
                        <a:t>3</a:t>
                      </a:r>
                    </a:p>
                  </a:txBody>
                  <a:tcPr marL="91440" marR="91440" marT="45720" marB="45720">
                    <a:lnR w="9525">
                      <a:solidFill>
                        <a:srgbClr val="D6E2E4"/>
                      </a:solidFill>
                      <a:prstDash val="solid"/>
                    </a:lnR>
                    <a:lnB w="9525">
                      <a:solidFill>
                        <a:srgbClr val="D6E2E4"/>
                      </a:solidFill>
                      <a:prstDash val="solid"/>
                    </a:lnB>
                    <a:solidFill>
                      <a:srgbClr val="E9F1F2"/>
                    </a:solidFill>
                  </a:tcPr>
                </a:tc>
                <a:tc>
                  <a:txBody>
                    <a:bodyPr>
                      <a:noAutofit/>
                    </a:bodyPr>
                    <a:lstStyle/>
                    <a:p>
                      <a:r>
                        <a:rPr sz="1725" b="0">
                          <a:solidFill>
                            <a:srgbClr val="182E35"/>
                          </a:solidFill>
                          <a:latin typeface="Arial"/>
                          <a:ea typeface="Arial"/>
                          <a:cs typeface="Arial"/>
                        </a:rPr>
                        <a:t>Classical CAN DLC, printf format and shell calls</a:t>
                      </a:r>
                    </a:p>
                  </a:txBody>
                  <a:tcPr marL="91440" marR="91440" marT="45720" marB="45720">
                    <a:lnR w="9525">
                      <a:solidFill>
                        <a:srgbClr val="D6E2E4"/>
                      </a:solidFill>
                      <a:prstDash val="solid"/>
                    </a:lnR>
                    <a:lnB w="9525">
                      <a:solidFill>
                        <a:srgbClr val="D6E2E4"/>
                      </a:solidFill>
                      <a:prstDash val="solid"/>
                    </a:lnB>
                    <a:solidFill>
                      <a:srgbClr val="E9F1F2"/>
                    </a:solidFill>
                  </a:tcPr>
                </a:tc>
              </a:tr>
            </a:tbl>
          </a:graphicData>
        </a:graphic>
      </p:graphicFrame>
      <p:sp>
        <p:nvSpPr>
          <p:cNvPr id="5" name="">
            <a:extLst xmlns:a="http://schemas.openxmlformats.org/drawingml/2006/main">
              <a:ext uri="{FF2B5EF4-FFF2-40B4-BE49-F238E27FC236}">
                <a16:creationId xmlns:a16="http://schemas.microsoft.com/office/drawing/2014/main" id="{FBC2CF46-A3C0-498F-A077-95C8FA161195}"/>
              </a:ext>
            </a:extLst>
          </p:cNvPr>
          <p:cNvSpPr>
            <a:spLocks xmlns:a="http://schemas.openxmlformats.org/drawingml/2006/main" noGrp="1"/>
          </p:cNvSpPr>
          <p:nvPr/>
        </p:nvSpPr>
        <p:spPr>
          <a:xfrm xmlns:a="http://schemas.openxmlformats.org/drawingml/2006/main">
            <a:off x="685800" y="5810250"/>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52676E"/>
                </a:solidFill>
                <a:latin typeface="Arial"/>
                <a:ea typeface="Arial"/>
                <a:cs typeface="Arial"/>
              </a:defRPr>
            </a:defPPr>
          </a:lstStyle>
          <a:p xmlns:a="http://schemas.openxmlformats.org/drawingml/2006/main">
            <a:pPr>
              <a:defRPr sz="1650" b="0">
                <a:solidFill>
                  <a:srgbClr val="52676E"/>
                </a:solidFill>
                <a:latin typeface="Arial"/>
                <a:ea typeface="Arial"/>
                <a:cs typeface="Arial"/>
              </a:defRPr>
            </a:pPr>
            <a:r>
              <a:rPr sz="1650" b="0">
                <a:solidFill>
                  <a:srgbClr val="52676E"/>
                </a:solidFill>
                <a:latin typeface="Arial"/>
                <a:ea typeface="Arial"/>
                <a:cs typeface="Arial"/>
              </a:rPr>
              <a:t>Explicit patterns produce candidates. They do not establish complete program semantics.</a:t>
            </a:r>
          </a:p>
        </p:txBody>
      </p:sp>
    </p:spTree>
    <p:extLst>
      <p:ext uri="{BB962C8B-B14F-4D97-AF65-F5344CB8AC3E}">
        <p14:creationId xmlns:p14="http://schemas.microsoft.com/office/powerpoint/2010/main" val="96350722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4016B11-F725-4A01-ADF4-CB98401C9CBD}"/>
              </a:ext>
            </a:extLst>
          </p:cNvPr>
          <p:cNvSpPr>
            <a:spLocks xmlns:a="http://schemas.openxmlformats.org/drawingml/2006/main" noGrp="1"/>
          </p:cNvSpPr>
          <p:nvPr/>
        </p:nvSpPr>
        <p:spPr>
          <a:xfrm xmlns:a="http://schemas.openxmlformats.org/drawingml/2006/main">
            <a:off x="685800" y="5334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02B32"/>
                </a:solidFill>
                <a:latin typeface="Arial"/>
                <a:ea typeface="Arial"/>
                <a:cs typeface="Arial"/>
              </a:defRPr>
            </a:defPPr>
          </a:lstStyle>
          <a:p xmlns:a="http://schemas.openxmlformats.org/drawingml/2006/main">
            <a:pPr>
              <a:defRPr sz="3300" b="1">
                <a:solidFill>
                  <a:srgbClr val="102B32"/>
                </a:solidFill>
                <a:latin typeface="Arial"/>
                <a:ea typeface="Arial"/>
                <a:cs typeface="Arial"/>
              </a:defRPr>
            </a:pPr>
            <a:r>
              <a:rPr sz="3300" b="1">
                <a:solidFill>
                  <a:srgbClr val="102B32"/>
                </a:solidFill>
                <a:latin typeface="Arial"/>
                <a:ea typeface="Arial"/>
                <a:cs typeface="Arial"/>
              </a:rPr>
              <a:t>Automotive evidence gated retrieval</a:t>
            </a:r>
          </a:p>
        </p:txBody>
      </p:sp>
      <p:sp>
        <p:nvSpPr>
          <p:cNvPr id="2" name="">
            <a:extLst xmlns:a="http://schemas.openxmlformats.org/drawingml/2006/main">
              <a:ext uri="{FF2B5EF4-FFF2-40B4-BE49-F238E27FC236}">
                <a16:creationId xmlns:a16="http://schemas.microsoft.com/office/drawing/2014/main" id="{708B2AD6-49CF-4CEC-B474-2ED19B6FE06B}"/>
              </a:ext>
            </a:extLst>
          </p:cNvPr>
          <p:cNvSpPr>
            <a:spLocks xmlns:a="http://schemas.openxmlformats.org/drawingml/2006/main" noGrp="1"/>
          </p:cNvSpPr>
          <p:nvPr/>
        </p:nvSpPr>
        <p:spPr>
          <a:xfrm xmlns:a="http://schemas.openxmlformats.org/drawingml/2006/main">
            <a:off x="685800" y="630555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2676E"/>
                </a:solidFill>
                <a:latin typeface="Arial"/>
                <a:ea typeface="Arial"/>
                <a:cs typeface="Arial"/>
              </a:defRPr>
            </a:defPPr>
          </a:lstStyle>
          <a:p xmlns:a="http://schemas.openxmlformats.org/drawingml/2006/main">
            <a:pPr>
              <a:defRPr sz="1125" b="0">
                <a:solidFill>
                  <a:srgbClr val="52676E"/>
                </a:solidFill>
                <a:latin typeface="Arial"/>
                <a:ea typeface="Arial"/>
                <a:cs typeface="Arial"/>
              </a:defRPr>
            </a:pPr>
            <a:r>
              <a:rPr sz="1125" b="0">
                <a:solidFill>
                  <a:srgbClr val="52676E"/>
                </a:solidFill>
                <a:latin typeface="Arial"/>
                <a:ea typeface="Arial"/>
                <a:cs typeface="Arial"/>
              </a:rPr>
              <a:t>ECU REVIEW STUDIO</a:t>
            </a:r>
          </a:p>
        </p:txBody>
      </p:sp>
      <p:sp>
        <p:nvSpPr>
          <p:cNvPr id="3" name="">
            <a:extLst xmlns:a="http://schemas.openxmlformats.org/drawingml/2006/main">
              <a:ext uri="{FF2B5EF4-FFF2-40B4-BE49-F238E27FC236}">
                <a16:creationId xmlns:a16="http://schemas.microsoft.com/office/drawing/2014/main" id="{4C1ACD91-61C0-460E-AB16-3B163D1C4B15}"/>
              </a:ext>
            </a:extLst>
          </p:cNvPr>
          <p:cNvSpPr>
            <a:spLocks xmlns:a="http://schemas.openxmlformats.org/drawingml/2006/main" noGrp="1"/>
          </p:cNvSpPr>
          <p:nvPr/>
        </p:nvSpPr>
        <p:spPr>
          <a:xfrm xmlns:a="http://schemas.openxmlformats.org/drawingml/2006/main">
            <a:off x="10953750" y="63055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2676E"/>
                </a:solidFill>
                <a:latin typeface="Arial"/>
                <a:ea typeface="Arial"/>
                <a:cs typeface="Arial"/>
              </a:defRPr>
            </a:defPPr>
          </a:lstStyle>
          <a:p xmlns:a="http://schemas.openxmlformats.org/drawingml/2006/main">
            <a:pPr>
              <a:defRPr sz="1125" b="0">
                <a:solidFill>
                  <a:srgbClr val="52676E"/>
                </a:solidFill>
                <a:latin typeface="Arial"/>
                <a:ea typeface="Arial"/>
                <a:cs typeface="Arial"/>
              </a:defRPr>
            </a:pPr>
            <a:r>
              <a:rPr sz="1125" b="0">
                <a:solidFill>
                  <a:srgbClr val="52676E"/>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615BAA07-FE02-4372-ABFB-FDB0665A01A3}"/>
              </a:ext>
            </a:extLst>
          </p:cNvPr>
          <p:cNvSpPr>
            <a:spLocks xmlns:a="http://schemas.openxmlformats.org/drawingml/2006/main" noGrp="1"/>
          </p:cNvSpPr>
          <p:nvPr/>
        </p:nvSpPr>
        <p:spPr>
          <a:xfrm xmlns:a="http://schemas.openxmlformats.org/drawingml/2006/main">
            <a:off x="685800" y="1666875"/>
            <a:ext cx="106680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82E35"/>
                </a:solidFill>
                <a:latin typeface="Arial"/>
                <a:ea typeface="Arial"/>
                <a:cs typeface="Arial"/>
              </a:defRPr>
            </a:defPPr>
          </a:lstStyle>
          <a:p xmlns:a="http://schemas.openxmlformats.org/drawingml/2006/main">
            <a:pPr>
              <a:defRPr sz="2100" b="0">
                <a:solidFill>
                  <a:srgbClr val="182E35"/>
                </a:solidFill>
                <a:latin typeface="Arial"/>
                <a:ea typeface="Arial"/>
                <a:cs typeface="Arial"/>
              </a:defRPr>
            </a:pPr>
            <a:r>
              <a:rPr sz="2100" b="0">
                <a:solidFill>
                  <a:srgbClr val="182E35"/>
                </a:solidFill>
                <a:latin typeface="Arial"/>
                <a:ea typeface="Arial"/>
                <a:cs typeface="Arial"/>
              </a:rPr>
              <a:t>01  Detector facts form a focused query for each candidate.</a:t>
            </a:r>
          </a:p>
        </p:txBody>
      </p:sp>
      <p:sp>
        <p:nvSpPr>
          <p:cNvPr id="5" name="">
            <a:extLst xmlns:a="http://schemas.openxmlformats.org/drawingml/2006/main">
              <a:ext uri="{FF2B5EF4-FFF2-40B4-BE49-F238E27FC236}">
                <a16:creationId xmlns:a16="http://schemas.microsoft.com/office/drawing/2014/main" id="{9E9EEB0B-5A59-4DB0-81B5-08B20AC2C9D0}"/>
              </a:ext>
            </a:extLst>
          </p:cNvPr>
          <p:cNvSpPr>
            <a:spLocks xmlns:a="http://schemas.openxmlformats.org/drawingml/2006/main" noGrp="1"/>
          </p:cNvSpPr>
          <p:nvPr/>
        </p:nvSpPr>
        <p:spPr>
          <a:xfrm xmlns:a="http://schemas.openxmlformats.org/drawingml/2006/main">
            <a:off x="685800" y="2476500"/>
            <a:ext cx="106680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82E35"/>
                </a:solidFill>
                <a:latin typeface="Arial"/>
                <a:ea typeface="Arial"/>
                <a:cs typeface="Arial"/>
              </a:defRPr>
            </a:defPPr>
          </a:lstStyle>
          <a:p xmlns:a="http://schemas.openxmlformats.org/drawingml/2006/main">
            <a:pPr>
              <a:defRPr sz="2100" b="0">
                <a:solidFill>
                  <a:srgbClr val="182E35"/>
                </a:solidFill>
                <a:latin typeface="Arial"/>
                <a:ea typeface="Arial"/>
                <a:cs typeface="Arial"/>
              </a:defRPr>
            </a:pPr>
            <a:r>
              <a:rPr sz="2100" b="0">
                <a:solidFill>
                  <a:srgbClr val="182E35"/>
                </a:solidFill>
                <a:latin typeface="Arial"/>
                <a:ea typeface="Arial"/>
                <a:cs typeface="Arial"/>
              </a:rPr>
              <a:t>02  BM25 and local embeddings rank versioned advisory cards.</a:t>
            </a:r>
          </a:p>
        </p:txBody>
      </p:sp>
      <p:sp>
        <p:nvSpPr>
          <p:cNvPr id="6" name="">
            <a:extLst xmlns:a="http://schemas.openxmlformats.org/drawingml/2006/main">
              <a:ext uri="{FF2B5EF4-FFF2-40B4-BE49-F238E27FC236}">
                <a16:creationId xmlns:a16="http://schemas.microsoft.com/office/drawing/2014/main" id="{018BE415-50F8-4AB5-9109-824CB29F2F02}"/>
              </a:ext>
            </a:extLst>
          </p:cNvPr>
          <p:cNvSpPr>
            <a:spLocks xmlns:a="http://schemas.openxmlformats.org/drawingml/2006/main" noGrp="1"/>
          </p:cNvSpPr>
          <p:nvPr/>
        </p:nvSpPr>
        <p:spPr>
          <a:xfrm xmlns:a="http://schemas.openxmlformats.org/drawingml/2006/main">
            <a:off x="685800" y="3286125"/>
            <a:ext cx="106680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82E35"/>
                </a:solidFill>
                <a:latin typeface="Arial"/>
                <a:ea typeface="Arial"/>
                <a:cs typeface="Arial"/>
              </a:defRPr>
            </a:defPPr>
          </a:lstStyle>
          <a:p xmlns:a="http://schemas.openxmlformats.org/drawingml/2006/main">
            <a:pPr>
              <a:defRPr sz="2100" b="0">
                <a:solidFill>
                  <a:srgbClr val="182E35"/>
                </a:solidFill>
                <a:latin typeface="Arial"/>
                <a:ea typeface="Arial"/>
                <a:cs typeface="Arial"/>
              </a:defRPr>
            </a:pPr>
            <a:r>
              <a:rPr sz="2100" b="0">
                <a:solidFill>
                  <a:srgbClr val="182E35"/>
                </a:solidFill>
                <a:latin typeface="Arial"/>
                <a:ea typeface="Arial"/>
                <a:cs typeface="Arial"/>
              </a:rPr>
              <a:t>03  Reciprocal rank fusion combines the ranked lists.</a:t>
            </a:r>
          </a:p>
        </p:txBody>
      </p:sp>
      <p:sp>
        <p:nvSpPr>
          <p:cNvPr id="7" name="">
            <a:extLst xmlns:a="http://schemas.openxmlformats.org/drawingml/2006/main">
              <a:ext uri="{FF2B5EF4-FFF2-40B4-BE49-F238E27FC236}">
                <a16:creationId xmlns:a16="http://schemas.microsoft.com/office/drawing/2014/main" id="{8FBC8CC6-FE91-4EB5-A962-AEB03D895FE6}"/>
              </a:ext>
            </a:extLst>
          </p:cNvPr>
          <p:cNvSpPr>
            <a:spLocks xmlns:a="http://schemas.openxmlformats.org/drawingml/2006/main" noGrp="1"/>
          </p:cNvSpPr>
          <p:nvPr/>
        </p:nvSpPr>
        <p:spPr>
          <a:xfrm xmlns:a="http://schemas.openxmlformats.org/drawingml/2006/main">
            <a:off x="685800" y="4095750"/>
            <a:ext cx="106680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82E35"/>
                </a:solidFill>
                <a:latin typeface="Arial"/>
                <a:ea typeface="Arial"/>
                <a:cs typeface="Arial"/>
              </a:defRPr>
            </a:defPPr>
          </a:lstStyle>
          <a:p xmlns:a="http://schemas.openxmlformats.org/drawingml/2006/main">
            <a:pPr>
              <a:defRPr sz="2100" b="0">
                <a:solidFill>
                  <a:srgbClr val="182E35"/>
                </a:solidFill>
                <a:latin typeface="Arial"/>
                <a:ea typeface="Arial"/>
                <a:cs typeface="Arial"/>
              </a:defRPr>
            </a:pPr>
            <a:r>
              <a:rPr sz="2100" b="0">
                <a:solidFill>
                  <a:srgbClr val="182E35"/>
                </a:solidFill>
                <a:latin typeface="Arial"/>
                <a:ea typeface="Arial"/>
                <a:cs typeface="Arial"/>
              </a:rPr>
              <a:t>04  Typed rule matching supports a candidate or explicitly abstains.</a:t>
            </a:r>
          </a:p>
        </p:txBody>
      </p:sp>
      <p:sp>
        <p:nvSpPr>
          <p:cNvPr id="8" name="">
            <a:extLst xmlns:a="http://schemas.openxmlformats.org/drawingml/2006/main">
              <a:ext uri="{FF2B5EF4-FFF2-40B4-BE49-F238E27FC236}">
                <a16:creationId xmlns:a16="http://schemas.microsoft.com/office/drawing/2014/main" id="{0D41A13E-2D3A-4ED4-887C-64083AD559C0}"/>
              </a:ext>
            </a:extLst>
          </p:cNvPr>
          <p:cNvSpPr>
            <a:spLocks xmlns:a="http://schemas.openxmlformats.org/drawingml/2006/main" noGrp="1"/>
          </p:cNvSpPr>
          <p:nvPr/>
        </p:nvSpPr>
        <p:spPr>
          <a:xfrm xmlns:a="http://schemas.openxmlformats.org/drawingml/2006/main">
            <a:off x="685800" y="4905375"/>
            <a:ext cx="106680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82E35"/>
                </a:solidFill>
                <a:latin typeface="Arial"/>
                <a:ea typeface="Arial"/>
                <a:cs typeface="Arial"/>
              </a:defRPr>
            </a:defPPr>
          </a:lstStyle>
          <a:p xmlns:a="http://schemas.openxmlformats.org/drawingml/2006/main">
            <a:pPr>
              <a:defRPr sz="2100" b="0">
                <a:solidFill>
                  <a:srgbClr val="182E35"/>
                </a:solidFill>
                <a:latin typeface="Arial"/>
                <a:ea typeface="Arial"/>
                <a:cs typeface="Arial"/>
              </a:defRPr>
            </a:pPr>
            <a:r>
              <a:rPr sz="2100" b="0">
                <a:solidFill>
                  <a:srgbClr val="182E35"/>
                </a:solidFill>
                <a:latin typeface="Arial"/>
                <a:ea typeface="Arial"/>
                <a:cs typeface="Arial"/>
              </a:rPr>
              <a:t>05  Local generation passes an extractive citation gate.</a:t>
            </a:r>
          </a:p>
        </p:txBody>
      </p:sp>
    </p:spTree>
    <p:extLst>
      <p:ext uri="{BB962C8B-B14F-4D97-AF65-F5344CB8AC3E}">
        <p14:creationId xmlns:p14="http://schemas.microsoft.com/office/powerpoint/2010/main" val="211797885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415EB52-9556-457A-832F-BFA602016246}"/>
              </a:ext>
            </a:extLst>
          </p:cNvPr>
          <p:cNvSpPr>
            <a:spLocks xmlns:a="http://schemas.openxmlformats.org/drawingml/2006/main" noGrp="1"/>
          </p:cNvSpPr>
          <p:nvPr/>
        </p:nvSpPr>
        <p:spPr>
          <a:xfrm xmlns:a="http://schemas.openxmlformats.org/drawingml/2006/main">
            <a:off x="685800" y="5334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02B32"/>
                </a:solidFill>
                <a:latin typeface="Arial"/>
                <a:ea typeface="Arial"/>
                <a:cs typeface="Arial"/>
              </a:defRPr>
            </a:defPPr>
          </a:lstStyle>
          <a:p xmlns:a="http://schemas.openxmlformats.org/drawingml/2006/main">
            <a:pPr>
              <a:defRPr sz="3300" b="1">
                <a:solidFill>
                  <a:srgbClr val="102B32"/>
                </a:solidFill>
                <a:latin typeface="Arial"/>
                <a:ea typeface="Arial"/>
                <a:cs typeface="Arial"/>
              </a:defRPr>
            </a:pPr>
            <a:r>
              <a:rPr sz="3300" b="1">
                <a:solidFill>
                  <a:srgbClr val="102B32"/>
                </a:solidFill>
                <a:latin typeface="Arial"/>
                <a:ea typeface="Arial"/>
                <a:cs typeface="Arial"/>
              </a:rPr>
              <a:t>Why lexical and dense retrieval coexist</a:t>
            </a:r>
          </a:p>
        </p:txBody>
      </p:sp>
      <p:sp>
        <p:nvSpPr>
          <p:cNvPr id="2" name="">
            <a:extLst xmlns:a="http://schemas.openxmlformats.org/drawingml/2006/main">
              <a:ext uri="{FF2B5EF4-FFF2-40B4-BE49-F238E27FC236}">
                <a16:creationId xmlns:a16="http://schemas.microsoft.com/office/drawing/2014/main" id="{BD444411-9D37-4A30-BEF2-5EA91D79DA3F}"/>
              </a:ext>
            </a:extLst>
          </p:cNvPr>
          <p:cNvSpPr>
            <a:spLocks xmlns:a="http://schemas.openxmlformats.org/drawingml/2006/main" noGrp="1"/>
          </p:cNvSpPr>
          <p:nvPr/>
        </p:nvSpPr>
        <p:spPr>
          <a:xfrm xmlns:a="http://schemas.openxmlformats.org/drawingml/2006/main">
            <a:off x="685800" y="630555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2676E"/>
                </a:solidFill>
                <a:latin typeface="Arial"/>
                <a:ea typeface="Arial"/>
                <a:cs typeface="Arial"/>
              </a:defRPr>
            </a:defPPr>
          </a:lstStyle>
          <a:p xmlns:a="http://schemas.openxmlformats.org/drawingml/2006/main">
            <a:pPr>
              <a:defRPr sz="1125" b="0">
                <a:solidFill>
                  <a:srgbClr val="52676E"/>
                </a:solidFill>
                <a:latin typeface="Arial"/>
                <a:ea typeface="Arial"/>
                <a:cs typeface="Arial"/>
              </a:defRPr>
            </a:pPr>
            <a:r>
              <a:rPr sz="1125" b="0">
                <a:solidFill>
                  <a:srgbClr val="52676E"/>
                </a:solidFill>
                <a:latin typeface="Arial"/>
                <a:ea typeface="Arial"/>
                <a:cs typeface="Arial"/>
              </a:rPr>
              <a:t>ECU REVIEW STUDIO</a:t>
            </a:r>
          </a:p>
        </p:txBody>
      </p:sp>
      <p:sp>
        <p:nvSpPr>
          <p:cNvPr id="3" name="">
            <a:extLst xmlns:a="http://schemas.openxmlformats.org/drawingml/2006/main">
              <a:ext uri="{FF2B5EF4-FFF2-40B4-BE49-F238E27FC236}">
                <a16:creationId xmlns:a16="http://schemas.microsoft.com/office/drawing/2014/main" id="{E6D189D0-A0D8-4622-8DA8-026B168BDA42}"/>
              </a:ext>
            </a:extLst>
          </p:cNvPr>
          <p:cNvSpPr>
            <a:spLocks xmlns:a="http://schemas.openxmlformats.org/drawingml/2006/main" noGrp="1"/>
          </p:cNvSpPr>
          <p:nvPr/>
        </p:nvSpPr>
        <p:spPr>
          <a:xfrm xmlns:a="http://schemas.openxmlformats.org/drawingml/2006/main">
            <a:off x="10953750" y="63055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2676E"/>
                </a:solidFill>
                <a:latin typeface="Arial"/>
                <a:ea typeface="Arial"/>
                <a:cs typeface="Arial"/>
              </a:defRPr>
            </a:defPPr>
          </a:lstStyle>
          <a:p xmlns:a="http://schemas.openxmlformats.org/drawingml/2006/main">
            <a:pPr>
              <a:defRPr sz="1125" b="0">
                <a:solidFill>
                  <a:srgbClr val="52676E"/>
                </a:solidFill>
                <a:latin typeface="Arial"/>
                <a:ea typeface="Arial"/>
                <a:cs typeface="Arial"/>
              </a:defRPr>
            </a:pPr>
            <a:r>
              <a:rPr sz="1125" b="0">
                <a:solidFill>
                  <a:srgbClr val="52676E"/>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8EE3800B-71D5-4F45-9DDA-6C545D204E3E}"/>
              </a:ext>
            </a:extLst>
          </p:cNvPr>
          <p:cNvSpPr>
            <a:spLocks xmlns:a="http://schemas.openxmlformats.org/drawingml/2006/main" noGrp="1"/>
          </p:cNvSpPr>
          <p:nvPr/>
        </p:nvSpPr>
        <p:spPr>
          <a:xfrm xmlns:a="http://schemas.openxmlformats.org/drawingml/2006/main">
            <a:off x="685800" y="1762125"/>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087F75"/>
                </a:solidFill>
                <a:latin typeface="Arial"/>
                <a:ea typeface="Arial"/>
                <a:cs typeface="Arial"/>
              </a:defRPr>
            </a:defPPr>
          </a:lstStyle>
          <a:p xmlns:a="http://schemas.openxmlformats.org/drawingml/2006/main">
            <a:pPr>
              <a:defRPr sz="2850" b="1">
                <a:solidFill>
                  <a:srgbClr val="087F75"/>
                </a:solidFill>
                <a:latin typeface="Arial"/>
                <a:ea typeface="Arial"/>
                <a:cs typeface="Arial"/>
              </a:defRPr>
            </a:pPr>
            <a:r>
              <a:rPr sz="2850" b="1">
                <a:solidFill>
                  <a:srgbClr val="087F75"/>
                </a:solidFill>
                <a:latin typeface="Arial"/>
                <a:ea typeface="Arial"/>
                <a:cs typeface="Arial"/>
              </a:rPr>
              <a:t>BM25</a:t>
            </a:r>
          </a:p>
        </p:txBody>
      </p:sp>
      <p:sp>
        <p:nvSpPr>
          <p:cNvPr id="5" name="">
            <a:extLst xmlns:a="http://schemas.openxmlformats.org/drawingml/2006/main">
              <a:ext uri="{FF2B5EF4-FFF2-40B4-BE49-F238E27FC236}">
                <a16:creationId xmlns:a16="http://schemas.microsoft.com/office/drawing/2014/main" id="{7FB11885-0FE2-42D6-B996-69A9A5150044}"/>
              </a:ext>
            </a:extLst>
          </p:cNvPr>
          <p:cNvSpPr>
            <a:spLocks xmlns:a="http://schemas.openxmlformats.org/drawingml/2006/main" noGrp="1"/>
          </p:cNvSpPr>
          <p:nvPr/>
        </p:nvSpPr>
        <p:spPr>
          <a:xfrm xmlns:a="http://schemas.openxmlformats.org/drawingml/2006/main">
            <a:off x="685800" y="2571750"/>
            <a:ext cx="4857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82E35"/>
                </a:solidFill>
                <a:latin typeface="Arial"/>
                <a:ea typeface="Arial"/>
                <a:cs typeface="Arial"/>
              </a:defRPr>
            </a:defPPr>
          </a:lstStyle>
          <a:p xmlns:a="http://schemas.openxmlformats.org/drawingml/2006/main">
            <a:pPr>
              <a:defRPr sz="2250" b="0">
                <a:solidFill>
                  <a:srgbClr val="182E35"/>
                </a:solidFill>
                <a:latin typeface="Arial"/>
                <a:ea typeface="Arial"/>
                <a:cs typeface="Arial"/>
              </a:defRPr>
            </a:pPr>
            <a:r>
              <a:rPr sz="2250" b="0">
                <a:solidFill>
                  <a:srgbClr val="182E35"/>
                </a:solidFill>
                <a:latin typeface="Arial"/>
                <a:ea typeface="Arial"/>
                <a:cs typeface="Arial"/>
              </a:rPr>
              <a:t>Exact embedded vocabulary</a:t>
            </a:r>
          </a:p>
          <a:p xmlns:a="http://schemas.openxmlformats.org/drawingml/2006/main">
            <a:pPr>
              <a:defRPr sz="2250" b="0">
                <a:solidFill>
                  <a:srgbClr val="182E35"/>
                </a:solidFill>
                <a:latin typeface="Arial"/>
                <a:ea typeface="Arial"/>
                <a:cs typeface="Arial"/>
              </a:defRPr>
            </a:pPr>
            <a:r>
              <a:rPr sz="2250" b="0">
                <a:solidFill>
                  <a:srgbClr val="182E35"/>
                </a:solidFill>
                <a:latin typeface="Arial"/>
                <a:ea typeface="Arial"/>
                <a:cs typeface="Arial"/>
              </a:rPr>
              <a:t>can_dlc, ISR, strcpy, uint32_t</a:t>
            </a:r>
          </a:p>
        </p:txBody>
      </p:sp>
      <p:sp>
        <p:nvSpPr>
          <p:cNvPr id="6" name="">
            <a:extLst xmlns:a="http://schemas.openxmlformats.org/drawingml/2006/main">
              <a:ext uri="{FF2B5EF4-FFF2-40B4-BE49-F238E27FC236}">
                <a16:creationId xmlns:a16="http://schemas.microsoft.com/office/drawing/2014/main" id="{B9E8529B-8FE1-447F-A1AD-1E7426A0DF23}"/>
              </a:ext>
            </a:extLst>
          </p:cNvPr>
          <p:cNvSpPr>
            <a:spLocks xmlns:a="http://schemas.openxmlformats.org/drawingml/2006/main" noGrp="1"/>
          </p:cNvSpPr>
          <p:nvPr/>
        </p:nvSpPr>
        <p:spPr>
          <a:xfrm xmlns:a="http://schemas.openxmlformats.org/drawingml/2006/main">
            <a:off x="6572250" y="1762125"/>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087F75"/>
                </a:solidFill>
                <a:latin typeface="Arial"/>
                <a:ea typeface="Arial"/>
                <a:cs typeface="Arial"/>
              </a:defRPr>
            </a:defPPr>
          </a:lstStyle>
          <a:p xmlns:a="http://schemas.openxmlformats.org/drawingml/2006/main">
            <a:pPr>
              <a:defRPr sz="2850" b="1">
                <a:solidFill>
                  <a:srgbClr val="087F75"/>
                </a:solidFill>
                <a:latin typeface="Arial"/>
                <a:ea typeface="Arial"/>
                <a:cs typeface="Arial"/>
              </a:defRPr>
            </a:pPr>
            <a:r>
              <a:rPr sz="2850" b="1">
                <a:solidFill>
                  <a:srgbClr val="087F75"/>
                </a:solidFill>
                <a:latin typeface="Arial"/>
                <a:ea typeface="Arial"/>
                <a:cs typeface="Arial"/>
              </a:rPr>
              <a:t>Dense retrieval</a:t>
            </a:r>
          </a:p>
        </p:txBody>
      </p:sp>
      <p:sp>
        <p:nvSpPr>
          <p:cNvPr id="7" name="">
            <a:extLst xmlns:a="http://schemas.openxmlformats.org/drawingml/2006/main">
              <a:ext uri="{FF2B5EF4-FFF2-40B4-BE49-F238E27FC236}">
                <a16:creationId xmlns:a16="http://schemas.microsoft.com/office/drawing/2014/main" id="{D2E5B97C-B7FF-446B-9A72-1C4D40C98E3B}"/>
              </a:ext>
            </a:extLst>
          </p:cNvPr>
          <p:cNvSpPr>
            <a:spLocks xmlns:a="http://schemas.openxmlformats.org/drawingml/2006/main" noGrp="1"/>
          </p:cNvSpPr>
          <p:nvPr/>
        </p:nvSpPr>
        <p:spPr>
          <a:xfrm xmlns:a="http://schemas.openxmlformats.org/drawingml/2006/main">
            <a:off x="6572250" y="2571750"/>
            <a:ext cx="4857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82E35"/>
                </a:solidFill>
                <a:latin typeface="Arial"/>
                <a:ea typeface="Arial"/>
                <a:cs typeface="Arial"/>
              </a:defRPr>
            </a:defPPr>
          </a:lstStyle>
          <a:p xmlns:a="http://schemas.openxmlformats.org/drawingml/2006/main">
            <a:pPr>
              <a:defRPr sz="2250" b="0">
                <a:solidFill>
                  <a:srgbClr val="182E35"/>
                </a:solidFill>
                <a:latin typeface="Arial"/>
                <a:ea typeface="Arial"/>
                <a:cs typeface="Arial"/>
              </a:defRPr>
            </a:pPr>
            <a:r>
              <a:rPr sz="2250" b="0">
                <a:solidFill>
                  <a:srgbClr val="182E35"/>
                </a:solidFill>
                <a:latin typeface="Arial"/>
                <a:ea typeface="Arial"/>
                <a:cs typeface="Arial"/>
              </a:rPr>
              <a:t>Paraphrased meaning</a:t>
            </a:r>
          </a:p>
          <a:p xmlns:a="http://schemas.openxmlformats.org/drawingml/2006/main">
            <a:pPr>
              <a:defRPr sz="2250" b="0">
                <a:solidFill>
                  <a:srgbClr val="182E35"/>
                </a:solidFill>
                <a:latin typeface="Arial"/>
                <a:ea typeface="Arial"/>
                <a:cs typeface="Arial"/>
              </a:defRPr>
            </a:pPr>
            <a:r>
              <a:rPr sz="2250" b="0">
                <a:solidFill>
                  <a:srgbClr val="182E35"/>
                </a:solidFill>
                <a:latin typeface="Arial"/>
                <a:ea typeface="Arial"/>
                <a:cs typeface="Arial"/>
              </a:rPr>
              <a:t>“access after release” and “use after free”</a:t>
            </a:r>
          </a:p>
        </p:txBody>
      </p:sp>
      <p:sp>
        <p:nvSpPr>
          <p:cNvPr id="8" name="">
            <a:extLst xmlns:a="http://schemas.openxmlformats.org/drawingml/2006/main">
              <a:ext uri="{FF2B5EF4-FFF2-40B4-BE49-F238E27FC236}">
                <a16:creationId xmlns:a16="http://schemas.microsoft.com/office/drawing/2014/main" id="{B07F82BD-13F8-4399-A31C-CA82A83AB27C}"/>
              </a:ext>
            </a:extLst>
          </p:cNvPr>
          <p:cNvSpPr>
            <a:spLocks xmlns:a="http://schemas.openxmlformats.org/drawingml/2006/main" noGrp="1"/>
          </p:cNvSpPr>
          <p:nvPr/>
        </p:nvSpPr>
        <p:spPr>
          <a:xfrm xmlns:a="http://schemas.openxmlformats.org/drawingml/2006/main">
            <a:off x="685800" y="466725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102B32"/>
                </a:solidFill>
                <a:latin typeface="Arial"/>
                <a:ea typeface="Arial"/>
                <a:cs typeface="Arial"/>
              </a:defRPr>
            </a:defPPr>
          </a:lstStyle>
          <a:p xmlns:a="http://schemas.openxmlformats.org/drawingml/2006/main">
            <a:pPr>
              <a:defRPr sz="2700" b="1">
                <a:solidFill>
                  <a:srgbClr val="102B32"/>
                </a:solidFill>
                <a:latin typeface="Arial"/>
                <a:ea typeface="Arial"/>
                <a:cs typeface="Arial"/>
              </a:defRPr>
            </a:pPr>
            <a:r>
              <a:rPr sz="2700" b="1">
                <a:solidFill>
                  <a:srgbClr val="102B32"/>
                </a:solidFill>
                <a:latin typeface="Arial"/>
                <a:ea typeface="Arial"/>
                <a:cs typeface="Arial"/>
              </a:rPr>
              <a:t>RRF score = sum of 1 / (60 + rank)</a:t>
            </a:r>
          </a:p>
        </p:txBody>
      </p:sp>
      <p:sp>
        <p:nvSpPr>
          <p:cNvPr id="9" name="">
            <a:extLst xmlns:a="http://schemas.openxmlformats.org/drawingml/2006/main">
              <a:ext uri="{FF2B5EF4-FFF2-40B4-BE49-F238E27FC236}">
                <a16:creationId xmlns:a16="http://schemas.microsoft.com/office/drawing/2014/main" id="{46ADAA42-D7AE-454F-912E-F4CB43B41D1C}"/>
              </a:ext>
            </a:extLst>
          </p:cNvPr>
          <p:cNvSpPr>
            <a:spLocks xmlns:a="http://schemas.openxmlformats.org/drawingml/2006/main" noGrp="1"/>
          </p:cNvSpPr>
          <p:nvPr/>
        </p:nvSpPr>
        <p:spPr>
          <a:xfrm xmlns:a="http://schemas.openxmlformats.org/drawingml/2006/main">
            <a:off x="685800" y="5524500"/>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52676E"/>
                </a:solidFill>
                <a:latin typeface="Arial"/>
                <a:ea typeface="Arial"/>
                <a:cs typeface="Arial"/>
              </a:defRPr>
            </a:defPPr>
          </a:lstStyle>
          <a:p xmlns:a="http://schemas.openxmlformats.org/drawingml/2006/main">
            <a:pPr>
              <a:defRPr sz="1875" b="0">
                <a:solidFill>
                  <a:srgbClr val="52676E"/>
                </a:solidFill>
                <a:latin typeface="Arial"/>
                <a:ea typeface="Arial"/>
                <a:cs typeface="Arial"/>
              </a:defRPr>
            </a:pPr>
            <a:r>
              <a:rPr sz="1875" b="0">
                <a:solidFill>
                  <a:srgbClr val="52676E"/>
                </a:solidFill>
                <a:latin typeface="Arial"/>
                <a:ea typeface="Arial"/>
                <a:cs typeface="Arial"/>
              </a:rPr>
              <a:t>Missing embeddings produce an explicitly labelled BM25 strategy.</a:t>
            </a:r>
          </a:p>
        </p:txBody>
      </p:sp>
    </p:spTree>
    <p:extLst>
      <p:ext uri="{BB962C8B-B14F-4D97-AF65-F5344CB8AC3E}">
        <p14:creationId xmlns:p14="http://schemas.microsoft.com/office/powerpoint/2010/main" val="188291774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E033A68-3A80-43FA-AB73-06C318B569A8}"/>
              </a:ext>
            </a:extLst>
          </p:cNvPr>
          <p:cNvSpPr>
            <a:spLocks xmlns:a="http://schemas.openxmlformats.org/drawingml/2006/main" noGrp="1"/>
          </p:cNvSpPr>
          <p:nvPr/>
        </p:nvSpPr>
        <p:spPr>
          <a:xfrm xmlns:a="http://schemas.openxmlformats.org/drawingml/2006/main">
            <a:off x="685800" y="5334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02B32"/>
                </a:solidFill>
                <a:latin typeface="Arial"/>
                <a:ea typeface="Arial"/>
                <a:cs typeface="Arial"/>
              </a:defRPr>
            </a:defPPr>
          </a:lstStyle>
          <a:p xmlns:a="http://schemas.openxmlformats.org/drawingml/2006/main">
            <a:pPr>
              <a:defRPr sz="3300" b="1">
                <a:solidFill>
                  <a:srgbClr val="102B32"/>
                </a:solidFill>
                <a:latin typeface="Arial"/>
                <a:ea typeface="Arial"/>
                <a:cs typeface="Arial"/>
              </a:defRPr>
            </a:pPr>
            <a:r>
              <a:rPr sz="3300" b="1">
                <a:solidFill>
                  <a:srgbClr val="102B32"/>
                </a:solidFill>
                <a:latin typeface="Arial"/>
                <a:ea typeface="Arial"/>
                <a:cs typeface="Arial"/>
              </a:rPr>
              <a:t>Evidence gates and intervention controls</a:t>
            </a:r>
          </a:p>
        </p:txBody>
      </p:sp>
      <p:sp>
        <p:nvSpPr>
          <p:cNvPr id="2" name="">
            <a:extLst xmlns:a="http://schemas.openxmlformats.org/drawingml/2006/main">
              <a:ext uri="{FF2B5EF4-FFF2-40B4-BE49-F238E27FC236}">
                <a16:creationId xmlns:a16="http://schemas.microsoft.com/office/drawing/2014/main" id="{305C859D-C658-4354-BC6D-3ADAC38C48C6}"/>
              </a:ext>
            </a:extLst>
          </p:cNvPr>
          <p:cNvSpPr>
            <a:spLocks xmlns:a="http://schemas.openxmlformats.org/drawingml/2006/main" noGrp="1"/>
          </p:cNvSpPr>
          <p:nvPr/>
        </p:nvSpPr>
        <p:spPr>
          <a:xfrm xmlns:a="http://schemas.openxmlformats.org/drawingml/2006/main">
            <a:off x="685800" y="630555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2676E"/>
                </a:solidFill>
                <a:latin typeface="Arial"/>
                <a:ea typeface="Arial"/>
                <a:cs typeface="Arial"/>
              </a:defRPr>
            </a:defPPr>
          </a:lstStyle>
          <a:p xmlns:a="http://schemas.openxmlformats.org/drawingml/2006/main">
            <a:pPr>
              <a:defRPr sz="1125" b="0">
                <a:solidFill>
                  <a:srgbClr val="52676E"/>
                </a:solidFill>
                <a:latin typeface="Arial"/>
                <a:ea typeface="Arial"/>
                <a:cs typeface="Arial"/>
              </a:defRPr>
            </a:pPr>
            <a:r>
              <a:rPr sz="1125" b="0">
                <a:solidFill>
                  <a:srgbClr val="52676E"/>
                </a:solidFill>
                <a:latin typeface="Arial"/>
                <a:ea typeface="Arial"/>
                <a:cs typeface="Arial"/>
              </a:rPr>
              <a:t>ECU REVIEW STUDIO</a:t>
            </a:r>
          </a:p>
        </p:txBody>
      </p:sp>
      <p:sp>
        <p:nvSpPr>
          <p:cNvPr id="3" name="">
            <a:extLst xmlns:a="http://schemas.openxmlformats.org/drawingml/2006/main">
              <a:ext uri="{FF2B5EF4-FFF2-40B4-BE49-F238E27FC236}">
                <a16:creationId xmlns:a16="http://schemas.microsoft.com/office/drawing/2014/main" id="{4441D74A-AC3B-4CC3-8A32-EC8F05FA2528}"/>
              </a:ext>
            </a:extLst>
          </p:cNvPr>
          <p:cNvSpPr>
            <a:spLocks xmlns:a="http://schemas.openxmlformats.org/drawingml/2006/main" noGrp="1"/>
          </p:cNvSpPr>
          <p:nvPr/>
        </p:nvSpPr>
        <p:spPr>
          <a:xfrm xmlns:a="http://schemas.openxmlformats.org/drawingml/2006/main">
            <a:off x="10953750" y="63055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2676E"/>
                </a:solidFill>
                <a:latin typeface="Arial"/>
                <a:ea typeface="Arial"/>
                <a:cs typeface="Arial"/>
              </a:defRPr>
            </a:defPPr>
          </a:lstStyle>
          <a:p xmlns:a="http://schemas.openxmlformats.org/drawingml/2006/main">
            <a:pPr>
              <a:defRPr sz="1125" b="0">
                <a:solidFill>
                  <a:srgbClr val="52676E"/>
                </a:solidFill>
                <a:latin typeface="Arial"/>
                <a:ea typeface="Arial"/>
                <a:cs typeface="Arial"/>
              </a:defRPr>
            </a:pPr>
            <a:r>
              <a:rPr sz="1125" b="0">
                <a:solidFill>
                  <a:srgbClr val="52676E"/>
                </a:solidFill>
                <a:latin typeface="Arial"/>
                <a:ea typeface="Arial"/>
                <a:cs typeface="Arial"/>
              </a:rPr>
              <a:t>07</a:t>
            </a:r>
          </a:p>
        </p:txBody>
      </p:sp>
      <p:graphicFrame>
        <p:nvGraphicFramePr>
          <p:cNvPr id="4" name="">
            <a:extLst xmlns:a="http://schemas.openxmlformats.org/drawingml/2006/main">
              <a:ext uri="{FF2B5EF4-FFF2-40B4-BE49-F238E27FC236}">
                <a16:creationId xmlns:a16="http://schemas.microsoft.com/office/drawing/2014/main" id="{FE4322E0-04BC-4CE5-8EB0-3C8C04B45A0D}"/>
              </a:ext>
            </a:extLst>
          </p:cNvPr>
          <p:cNvGraphicFramePr/>
          <p:nvPr/>
        </p:nvGraphicFramePr>
        <p:xfrm>
          <a:off xmlns:a="http://schemas.openxmlformats.org/drawingml/2006/main" x="685800" y="1666875"/>
          <a:ext xmlns:a="http://schemas.openxmlformats.org/drawingml/2006/main" cx="10820400" cy="4048125"/>
        </p:xfrm>
        <a:graphic xmlns:a="http://schemas.openxmlformats.org/drawingml/2006/main">
          <a:graphicData uri="http://schemas.openxmlformats.org/drawingml/2006/table">
            <a:tbl>
              <a:tblPr/>
              <a:tblGrid>
                <a:gridCol w="4857750"/>
                <a:gridCol w="5962650"/>
              </a:tblGrid>
              <a:tr h="674688">
                <a:tc>
                  <a:txBody>
                    <a:bodyPr>
                      <a:noAutofit/>
                    </a:bodyPr>
                    <a:lstStyle/>
                    <a:p>
                      <a:r>
                        <a:rPr sz="1725" b="1">
                          <a:solidFill>
                            <a:srgbClr val="FFFFFF"/>
                          </a:solidFill>
                          <a:latin typeface="Arial"/>
                          <a:ea typeface="Arial"/>
                          <a:cs typeface="Arial"/>
                        </a:rPr>
                        <a:t>Intervention</a:t>
                      </a:r>
                    </a:p>
                  </a:txBody>
                  <a:tcPr marL="91440" marR="91440" marT="45720" marB="45720">
                    <a:lnL w="9525">
                      <a:solidFill>
                        <a:srgbClr val="D6E2E4"/>
                      </a:solidFill>
                      <a:prstDash val="solid"/>
                    </a:lnL>
                    <a:lnR w="9525">
                      <a:solidFill>
                        <a:srgbClr val="D6E2E4"/>
                      </a:solidFill>
                      <a:prstDash val="solid"/>
                    </a:lnR>
                    <a:lnT w="9525">
                      <a:solidFill>
                        <a:srgbClr val="D6E2E4"/>
                      </a:solidFill>
                      <a:prstDash val="solid"/>
                    </a:lnT>
                    <a:lnB w="9525">
                      <a:solidFill>
                        <a:srgbClr val="D6E2E4"/>
                      </a:solidFill>
                      <a:prstDash val="solid"/>
                    </a:lnB>
                    <a:solidFill>
                      <a:srgbClr val="102B32"/>
                    </a:solidFill>
                  </a:tcPr>
                </a:tc>
                <a:tc>
                  <a:txBody>
                    <a:bodyPr>
                      <a:noAutofit/>
                    </a:bodyPr>
                    <a:lstStyle/>
                    <a:p>
                      <a:r>
                        <a:rPr sz="1725" b="1">
                          <a:solidFill>
                            <a:srgbClr val="FFFFFF"/>
                          </a:solidFill>
                          <a:latin typeface="Arial"/>
                          <a:ea typeface="Arial"/>
                          <a:cs typeface="Arial"/>
                        </a:rPr>
                        <a:t>Required behaviour</a:t>
                      </a:r>
                    </a:p>
                  </a:txBody>
                  <a:tcPr marL="91440" marR="91440" marT="45720" marB="45720">
                    <a:lnR w="9525">
                      <a:solidFill>
                        <a:srgbClr val="D6E2E4"/>
                      </a:solidFill>
                      <a:prstDash val="solid"/>
                    </a:lnR>
                    <a:lnT w="9525">
                      <a:solidFill>
                        <a:srgbClr val="D6E2E4"/>
                      </a:solidFill>
                      <a:prstDash val="solid"/>
                    </a:lnT>
                    <a:lnB w="9525">
                      <a:solidFill>
                        <a:srgbClr val="D6E2E4"/>
                      </a:solidFill>
                      <a:prstDash val="solid"/>
                    </a:lnB>
                    <a:solidFill>
                      <a:srgbClr val="102B32"/>
                    </a:solidFill>
                  </a:tcPr>
                </a:tc>
              </a:tr>
              <a:tr h="674688">
                <a:tc>
                  <a:txBody>
                    <a:bodyPr>
                      <a:noAutofit/>
                    </a:bodyPr>
                    <a:lstStyle/>
                    <a:p>
                      <a:r>
                        <a:rPr sz="1725" b="0">
                          <a:solidFill>
                            <a:srgbClr val="182E35"/>
                          </a:solidFill>
                          <a:latin typeface="Arial"/>
                          <a:ea typeface="Arial"/>
                          <a:cs typeface="Arial"/>
                        </a:rPr>
                        <a:t>Relevant card present</a:t>
                      </a:r>
                    </a:p>
                  </a:txBody>
                  <a:tcPr marL="91440" marR="91440" marT="45720" marB="45720">
                    <a:lnL w="9525">
                      <a:solidFill>
                        <a:srgbClr val="D6E2E4"/>
                      </a:solidFill>
                      <a:prstDash val="solid"/>
                    </a:lnL>
                    <a:lnR w="9525">
                      <a:solidFill>
                        <a:srgbClr val="D6E2E4"/>
                      </a:solidFill>
                      <a:prstDash val="solid"/>
                    </a:lnR>
                    <a:lnB w="9525">
                      <a:solidFill>
                        <a:srgbClr val="D6E2E4"/>
                      </a:solidFill>
                      <a:prstDash val="solid"/>
                    </a:lnB>
                    <a:solidFill>
                      <a:srgbClr val="FFFFFF"/>
                    </a:solidFill>
                  </a:tcPr>
                </a:tc>
                <a:tc>
                  <a:txBody>
                    <a:bodyPr>
                      <a:noAutofit/>
                    </a:bodyPr>
                    <a:lstStyle/>
                    <a:p>
                      <a:r>
                        <a:rPr sz="1725" b="0">
                          <a:solidFill>
                            <a:srgbClr val="182E35"/>
                          </a:solidFill>
                          <a:latin typeface="Arial"/>
                          <a:ea typeface="Arial"/>
                          <a:cs typeface="Arial"/>
                        </a:rPr>
                        <a:t>Support the matching candidate</a:t>
                      </a:r>
                    </a:p>
                  </a:txBody>
                  <a:tcPr marL="91440" marR="91440" marT="45720" marB="45720">
                    <a:lnR w="9525">
                      <a:solidFill>
                        <a:srgbClr val="D6E2E4"/>
                      </a:solidFill>
                      <a:prstDash val="solid"/>
                    </a:lnR>
                    <a:lnB w="9525">
                      <a:solidFill>
                        <a:srgbClr val="D6E2E4"/>
                      </a:solidFill>
                      <a:prstDash val="solid"/>
                    </a:lnB>
                    <a:solidFill>
                      <a:srgbClr val="FFFFFF"/>
                    </a:solidFill>
                  </a:tcPr>
                </a:tc>
              </a:tr>
              <a:tr h="674688">
                <a:tc>
                  <a:txBody>
                    <a:bodyPr>
                      <a:noAutofit/>
                    </a:bodyPr>
                    <a:lstStyle/>
                    <a:p>
                      <a:r>
                        <a:rPr sz="1725" b="0">
                          <a:solidFill>
                            <a:srgbClr val="182E35"/>
                          </a:solidFill>
                          <a:latin typeface="Arial"/>
                          <a:ea typeface="Arial"/>
                          <a:cs typeface="Arial"/>
                        </a:rPr>
                        <a:t>Relevant card deleted</a:t>
                      </a:r>
                    </a:p>
                  </a:txBody>
                  <a:tcPr marL="91440" marR="91440" marT="45720" marB="45720">
                    <a:lnL w="9525">
                      <a:solidFill>
                        <a:srgbClr val="D6E2E4"/>
                      </a:solidFill>
                      <a:prstDash val="solid"/>
                    </a:lnL>
                    <a:lnR w="9525">
                      <a:solidFill>
                        <a:srgbClr val="D6E2E4"/>
                      </a:solidFill>
                      <a:prstDash val="solid"/>
                    </a:lnR>
                    <a:lnB w="9525">
                      <a:solidFill>
                        <a:srgbClr val="D6E2E4"/>
                      </a:solidFill>
                      <a:prstDash val="solid"/>
                    </a:lnB>
                    <a:solidFill>
                      <a:srgbClr val="E9F1F2"/>
                    </a:solidFill>
                  </a:tcPr>
                </a:tc>
                <a:tc>
                  <a:txBody>
                    <a:bodyPr>
                      <a:noAutofit/>
                    </a:bodyPr>
                    <a:lstStyle/>
                    <a:p>
                      <a:r>
                        <a:rPr sz="1725" b="0">
                          <a:solidFill>
                            <a:srgbClr val="182E35"/>
                          </a:solidFill>
                          <a:latin typeface="Arial"/>
                          <a:ea typeface="Arial"/>
                          <a:cs typeface="Arial"/>
                        </a:rPr>
                        <a:t>Abstain from rule support</a:t>
                      </a:r>
                    </a:p>
                  </a:txBody>
                  <a:tcPr marL="91440" marR="91440" marT="45720" marB="45720">
                    <a:lnR w="9525">
                      <a:solidFill>
                        <a:srgbClr val="D6E2E4"/>
                      </a:solidFill>
                      <a:prstDash val="solid"/>
                    </a:lnR>
                    <a:lnB w="9525">
                      <a:solidFill>
                        <a:srgbClr val="D6E2E4"/>
                      </a:solidFill>
                      <a:prstDash val="solid"/>
                    </a:lnB>
                    <a:solidFill>
                      <a:srgbClr val="E9F1F2"/>
                    </a:solidFill>
                  </a:tcPr>
                </a:tc>
              </a:tr>
              <a:tr h="674688">
                <a:tc>
                  <a:txBody>
                    <a:bodyPr>
                      <a:noAutofit/>
                    </a:bodyPr>
                    <a:lstStyle/>
                    <a:p>
                      <a:r>
                        <a:rPr sz="1725" b="0">
                          <a:solidFill>
                            <a:srgbClr val="182E35"/>
                          </a:solidFill>
                          <a:latin typeface="Arial"/>
                          <a:ea typeface="Arial"/>
                          <a:cs typeface="Arial"/>
                        </a:rPr>
                        <a:t>Only an unrelated card</a:t>
                      </a:r>
                    </a:p>
                  </a:txBody>
                  <a:tcPr marL="91440" marR="91440" marT="45720" marB="45720">
                    <a:lnL w="9525">
                      <a:solidFill>
                        <a:srgbClr val="D6E2E4"/>
                      </a:solidFill>
                      <a:prstDash val="solid"/>
                    </a:lnL>
                    <a:lnR w="9525">
                      <a:solidFill>
                        <a:srgbClr val="D6E2E4"/>
                      </a:solidFill>
                      <a:prstDash val="solid"/>
                    </a:lnR>
                    <a:lnB w="9525">
                      <a:solidFill>
                        <a:srgbClr val="D6E2E4"/>
                      </a:solidFill>
                      <a:prstDash val="solid"/>
                    </a:lnB>
                    <a:solidFill>
                      <a:srgbClr val="FFFFFF"/>
                    </a:solidFill>
                  </a:tcPr>
                </a:tc>
                <a:tc>
                  <a:txBody>
                    <a:bodyPr>
                      <a:noAutofit/>
                    </a:bodyPr>
                    <a:lstStyle/>
                    <a:p>
                      <a:r>
                        <a:rPr sz="1725" b="0">
                          <a:solidFill>
                            <a:srgbClr val="182E35"/>
                          </a:solidFill>
                          <a:latin typeface="Arial"/>
                          <a:ea typeface="Arial"/>
                          <a:cs typeface="Arial"/>
                        </a:rPr>
                        <a:t>Abstain despite similarity</a:t>
                      </a:r>
                    </a:p>
                  </a:txBody>
                  <a:tcPr marL="91440" marR="91440" marT="45720" marB="45720">
                    <a:lnR w="9525">
                      <a:solidFill>
                        <a:srgbClr val="D6E2E4"/>
                      </a:solidFill>
                      <a:prstDash val="solid"/>
                    </a:lnR>
                    <a:lnB w="9525">
                      <a:solidFill>
                        <a:srgbClr val="D6E2E4"/>
                      </a:solidFill>
                      <a:prstDash val="solid"/>
                    </a:lnB>
                    <a:solidFill>
                      <a:srgbClr val="FFFFFF"/>
                    </a:solidFill>
                  </a:tcPr>
                </a:tc>
              </a:tr>
              <a:tr h="674688">
                <a:tc>
                  <a:txBody>
                    <a:bodyPr>
                      <a:noAutofit/>
                    </a:bodyPr>
                    <a:lstStyle/>
                    <a:p>
                      <a:r>
                        <a:rPr sz="1725" b="0">
                          <a:solidFill>
                            <a:srgbClr val="182E35"/>
                          </a:solidFill>
                          <a:latin typeface="Arial"/>
                          <a:ea typeface="Arial"/>
                          <a:cs typeface="Arial"/>
                        </a:rPr>
                        <a:t>Invented citation or quote</a:t>
                      </a:r>
                    </a:p>
                  </a:txBody>
                  <a:tcPr marL="91440" marR="91440" marT="45720" marB="45720">
                    <a:lnL w="9525">
                      <a:solidFill>
                        <a:srgbClr val="D6E2E4"/>
                      </a:solidFill>
                      <a:prstDash val="solid"/>
                    </a:lnL>
                    <a:lnR w="9525">
                      <a:solidFill>
                        <a:srgbClr val="D6E2E4"/>
                      </a:solidFill>
                      <a:prstDash val="solid"/>
                    </a:lnR>
                    <a:lnB w="9525">
                      <a:solidFill>
                        <a:srgbClr val="D6E2E4"/>
                      </a:solidFill>
                      <a:prstDash val="solid"/>
                    </a:lnB>
                    <a:solidFill>
                      <a:srgbClr val="E9F1F2"/>
                    </a:solidFill>
                  </a:tcPr>
                </a:tc>
                <a:tc>
                  <a:txBody>
                    <a:bodyPr>
                      <a:noAutofit/>
                    </a:bodyPr>
                    <a:lstStyle/>
                    <a:p>
                      <a:r>
                        <a:rPr sz="1725" b="0">
                          <a:solidFill>
                            <a:srgbClr val="182E35"/>
                          </a:solidFill>
                          <a:latin typeface="Arial"/>
                          <a:ea typeface="Arial"/>
                          <a:cs typeface="Arial"/>
                        </a:rPr>
                        <a:t>Reject model evidence</a:t>
                      </a:r>
                    </a:p>
                  </a:txBody>
                  <a:tcPr marL="91440" marR="91440" marT="45720" marB="45720">
                    <a:lnR w="9525">
                      <a:solidFill>
                        <a:srgbClr val="D6E2E4"/>
                      </a:solidFill>
                      <a:prstDash val="solid"/>
                    </a:lnR>
                    <a:lnB w="9525">
                      <a:solidFill>
                        <a:srgbClr val="D6E2E4"/>
                      </a:solidFill>
                      <a:prstDash val="solid"/>
                    </a:lnB>
                    <a:solidFill>
                      <a:srgbClr val="E9F1F2"/>
                    </a:solidFill>
                  </a:tcPr>
                </a:tc>
              </a:tr>
              <a:tr h="674688">
                <a:tc>
                  <a:txBody>
                    <a:bodyPr>
                      <a:noAutofit/>
                    </a:bodyPr>
                    <a:lstStyle/>
                    <a:p>
                      <a:r>
                        <a:rPr sz="1725" b="0">
                          <a:solidFill>
                            <a:srgbClr val="182E35"/>
                          </a:solidFill>
                          <a:latin typeface="Arial"/>
                          <a:ea typeface="Arial"/>
                          <a:cs typeface="Arial"/>
                        </a:rPr>
                        <a:t>Ollama unavailable</a:t>
                      </a:r>
                    </a:p>
                  </a:txBody>
                  <a:tcPr marL="91440" marR="91440" marT="45720" marB="45720">
                    <a:lnL w="9525">
                      <a:solidFill>
                        <a:srgbClr val="D6E2E4"/>
                      </a:solidFill>
                      <a:prstDash val="solid"/>
                    </a:lnL>
                    <a:lnR w="9525">
                      <a:solidFill>
                        <a:srgbClr val="D6E2E4"/>
                      </a:solidFill>
                      <a:prstDash val="solid"/>
                    </a:lnR>
                    <a:lnB w="9525">
                      <a:solidFill>
                        <a:srgbClr val="D6E2E4"/>
                      </a:solidFill>
                      <a:prstDash val="solid"/>
                    </a:lnB>
                    <a:solidFill>
                      <a:srgbClr val="FFFFFF"/>
                    </a:solidFill>
                  </a:tcPr>
                </a:tc>
                <a:tc>
                  <a:txBody>
                    <a:bodyPr>
                      <a:noAutofit/>
                    </a:bodyPr>
                    <a:lstStyle/>
                    <a:p>
                      <a:r>
                        <a:rPr sz="1725" b="0">
                          <a:solidFill>
                            <a:srgbClr val="182E35"/>
                          </a:solidFill>
                          <a:latin typeface="Arial"/>
                          <a:ea typeface="Arial"/>
                          <a:cs typeface="Arial"/>
                        </a:rPr>
                        <a:t>Label retrieval/template mode explicitly</a:t>
                      </a:r>
                    </a:p>
                  </a:txBody>
                  <a:tcPr marL="91440" marR="91440" marT="45720" marB="45720">
                    <a:lnR w="9525">
                      <a:solidFill>
                        <a:srgbClr val="D6E2E4"/>
                      </a:solidFill>
                      <a:prstDash val="solid"/>
                    </a:lnR>
                    <a:lnB w="9525">
                      <a:solidFill>
                        <a:srgbClr val="D6E2E4"/>
                      </a:solidFill>
                      <a:prstDash val="solid"/>
                    </a:lnB>
                    <a:solidFill>
                      <a:srgbClr val="FFFFFF"/>
                    </a:solidFill>
                  </a:tcPr>
                </a:tc>
              </a:tr>
            </a:tbl>
          </a:graphicData>
        </a:graphic>
      </p:graphicFrame>
    </p:spTree>
    <p:extLst>
      <p:ext uri="{BB962C8B-B14F-4D97-AF65-F5344CB8AC3E}">
        <p14:creationId xmlns:p14="http://schemas.microsoft.com/office/powerpoint/2010/main" val="173500821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60C921F-C74D-47F1-9016-CF5DD0BE40C6}"/>
              </a:ext>
            </a:extLst>
          </p:cNvPr>
          <p:cNvSpPr>
            <a:spLocks xmlns:a="http://schemas.openxmlformats.org/drawingml/2006/main" noGrp="1"/>
          </p:cNvSpPr>
          <p:nvPr/>
        </p:nvSpPr>
        <p:spPr>
          <a:xfrm xmlns:a="http://schemas.openxmlformats.org/drawingml/2006/main">
            <a:off x="685800" y="5334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02B32"/>
                </a:solidFill>
                <a:latin typeface="Arial"/>
                <a:ea typeface="Arial"/>
                <a:cs typeface="Arial"/>
              </a:defRPr>
            </a:defPPr>
          </a:lstStyle>
          <a:p xmlns:a="http://schemas.openxmlformats.org/drawingml/2006/main">
            <a:pPr>
              <a:defRPr sz="3300" b="1">
                <a:solidFill>
                  <a:srgbClr val="102B32"/>
                </a:solidFill>
                <a:latin typeface="Arial"/>
                <a:ea typeface="Arial"/>
                <a:cs typeface="Arial"/>
              </a:defRPr>
            </a:pPr>
            <a:r>
              <a:rPr sz="3300" b="1">
                <a:solidFill>
                  <a:srgbClr val="102B32"/>
                </a:solidFill>
                <a:latin typeface="Arial"/>
                <a:ea typeface="Arial"/>
                <a:cs typeface="Arial"/>
              </a:rPr>
              <a:t>Public repository robustness benchmark</a:t>
            </a:r>
          </a:p>
        </p:txBody>
      </p:sp>
      <p:sp>
        <p:nvSpPr>
          <p:cNvPr id="2" name="">
            <a:extLst xmlns:a="http://schemas.openxmlformats.org/drawingml/2006/main">
              <a:ext uri="{FF2B5EF4-FFF2-40B4-BE49-F238E27FC236}">
                <a16:creationId xmlns:a16="http://schemas.microsoft.com/office/drawing/2014/main" id="{D5100390-D0EA-4B6B-8612-A273F87C6139}"/>
              </a:ext>
            </a:extLst>
          </p:cNvPr>
          <p:cNvSpPr>
            <a:spLocks xmlns:a="http://schemas.openxmlformats.org/drawingml/2006/main" noGrp="1"/>
          </p:cNvSpPr>
          <p:nvPr/>
        </p:nvSpPr>
        <p:spPr>
          <a:xfrm xmlns:a="http://schemas.openxmlformats.org/drawingml/2006/main">
            <a:off x="685800" y="630555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2676E"/>
                </a:solidFill>
                <a:latin typeface="Arial"/>
                <a:ea typeface="Arial"/>
                <a:cs typeface="Arial"/>
              </a:defRPr>
            </a:defPPr>
          </a:lstStyle>
          <a:p xmlns:a="http://schemas.openxmlformats.org/drawingml/2006/main">
            <a:pPr>
              <a:defRPr sz="1125" b="0">
                <a:solidFill>
                  <a:srgbClr val="52676E"/>
                </a:solidFill>
                <a:latin typeface="Arial"/>
                <a:ea typeface="Arial"/>
                <a:cs typeface="Arial"/>
              </a:defRPr>
            </a:pPr>
            <a:r>
              <a:rPr sz="1125" b="0">
                <a:solidFill>
                  <a:srgbClr val="52676E"/>
                </a:solidFill>
                <a:latin typeface="Arial"/>
                <a:ea typeface="Arial"/>
                <a:cs typeface="Arial"/>
              </a:rPr>
              <a:t>ECU REVIEW STUDIO</a:t>
            </a:r>
          </a:p>
        </p:txBody>
      </p:sp>
      <p:sp>
        <p:nvSpPr>
          <p:cNvPr id="3" name="">
            <a:extLst xmlns:a="http://schemas.openxmlformats.org/drawingml/2006/main">
              <a:ext uri="{FF2B5EF4-FFF2-40B4-BE49-F238E27FC236}">
                <a16:creationId xmlns:a16="http://schemas.microsoft.com/office/drawing/2014/main" id="{B55B6776-B81B-4C21-A28A-E8C752EC34F4}"/>
              </a:ext>
            </a:extLst>
          </p:cNvPr>
          <p:cNvSpPr>
            <a:spLocks xmlns:a="http://schemas.openxmlformats.org/drawingml/2006/main" noGrp="1"/>
          </p:cNvSpPr>
          <p:nvPr/>
        </p:nvSpPr>
        <p:spPr>
          <a:xfrm xmlns:a="http://schemas.openxmlformats.org/drawingml/2006/main">
            <a:off x="10953750" y="63055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2676E"/>
                </a:solidFill>
                <a:latin typeface="Arial"/>
                <a:ea typeface="Arial"/>
                <a:cs typeface="Arial"/>
              </a:defRPr>
            </a:defPPr>
          </a:lstStyle>
          <a:p xmlns:a="http://schemas.openxmlformats.org/drawingml/2006/main">
            <a:pPr>
              <a:defRPr sz="1125" b="0">
                <a:solidFill>
                  <a:srgbClr val="52676E"/>
                </a:solidFill>
                <a:latin typeface="Arial"/>
                <a:ea typeface="Arial"/>
                <a:cs typeface="Arial"/>
              </a:defRPr>
            </a:pPr>
            <a:r>
              <a:rPr sz="1125" b="0">
                <a:solidFill>
                  <a:srgbClr val="52676E"/>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913EF994-24A5-45C5-A685-655818C4BB42}"/>
              </a:ext>
            </a:extLst>
          </p:cNvPr>
          <p:cNvSpPr>
            <a:spLocks xmlns:a="http://schemas.openxmlformats.org/drawingml/2006/main" noGrp="1"/>
          </p:cNvSpPr>
          <p:nvPr/>
        </p:nvSpPr>
        <p:spPr>
          <a:xfrm xmlns:a="http://schemas.openxmlformats.org/drawingml/2006/main">
            <a:off x="685800" y="1571625"/>
            <a:ext cx="323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6900" b="1">
                <a:solidFill>
                  <a:srgbClr val="087F75"/>
                </a:solidFill>
                <a:latin typeface="Arial"/>
                <a:ea typeface="Arial"/>
                <a:cs typeface="Arial"/>
              </a:defRPr>
            </a:defPPr>
          </a:lstStyle>
          <a:p xmlns:a="http://schemas.openxmlformats.org/drawingml/2006/main">
            <a:pPr>
              <a:defRPr sz="6900" b="1">
                <a:solidFill>
                  <a:srgbClr val="087F75"/>
                </a:solidFill>
                <a:latin typeface="Arial"/>
                <a:ea typeface="Arial"/>
                <a:cs typeface="Arial"/>
              </a:defRPr>
            </a:pPr>
            <a:r>
              <a:rPr sz="6900" b="1">
                <a:solidFill>
                  <a:srgbClr val="087F75"/>
                </a:solidFill>
                <a:latin typeface="Arial"/>
                <a:ea typeface="Arial"/>
                <a:cs typeface="Arial"/>
              </a:rPr>
              <a:t>100</a:t>
            </a:r>
          </a:p>
        </p:txBody>
      </p:sp>
      <p:sp>
        <p:nvSpPr>
          <p:cNvPr id="5" name="">
            <a:extLst xmlns:a="http://schemas.openxmlformats.org/drawingml/2006/main">
              <a:ext uri="{FF2B5EF4-FFF2-40B4-BE49-F238E27FC236}">
                <a16:creationId xmlns:a16="http://schemas.microsoft.com/office/drawing/2014/main" id="{5B894B25-C1B4-4130-8036-90D756DE6885}"/>
              </a:ext>
            </a:extLst>
          </p:cNvPr>
          <p:cNvSpPr>
            <a:spLocks xmlns:a="http://schemas.openxmlformats.org/drawingml/2006/main" noGrp="1"/>
          </p:cNvSpPr>
          <p:nvPr/>
        </p:nvSpPr>
        <p:spPr>
          <a:xfrm xmlns:a="http://schemas.openxmlformats.org/drawingml/2006/main">
            <a:off x="685800" y="266700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82E35"/>
                </a:solidFill>
                <a:latin typeface="Arial"/>
                <a:ea typeface="Arial"/>
                <a:cs typeface="Arial"/>
              </a:defRPr>
            </a:defPPr>
          </a:lstStyle>
          <a:p xmlns:a="http://schemas.openxmlformats.org/drawingml/2006/main">
            <a:pPr>
              <a:defRPr sz="2250" b="0">
                <a:solidFill>
                  <a:srgbClr val="182E35"/>
                </a:solidFill>
                <a:latin typeface="Arial"/>
                <a:ea typeface="Arial"/>
                <a:cs typeface="Arial"/>
              </a:defRPr>
            </a:pPr>
            <a:r>
              <a:rPr sz="2250" b="0">
                <a:solidFill>
                  <a:srgbClr val="182E35"/>
                </a:solidFill>
                <a:latin typeface="Arial"/>
                <a:ea typeface="Arial"/>
                <a:cs typeface="Arial"/>
              </a:rPr>
              <a:t>distinct public repositories</a:t>
            </a:r>
          </a:p>
        </p:txBody>
      </p:sp>
      <p:sp>
        <p:nvSpPr>
          <p:cNvPr id="6" name="">
            <a:extLst xmlns:a="http://schemas.openxmlformats.org/drawingml/2006/main">
              <a:ext uri="{FF2B5EF4-FFF2-40B4-BE49-F238E27FC236}">
                <a16:creationId xmlns:a16="http://schemas.microsoft.com/office/drawing/2014/main" id="{21053C25-88F6-4D4C-9199-B2E5DA9ABFB6}"/>
              </a:ext>
            </a:extLst>
          </p:cNvPr>
          <p:cNvSpPr>
            <a:spLocks xmlns:a="http://schemas.openxmlformats.org/drawingml/2006/main" noGrp="1"/>
          </p:cNvSpPr>
          <p:nvPr/>
        </p:nvSpPr>
        <p:spPr>
          <a:xfrm xmlns:a="http://schemas.openxmlformats.org/drawingml/2006/main">
            <a:off x="685800" y="371475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02B32"/>
                </a:solidFill>
                <a:latin typeface="Arial"/>
                <a:ea typeface="Arial"/>
                <a:cs typeface="Arial"/>
              </a:defRPr>
            </a:defPPr>
          </a:lstStyle>
          <a:p xmlns:a="http://schemas.openxmlformats.org/drawingml/2006/main">
            <a:pPr>
              <a:defRPr sz="3000" b="1">
                <a:solidFill>
                  <a:srgbClr val="102B32"/>
                </a:solidFill>
                <a:latin typeface="Arial"/>
                <a:ea typeface="Arial"/>
                <a:cs typeface="Arial"/>
              </a:defRPr>
            </a:pPr>
            <a:r>
              <a:rPr sz="3000" b="1">
                <a:solidFill>
                  <a:srgbClr val="102B32"/>
                </a:solidFill>
                <a:latin typeface="Arial"/>
                <a:ea typeface="Arial"/>
                <a:cs typeface="Arial"/>
              </a:rPr>
              <a:t>6,721 C/C++ files</a:t>
            </a:r>
          </a:p>
        </p:txBody>
      </p:sp>
      <p:sp>
        <p:nvSpPr>
          <p:cNvPr id="7" name="">
            <a:extLst xmlns:a="http://schemas.openxmlformats.org/drawingml/2006/main">
              <a:ext uri="{FF2B5EF4-FFF2-40B4-BE49-F238E27FC236}">
                <a16:creationId xmlns:a16="http://schemas.microsoft.com/office/drawing/2014/main" id="{AB55EDBB-6AF8-4CE7-9F33-42F31E351341}"/>
              </a:ext>
            </a:extLst>
          </p:cNvPr>
          <p:cNvSpPr>
            <a:spLocks xmlns:a="http://schemas.openxmlformats.org/drawingml/2006/main" noGrp="1"/>
          </p:cNvSpPr>
          <p:nvPr/>
        </p:nvSpPr>
        <p:spPr>
          <a:xfrm xmlns:a="http://schemas.openxmlformats.org/drawingml/2006/main">
            <a:off x="685800" y="442912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02B32"/>
                </a:solidFill>
                <a:latin typeface="Arial"/>
                <a:ea typeface="Arial"/>
                <a:cs typeface="Arial"/>
              </a:defRPr>
            </a:defPPr>
          </a:lstStyle>
          <a:p xmlns:a="http://schemas.openxmlformats.org/drawingml/2006/main">
            <a:pPr>
              <a:defRPr sz="3000" b="1">
                <a:solidFill>
                  <a:srgbClr val="102B32"/>
                </a:solidFill>
                <a:latin typeface="Arial"/>
                <a:ea typeface="Arial"/>
                <a:cs typeface="Arial"/>
              </a:defRPr>
            </a:pPr>
            <a:r>
              <a:rPr sz="3000" b="1">
                <a:solidFill>
                  <a:srgbClr val="102B32"/>
                </a:solidFill>
                <a:latin typeface="Arial"/>
                <a:ea typeface="Arial"/>
                <a:cs typeface="Arial"/>
              </a:rPr>
              <a:t>2,650,420 source lines</a:t>
            </a:r>
          </a:p>
        </p:txBody>
      </p:sp>
      <p:sp>
        <p:nvSpPr>
          <p:cNvPr id="8" name="">
            <a:extLst xmlns:a="http://schemas.openxmlformats.org/drawingml/2006/main">
              <a:ext uri="{FF2B5EF4-FFF2-40B4-BE49-F238E27FC236}">
                <a16:creationId xmlns:a16="http://schemas.microsoft.com/office/drawing/2014/main" id="{1C491D8B-DDFC-43CF-BEEF-EC21C14EF0A9}"/>
              </a:ext>
            </a:extLst>
          </p:cNvPr>
          <p:cNvSpPr>
            <a:spLocks xmlns:a="http://schemas.openxmlformats.org/drawingml/2006/main" noGrp="1"/>
          </p:cNvSpPr>
          <p:nvPr/>
        </p:nvSpPr>
        <p:spPr>
          <a:xfrm xmlns:a="http://schemas.openxmlformats.org/drawingml/2006/main">
            <a:off x="685800" y="552450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52676E"/>
                </a:solidFill>
                <a:latin typeface="Arial"/>
                <a:ea typeface="Arial"/>
                <a:cs typeface="Arial"/>
              </a:defRPr>
            </a:defPPr>
          </a:lstStyle>
          <a:p xmlns:a="http://schemas.openxmlformats.org/drawingml/2006/main">
            <a:pPr>
              <a:defRPr sz="1875" b="0">
                <a:solidFill>
                  <a:srgbClr val="52676E"/>
                </a:solidFill>
                <a:latin typeface="Arial"/>
                <a:ea typeface="Arial"/>
                <a:cs typeface="Arial"/>
              </a:defRPr>
            </a:pPr>
            <a:r>
              <a:rPr sz="1875" b="0">
                <a:solidFill>
                  <a:srgbClr val="52676E"/>
                </a:solidFill>
                <a:latin typeface="Arial"/>
                <a:ea typeface="Arial"/>
                <a:cs typeface="Arial"/>
              </a:rPr>
              <a:t>No repository-level scan failures. Unlabelled findings do not measure accuracy.</a:t>
            </a:r>
          </a:p>
        </p:txBody>
      </p:sp>
    </p:spTree>
    <p:extLst>
      <p:ext uri="{BB962C8B-B14F-4D97-AF65-F5344CB8AC3E}">
        <p14:creationId xmlns:p14="http://schemas.microsoft.com/office/powerpoint/2010/main" val="190022061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176E193-0EDA-4A5D-9B60-D27D6971BAC6}"/>
              </a:ext>
            </a:extLst>
          </p:cNvPr>
          <p:cNvSpPr>
            <a:spLocks xmlns:a="http://schemas.openxmlformats.org/drawingml/2006/main" noGrp="1"/>
          </p:cNvSpPr>
          <p:nvPr/>
        </p:nvSpPr>
        <p:spPr>
          <a:xfrm xmlns:a="http://schemas.openxmlformats.org/drawingml/2006/main">
            <a:off x="685800" y="5334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02B32"/>
                </a:solidFill>
                <a:latin typeface="Arial"/>
                <a:ea typeface="Arial"/>
                <a:cs typeface="Arial"/>
              </a:defRPr>
            </a:defPPr>
          </a:lstStyle>
          <a:p xmlns:a="http://schemas.openxmlformats.org/drawingml/2006/main">
            <a:pPr>
              <a:defRPr sz="3300" b="1">
                <a:solidFill>
                  <a:srgbClr val="102B32"/>
                </a:solidFill>
                <a:latin typeface="Arial"/>
                <a:ea typeface="Arial"/>
                <a:cs typeface="Arial"/>
              </a:defRPr>
            </a:pPr>
            <a:r>
              <a:rPr sz="3300" b="1">
                <a:solidFill>
                  <a:srgbClr val="102B32"/>
                </a:solidFill>
                <a:latin typeface="Arial"/>
                <a:ea typeface="Arial"/>
                <a:cs typeface="Arial"/>
              </a:rPr>
              <a:t>Controlled defects in real ECU source</a:t>
            </a:r>
          </a:p>
        </p:txBody>
      </p:sp>
      <p:sp>
        <p:nvSpPr>
          <p:cNvPr id="2" name="">
            <a:extLst xmlns:a="http://schemas.openxmlformats.org/drawingml/2006/main">
              <a:ext uri="{FF2B5EF4-FFF2-40B4-BE49-F238E27FC236}">
                <a16:creationId xmlns:a16="http://schemas.microsoft.com/office/drawing/2014/main" id="{AFCC9060-6144-4DC1-B35C-2BBD7C1FB390}"/>
              </a:ext>
            </a:extLst>
          </p:cNvPr>
          <p:cNvSpPr>
            <a:spLocks xmlns:a="http://schemas.openxmlformats.org/drawingml/2006/main" noGrp="1"/>
          </p:cNvSpPr>
          <p:nvPr/>
        </p:nvSpPr>
        <p:spPr>
          <a:xfrm xmlns:a="http://schemas.openxmlformats.org/drawingml/2006/main">
            <a:off x="685800" y="630555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2676E"/>
                </a:solidFill>
                <a:latin typeface="Arial"/>
                <a:ea typeface="Arial"/>
                <a:cs typeface="Arial"/>
              </a:defRPr>
            </a:defPPr>
          </a:lstStyle>
          <a:p xmlns:a="http://schemas.openxmlformats.org/drawingml/2006/main">
            <a:pPr>
              <a:defRPr sz="1125" b="0">
                <a:solidFill>
                  <a:srgbClr val="52676E"/>
                </a:solidFill>
                <a:latin typeface="Arial"/>
                <a:ea typeface="Arial"/>
                <a:cs typeface="Arial"/>
              </a:defRPr>
            </a:pPr>
            <a:r>
              <a:rPr sz="1125" b="0">
                <a:solidFill>
                  <a:srgbClr val="52676E"/>
                </a:solidFill>
                <a:latin typeface="Arial"/>
                <a:ea typeface="Arial"/>
                <a:cs typeface="Arial"/>
              </a:rPr>
              <a:t>ECU REVIEW STUDIO</a:t>
            </a:r>
          </a:p>
        </p:txBody>
      </p:sp>
      <p:sp>
        <p:nvSpPr>
          <p:cNvPr id="3" name="">
            <a:extLst xmlns:a="http://schemas.openxmlformats.org/drawingml/2006/main">
              <a:ext uri="{FF2B5EF4-FFF2-40B4-BE49-F238E27FC236}">
                <a16:creationId xmlns:a16="http://schemas.microsoft.com/office/drawing/2014/main" id="{17089227-6D49-4A50-B3C5-4D392047A8D1}"/>
              </a:ext>
            </a:extLst>
          </p:cNvPr>
          <p:cNvSpPr>
            <a:spLocks xmlns:a="http://schemas.openxmlformats.org/drawingml/2006/main" noGrp="1"/>
          </p:cNvSpPr>
          <p:nvPr/>
        </p:nvSpPr>
        <p:spPr>
          <a:xfrm xmlns:a="http://schemas.openxmlformats.org/drawingml/2006/main">
            <a:off x="10953750" y="63055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2676E"/>
                </a:solidFill>
                <a:latin typeface="Arial"/>
                <a:ea typeface="Arial"/>
                <a:cs typeface="Arial"/>
              </a:defRPr>
            </a:defPPr>
          </a:lstStyle>
          <a:p xmlns:a="http://schemas.openxmlformats.org/drawingml/2006/main">
            <a:pPr>
              <a:defRPr sz="1125" b="0">
                <a:solidFill>
                  <a:srgbClr val="52676E"/>
                </a:solidFill>
                <a:latin typeface="Arial"/>
                <a:ea typeface="Arial"/>
                <a:cs typeface="Arial"/>
              </a:defRPr>
            </a:pPr>
            <a:r>
              <a:rPr sz="1125" b="0">
                <a:solidFill>
                  <a:srgbClr val="52676E"/>
                </a:solidFill>
                <a:latin typeface="Arial"/>
                <a:ea typeface="Arial"/>
                <a:cs typeface="Arial"/>
              </a:rPr>
              <a:t>09</a:t>
            </a:r>
          </a:p>
        </p:txBody>
      </p:sp>
      <p:sp>
        <p:nvSpPr>
          <p:cNvPr id="4" name="">
            <a:extLst xmlns:a="http://schemas.openxmlformats.org/drawingml/2006/main">
              <a:ext uri="{FF2B5EF4-FFF2-40B4-BE49-F238E27FC236}">
                <a16:creationId xmlns:a16="http://schemas.microsoft.com/office/drawing/2014/main" id="{AF72FFF1-15A3-4534-A6A7-D523AAC0C489}"/>
              </a:ext>
            </a:extLst>
          </p:cNvPr>
          <p:cNvSpPr>
            <a:spLocks xmlns:a="http://schemas.openxmlformats.org/drawingml/2006/main" noGrp="1"/>
          </p:cNvSpPr>
          <p:nvPr/>
        </p:nvSpPr>
        <p:spPr>
          <a:xfrm xmlns:a="http://schemas.openxmlformats.org/drawingml/2006/main">
            <a:off x="685800" y="1666875"/>
            <a:ext cx="5238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6600" b="1">
                <a:solidFill>
                  <a:srgbClr val="087F75"/>
                </a:solidFill>
                <a:latin typeface="Arial"/>
                <a:ea typeface="Arial"/>
                <a:cs typeface="Arial"/>
              </a:defRPr>
            </a:defPPr>
          </a:lstStyle>
          <a:p xmlns:a="http://schemas.openxmlformats.org/drawingml/2006/main">
            <a:pPr>
              <a:defRPr sz="6600" b="1">
                <a:solidFill>
                  <a:srgbClr val="087F75"/>
                </a:solidFill>
                <a:latin typeface="Arial"/>
                <a:ea typeface="Arial"/>
                <a:cs typeface="Arial"/>
              </a:defRPr>
            </a:pPr>
            <a:r>
              <a:rPr sz="6600" b="1">
                <a:solidFill>
                  <a:srgbClr val="087F75"/>
                </a:solidFill>
                <a:latin typeface="Arial"/>
                <a:ea typeface="Arial"/>
                <a:cs typeface="Arial"/>
              </a:rPr>
              <a:t>40 / 40</a:t>
            </a:r>
          </a:p>
        </p:txBody>
      </p:sp>
      <p:sp>
        <p:nvSpPr>
          <p:cNvPr id="5" name="">
            <a:extLst xmlns:a="http://schemas.openxmlformats.org/drawingml/2006/main">
              <a:ext uri="{FF2B5EF4-FFF2-40B4-BE49-F238E27FC236}">
                <a16:creationId xmlns:a16="http://schemas.microsoft.com/office/drawing/2014/main" id="{E31E48EA-71F1-44FA-AA1B-3914A516B904}"/>
              </a:ext>
            </a:extLst>
          </p:cNvPr>
          <p:cNvSpPr>
            <a:spLocks xmlns:a="http://schemas.openxmlformats.org/drawingml/2006/main" noGrp="1"/>
          </p:cNvSpPr>
          <p:nvPr/>
        </p:nvSpPr>
        <p:spPr>
          <a:xfrm xmlns:a="http://schemas.openxmlformats.org/drawingml/2006/main">
            <a:off x="685800" y="2809875"/>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82E35"/>
                </a:solidFill>
                <a:latin typeface="Arial"/>
                <a:ea typeface="Arial"/>
                <a:cs typeface="Arial"/>
              </a:defRPr>
            </a:defPPr>
          </a:lstStyle>
          <a:p xmlns:a="http://schemas.openxmlformats.org/drawingml/2006/main">
            <a:pPr>
              <a:defRPr sz="2175" b="0">
                <a:solidFill>
                  <a:srgbClr val="182E35"/>
                </a:solidFill>
                <a:latin typeface="Arial"/>
                <a:ea typeface="Arial"/>
                <a:cs typeface="Arial"/>
              </a:defRPr>
            </a:pPr>
            <a:r>
              <a:rPr sz="2175" b="0">
                <a:solidFill>
                  <a:srgbClr val="182E35"/>
                </a:solidFill>
                <a:latin typeface="Arial"/>
                <a:ea typeface="Arial"/>
                <a:cs typeface="Arial"/>
              </a:rPr>
              <a:t>injected cases detected at the expected line</a:t>
            </a:r>
          </a:p>
        </p:txBody>
      </p:sp>
      <p:sp>
        <p:nvSpPr>
          <p:cNvPr id="6" name="">
            <a:extLst xmlns:a="http://schemas.openxmlformats.org/drawingml/2006/main">
              <a:ext uri="{FF2B5EF4-FFF2-40B4-BE49-F238E27FC236}">
                <a16:creationId xmlns:a16="http://schemas.microsoft.com/office/drawing/2014/main" id="{35781EC9-82FB-47F5-BCC8-6352A2FFF5AD}"/>
              </a:ext>
            </a:extLst>
          </p:cNvPr>
          <p:cNvSpPr>
            <a:spLocks xmlns:a="http://schemas.openxmlformats.org/drawingml/2006/main" noGrp="1"/>
          </p:cNvSpPr>
          <p:nvPr/>
        </p:nvSpPr>
        <p:spPr>
          <a:xfrm xmlns:a="http://schemas.openxmlformats.org/drawingml/2006/main">
            <a:off x="685800" y="3714750"/>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82E35"/>
                </a:solidFill>
                <a:latin typeface="Arial"/>
                <a:ea typeface="Arial"/>
                <a:cs typeface="Arial"/>
              </a:defRPr>
            </a:defPPr>
          </a:lstStyle>
          <a:p xmlns:a="http://schemas.openxmlformats.org/drawingml/2006/main">
            <a:pPr>
              <a:defRPr sz="2025" b="0">
                <a:solidFill>
                  <a:srgbClr val="182E35"/>
                </a:solidFill>
                <a:latin typeface="Arial"/>
                <a:ea typeface="Arial"/>
                <a:cs typeface="Arial"/>
              </a:defRPr>
            </a:pPr>
            <a:r>
              <a:rPr sz="2025" b="0">
                <a:solidFill>
                  <a:srgbClr val="182E35"/>
                </a:solidFill>
                <a:latin typeface="Arial"/>
                <a:ea typeface="Arial"/>
                <a:cs typeface="Arial"/>
              </a:rPr>
              <a:t>10 actual files from Speeduino and rusEFI.</a:t>
            </a:r>
          </a:p>
        </p:txBody>
      </p:sp>
      <p:sp>
        <p:nvSpPr>
          <p:cNvPr id="7" name="">
            <a:extLst xmlns:a="http://schemas.openxmlformats.org/drawingml/2006/main">
              <a:ext uri="{FF2B5EF4-FFF2-40B4-BE49-F238E27FC236}">
                <a16:creationId xmlns:a16="http://schemas.microsoft.com/office/drawing/2014/main" id="{FD247239-2EEE-4569-8634-D8856A4F3F62}"/>
              </a:ext>
            </a:extLst>
          </p:cNvPr>
          <p:cNvSpPr>
            <a:spLocks xmlns:a="http://schemas.openxmlformats.org/drawingml/2006/main" noGrp="1"/>
          </p:cNvSpPr>
          <p:nvPr/>
        </p:nvSpPr>
        <p:spPr>
          <a:xfrm xmlns:a="http://schemas.openxmlformats.org/drawingml/2006/main">
            <a:off x="685800" y="442912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82E35"/>
                </a:solidFill>
                <a:latin typeface="Arial"/>
                <a:ea typeface="Arial"/>
                <a:cs typeface="Arial"/>
              </a:defRPr>
            </a:defPPr>
          </a:lstStyle>
          <a:p xmlns:a="http://schemas.openxmlformats.org/drawingml/2006/main">
            <a:pPr>
              <a:defRPr sz="2025" b="0">
                <a:solidFill>
                  <a:srgbClr val="182E35"/>
                </a:solidFill>
                <a:latin typeface="Arial"/>
                <a:ea typeface="Arial"/>
                <a:cs typeface="Arial"/>
              </a:defRPr>
            </a:pPr>
            <a:r>
              <a:rPr sz="2025" b="0">
                <a:solidFill>
                  <a:srgbClr val="182E35"/>
                </a:solidFill>
                <a:latin typeface="Arial"/>
                <a:ea typeface="Arial"/>
                <a:cs typeface="Arial"/>
              </a:rPr>
              <a:t>Zero division, null dereference, fixed bounds and unbounded copy.</a:t>
            </a:r>
          </a:p>
        </p:txBody>
      </p:sp>
      <p:sp>
        <p:nvSpPr>
          <p:cNvPr id="8" name="">
            <a:extLst xmlns:a="http://schemas.openxmlformats.org/drawingml/2006/main">
              <a:ext uri="{FF2B5EF4-FFF2-40B4-BE49-F238E27FC236}">
                <a16:creationId xmlns:a16="http://schemas.microsoft.com/office/drawing/2014/main" id="{D0AF6B80-5358-4160-B146-0FBE2F44F28A}"/>
              </a:ext>
            </a:extLst>
          </p:cNvPr>
          <p:cNvSpPr>
            <a:spLocks xmlns:a="http://schemas.openxmlformats.org/drawingml/2006/main" noGrp="1"/>
          </p:cNvSpPr>
          <p:nvPr/>
        </p:nvSpPr>
        <p:spPr>
          <a:xfrm xmlns:a="http://schemas.openxmlformats.org/drawingml/2006/main">
            <a:off x="685800" y="5143500"/>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82E35"/>
                </a:solidFill>
                <a:latin typeface="Arial"/>
                <a:ea typeface="Arial"/>
                <a:cs typeface="Arial"/>
              </a:defRPr>
            </a:defPPr>
          </a:lstStyle>
          <a:p xmlns:a="http://schemas.openxmlformats.org/drawingml/2006/main">
            <a:pPr>
              <a:defRPr sz="2025" b="0">
                <a:solidFill>
                  <a:srgbClr val="182E35"/>
                </a:solidFill>
                <a:latin typeface="Arial"/>
                <a:ea typeface="Arial"/>
                <a:cs typeface="Arial"/>
              </a:defRPr>
            </a:pPr>
            <a:r>
              <a:rPr sz="2025" b="0">
                <a:solidFill>
                  <a:srgbClr val="182E35"/>
                </a:solidFill>
                <a:latin typeface="Arial"/>
                <a:ea typeface="Arial"/>
                <a:cs typeface="Arial"/>
              </a:rPr>
              <a:t>Baseline/mutant ZIPs, hashes and readable patches preserve provenance.</a:t>
            </a:r>
          </a:p>
        </p:txBody>
      </p:sp>
    </p:spTree>
    <p:extLst>
      <p:ext uri="{BB962C8B-B14F-4D97-AF65-F5344CB8AC3E}">
        <p14:creationId xmlns:p14="http://schemas.microsoft.com/office/powerpoint/2010/main" val="29583489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AF6C4C8-0A0C-41D0-977E-878BB3C36EFF}"/>
              </a:ext>
            </a:extLst>
          </p:cNvPr>
          <p:cNvSpPr>
            <a:spLocks xmlns:a="http://schemas.openxmlformats.org/drawingml/2006/main" noGrp="1"/>
          </p:cNvSpPr>
          <p:nvPr/>
        </p:nvSpPr>
        <p:spPr>
          <a:xfrm xmlns:a="http://schemas.openxmlformats.org/drawingml/2006/main">
            <a:off x="685800" y="5334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02B32"/>
                </a:solidFill>
                <a:latin typeface="Arial"/>
                <a:ea typeface="Arial"/>
                <a:cs typeface="Arial"/>
              </a:defRPr>
            </a:defPPr>
          </a:lstStyle>
          <a:p xmlns:a="http://schemas.openxmlformats.org/drawingml/2006/main">
            <a:pPr>
              <a:defRPr sz="3300" b="1">
                <a:solidFill>
                  <a:srgbClr val="102B32"/>
                </a:solidFill>
                <a:latin typeface="Arial"/>
                <a:ea typeface="Arial"/>
                <a:cs typeface="Arial"/>
              </a:defRPr>
            </a:pPr>
            <a:r>
              <a:rPr sz="3300" b="1">
                <a:solidFill>
                  <a:srgbClr val="102B32"/>
                </a:solidFill>
                <a:latin typeface="Arial"/>
                <a:ea typeface="Arial"/>
                <a:cs typeface="Arial"/>
              </a:rPr>
              <a:t>Measured retrieval improvement</a:t>
            </a:r>
          </a:p>
        </p:txBody>
      </p:sp>
      <p:sp>
        <p:nvSpPr>
          <p:cNvPr id="2" name="">
            <a:extLst xmlns:a="http://schemas.openxmlformats.org/drawingml/2006/main">
              <a:ext uri="{FF2B5EF4-FFF2-40B4-BE49-F238E27FC236}">
                <a16:creationId xmlns:a16="http://schemas.microsoft.com/office/drawing/2014/main" id="{80268231-5BA1-4E2F-90C8-3739B966F6EB}"/>
              </a:ext>
            </a:extLst>
          </p:cNvPr>
          <p:cNvSpPr>
            <a:spLocks xmlns:a="http://schemas.openxmlformats.org/drawingml/2006/main" noGrp="1"/>
          </p:cNvSpPr>
          <p:nvPr/>
        </p:nvSpPr>
        <p:spPr>
          <a:xfrm xmlns:a="http://schemas.openxmlformats.org/drawingml/2006/main">
            <a:off x="685800" y="630555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2676E"/>
                </a:solidFill>
                <a:latin typeface="Arial"/>
                <a:ea typeface="Arial"/>
                <a:cs typeface="Arial"/>
              </a:defRPr>
            </a:defPPr>
          </a:lstStyle>
          <a:p xmlns:a="http://schemas.openxmlformats.org/drawingml/2006/main">
            <a:pPr>
              <a:defRPr sz="1125" b="0">
                <a:solidFill>
                  <a:srgbClr val="52676E"/>
                </a:solidFill>
                <a:latin typeface="Arial"/>
                <a:ea typeface="Arial"/>
                <a:cs typeface="Arial"/>
              </a:defRPr>
            </a:pPr>
            <a:r>
              <a:rPr sz="1125" b="0">
                <a:solidFill>
                  <a:srgbClr val="52676E"/>
                </a:solidFill>
                <a:latin typeface="Arial"/>
                <a:ea typeface="Arial"/>
                <a:cs typeface="Arial"/>
              </a:rPr>
              <a:t>ECU REVIEW STUDIO</a:t>
            </a:r>
          </a:p>
        </p:txBody>
      </p:sp>
      <p:sp>
        <p:nvSpPr>
          <p:cNvPr id="3" name="">
            <a:extLst xmlns:a="http://schemas.openxmlformats.org/drawingml/2006/main">
              <a:ext uri="{FF2B5EF4-FFF2-40B4-BE49-F238E27FC236}">
                <a16:creationId xmlns:a16="http://schemas.microsoft.com/office/drawing/2014/main" id="{B132979A-1CF3-4BF5-AA3F-9C7C51100A7A}"/>
              </a:ext>
            </a:extLst>
          </p:cNvPr>
          <p:cNvSpPr>
            <a:spLocks xmlns:a="http://schemas.openxmlformats.org/drawingml/2006/main" noGrp="1"/>
          </p:cNvSpPr>
          <p:nvPr/>
        </p:nvSpPr>
        <p:spPr>
          <a:xfrm xmlns:a="http://schemas.openxmlformats.org/drawingml/2006/main">
            <a:off x="10953750" y="63055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2676E"/>
                </a:solidFill>
                <a:latin typeface="Arial"/>
                <a:ea typeface="Arial"/>
                <a:cs typeface="Arial"/>
              </a:defRPr>
            </a:defPPr>
          </a:lstStyle>
          <a:p xmlns:a="http://schemas.openxmlformats.org/drawingml/2006/main">
            <a:pPr>
              <a:defRPr sz="1125" b="0">
                <a:solidFill>
                  <a:srgbClr val="52676E"/>
                </a:solidFill>
                <a:latin typeface="Arial"/>
                <a:ea typeface="Arial"/>
                <a:cs typeface="Arial"/>
              </a:defRPr>
            </a:pPr>
            <a:r>
              <a:rPr sz="1125" b="0">
                <a:solidFill>
                  <a:srgbClr val="52676E"/>
                </a:solidFill>
                <a:latin typeface="Arial"/>
                <a:ea typeface="Arial"/>
                <a:cs typeface="Arial"/>
              </a:rPr>
              <a:t>10</a:t>
            </a:r>
          </a:p>
        </p:txBody>
      </p:sp>
      <p:graphicFrame>
        <p:nvGraphicFramePr>
          <p:cNvPr id="4" name="">
            <a:extLst xmlns:a="http://schemas.openxmlformats.org/drawingml/2006/main">
              <a:ext uri="{FF2B5EF4-FFF2-40B4-BE49-F238E27FC236}">
                <a16:creationId xmlns:a16="http://schemas.microsoft.com/office/drawing/2014/main" id="{F924B707-C807-42D1-BEDC-71D3B441607E}"/>
              </a:ext>
            </a:extLst>
          </p:cNvPr>
          <p:cNvGraphicFramePr/>
          <p:nvPr/>
        </p:nvGraphicFramePr>
        <p:xfrm>
          <a:off xmlns:a="http://schemas.openxmlformats.org/drawingml/2006/main" x="685800" y="1905000"/>
          <a:ext xmlns:a="http://schemas.openxmlformats.org/drawingml/2006/main" cx="10820400" cy="2714625"/>
        </p:xfrm>
        <a:graphic xmlns:a="http://schemas.openxmlformats.org/drawingml/2006/main">
          <a:graphicData uri="http://schemas.openxmlformats.org/drawingml/2006/table">
            <a:tbl>
              <a:tblPr/>
              <a:tblGrid>
                <a:gridCol w="4572000"/>
                <a:gridCol w="2762250"/>
                <a:gridCol w="3486150"/>
              </a:tblGrid>
              <a:tr h="678656">
                <a:tc>
                  <a:txBody>
                    <a:bodyPr>
                      <a:noAutofit/>
                    </a:bodyPr>
                    <a:lstStyle/>
                    <a:p>
                      <a:r>
                        <a:rPr sz="1725" b="1">
                          <a:solidFill>
                            <a:srgbClr val="FFFFFF"/>
                          </a:solidFill>
                          <a:latin typeface="Arial"/>
                          <a:ea typeface="Arial"/>
                          <a:cs typeface="Arial"/>
                        </a:rPr>
                        <a:t>Metric</a:t>
                      </a:r>
                    </a:p>
                  </a:txBody>
                  <a:tcPr marL="91440" marR="91440" marT="45720" marB="45720">
                    <a:lnL w="9525">
                      <a:solidFill>
                        <a:srgbClr val="D6E2E4"/>
                      </a:solidFill>
                      <a:prstDash val="solid"/>
                    </a:lnL>
                    <a:lnR w="9525">
                      <a:solidFill>
                        <a:srgbClr val="D6E2E4"/>
                      </a:solidFill>
                      <a:prstDash val="solid"/>
                    </a:lnR>
                    <a:lnT w="9525">
                      <a:solidFill>
                        <a:srgbClr val="D6E2E4"/>
                      </a:solidFill>
                      <a:prstDash val="solid"/>
                    </a:lnT>
                    <a:lnB w="9525">
                      <a:solidFill>
                        <a:srgbClr val="D6E2E4"/>
                      </a:solidFill>
                      <a:prstDash val="solid"/>
                    </a:lnB>
                    <a:solidFill>
                      <a:srgbClr val="102B32"/>
                    </a:solidFill>
                  </a:tcPr>
                </a:tc>
                <a:tc>
                  <a:txBody>
                    <a:bodyPr>
                      <a:noAutofit/>
                    </a:bodyPr>
                    <a:lstStyle/>
                    <a:p>
                      <a:r>
                        <a:rPr sz="1725" b="1">
                          <a:solidFill>
                            <a:srgbClr val="FFFFFF"/>
                          </a:solidFill>
                          <a:latin typeface="Arial"/>
                          <a:ea typeface="Arial"/>
                          <a:cs typeface="Arial"/>
                        </a:rPr>
                        <a:t>Lexical BM25</a:t>
                      </a:r>
                    </a:p>
                  </a:txBody>
                  <a:tcPr marL="91440" marR="91440" marT="45720" marB="45720">
                    <a:lnR w="9525">
                      <a:solidFill>
                        <a:srgbClr val="D6E2E4"/>
                      </a:solidFill>
                      <a:prstDash val="solid"/>
                    </a:lnR>
                    <a:lnT w="9525">
                      <a:solidFill>
                        <a:srgbClr val="D6E2E4"/>
                      </a:solidFill>
                      <a:prstDash val="solid"/>
                    </a:lnT>
                    <a:lnB w="9525">
                      <a:solidFill>
                        <a:srgbClr val="D6E2E4"/>
                      </a:solidFill>
                      <a:prstDash val="solid"/>
                    </a:lnB>
                    <a:solidFill>
                      <a:srgbClr val="102B32"/>
                    </a:solidFill>
                  </a:tcPr>
                </a:tc>
                <a:tc>
                  <a:txBody>
                    <a:bodyPr>
                      <a:noAutofit/>
                    </a:bodyPr>
                    <a:lstStyle/>
                    <a:p>
                      <a:r>
                        <a:rPr sz="1725" b="1">
                          <a:solidFill>
                            <a:srgbClr val="FFFFFF"/>
                          </a:solidFill>
                          <a:latin typeface="Arial"/>
                          <a:ea typeface="Arial"/>
                          <a:cs typeface="Arial"/>
                        </a:rPr>
                        <a:t>Hybrid BM25 + dense</a:t>
                      </a:r>
                    </a:p>
                  </a:txBody>
                  <a:tcPr marL="91440" marR="91440" marT="45720" marB="45720">
                    <a:lnR w="9525">
                      <a:solidFill>
                        <a:srgbClr val="D6E2E4"/>
                      </a:solidFill>
                      <a:prstDash val="solid"/>
                    </a:lnR>
                    <a:lnT w="9525">
                      <a:solidFill>
                        <a:srgbClr val="D6E2E4"/>
                      </a:solidFill>
                      <a:prstDash val="solid"/>
                    </a:lnT>
                    <a:lnB w="9525">
                      <a:solidFill>
                        <a:srgbClr val="D6E2E4"/>
                      </a:solidFill>
                      <a:prstDash val="solid"/>
                    </a:lnB>
                    <a:solidFill>
                      <a:srgbClr val="102B32"/>
                    </a:solidFill>
                  </a:tcPr>
                </a:tc>
              </a:tr>
              <a:tr h="678656">
                <a:tc>
                  <a:txBody>
                    <a:bodyPr>
                      <a:noAutofit/>
                    </a:bodyPr>
                    <a:lstStyle/>
                    <a:p>
                      <a:r>
                        <a:rPr sz="1725" b="0">
                          <a:solidFill>
                            <a:srgbClr val="182E35"/>
                          </a:solidFill>
                          <a:latin typeface="Arial"/>
                          <a:ea typeface="Arial"/>
                          <a:cs typeface="Arial"/>
                        </a:rPr>
                        <a:t>Recall at 5</a:t>
                      </a:r>
                    </a:p>
                  </a:txBody>
                  <a:tcPr marL="91440" marR="91440" marT="45720" marB="45720">
                    <a:lnL w="9525">
                      <a:solidFill>
                        <a:srgbClr val="D6E2E4"/>
                      </a:solidFill>
                      <a:prstDash val="solid"/>
                    </a:lnL>
                    <a:lnR w="9525">
                      <a:solidFill>
                        <a:srgbClr val="D6E2E4"/>
                      </a:solidFill>
                      <a:prstDash val="solid"/>
                    </a:lnR>
                    <a:lnB w="9525">
                      <a:solidFill>
                        <a:srgbClr val="D6E2E4"/>
                      </a:solidFill>
                      <a:prstDash val="solid"/>
                    </a:lnB>
                    <a:solidFill>
                      <a:srgbClr val="FFFFFF"/>
                    </a:solidFill>
                  </a:tcPr>
                </a:tc>
                <a:tc>
                  <a:txBody>
                    <a:bodyPr>
                      <a:noAutofit/>
                    </a:bodyPr>
                    <a:lstStyle/>
                    <a:p>
                      <a:r>
                        <a:rPr sz="1725" b="0">
                          <a:solidFill>
                            <a:srgbClr val="182E35"/>
                          </a:solidFill>
                          <a:latin typeface="Arial"/>
                          <a:ea typeface="Arial"/>
                          <a:cs typeface="Arial"/>
                        </a:rPr>
                        <a:t>90%</a:t>
                      </a:r>
                    </a:p>
                  </a:txBody>
                  <a:tcPr marL="91440" marR="91440" marT="45720" marB="45720">
                    <a:lnR w="9525">
                      <a:solidFill>
                        <a:srgbClr val="D6E2E4"/>
                      </a:solidFill>
                      <a:prstDash val="solid"/>
                    </a:lnR>
                    <a:lnB w="9525">
                      <a:solidFill>
                        <a:srgbClr val="D6E2E4"/>
                      </a:solidFill>
                      <a:prstDash val="solid"/>
                    </a:lnB>
                    <a:solidFill>
                      <a:srgbClr val="FFFFFF"/>
                    </a:solidFill>
                  </a:tcPr>
                </a:tc>
                <a:tc>
                  <a:txBody>
                    <a:bodyPr>
                      <a:noAutofit/>
                    </a:bodyPr>
                    <a:lstStyle/>
                    <a:p>
                      <a:r>
                        <a:rPr sz="1725" b="0">
                          <a:solidFill>
                            <a:srgbClr val="182E35"/>
                          </a:solidFill>
                          <a:latin typeface="Arial"/>
                          <a:ea typeface="Arial"/>
                          <a:cs typeface="Arial"/>
                        </a:rPr>
                        <a:t>95%</a:t>
                      </a:r>
                    </a:p>
                  </a:txBody>
                  <a:tcPr marL="91440" marR="91440" marT="45720" marB="45720">
                    <a:lnR w="9525">
                      <a:solidFill>
                        <a:srgbClr val="D6E2E4"/>
                      </a:solidFill>
                      <a:prstDash val="solid"/>
                    </a:lnR>
                    <a:lnB w="9525">
                      <a:solidFill>
                        <a:srgbClr val="D6E2E4"/>
                      </a:solidFill>
                      <a:prstDash val="solid"/>
                    </a:lnB>
                    <a:solidFill>
                      <a:srgbClr val="FFFFFF"/>
                    </a:solidFill>
                  </a:tcPr>
                </a:tc>
              </a:tr>
              <a:tr h="678656">
                <a:tc>
                  <a:txBody>
                    <a:bodyPr>
                      <a:noAutofit/>
                    </a:bodyPr>
                    <a:lstStyle/>
                    <a:p>
                      <a:r>
                        <a:rPr sz="1725" b="0">
                          <a:solidFill>
                            <a:srgbClr val="182E35"/>
                          </a:solidFill>
                          <a:latin typeface="Arial"/>
                          <a:ea typeface="Arial"/>
                          <a:cs typeface="Arial"/>
                        </a:rPr>
                        <a:t>Top-one accuracy</a:t>
                      </a:r>
                    </a:p>
                  </a:txBody>
                  <a:tcPr marL="91440" marR="91440" marT="45720" marB="45720">
                    <a:lnL w="9525">
                      <a:solidFill>
                        <a:srgbClr val="D6E2E4"/>
                      </a:solidFill>
                      <a:prstDash val="solid"/>
                    </a:lnL>
                    <a:lnR w="9525">
                      <a:solidFill>
                        <a:srgbClr val="D6E2E4"/>
                      </a:solidFill>
                      <a:prstDash val="solid"/>
                    </a:lnR>
                    <a:lnB w="9525">
                      <a:solidFill>
                        <a:srgbClr val="D6E2E4"/>
                      </a:solidFill>
                      <a:prstDash val="solid"/>
                    </a:lnB>
                    <a:solidFill>
                      <a:srgbClr val="E9F1F2"/>
                    </a:solidFill>
                  </a:tcPr>
                </a:tc>
                <a:tc>
                  <a:txBody>
                    <a:bodyPr>
                      <a:noAutofit/>
                    </a:bodyPr>
                    <a:lstStyle/>
                    <a:p>
                      <a:r>
                        <a:rPr sz="1725" b="0">
                          <a:solidFill>
                            <a:srgbClr val="182E35"/>
                          </a:solidFill>
                          <a:latin typeface="Arial"/>
                          <a:ea typeface="Arial"/>
                          <a:cs typeface="Arial"/>
                        </a:rPr>
                        <a:t>70%</a:t>
                      </a:r>
                    </a:p>
                  </a:txBody>
                  <a:tcPr marL="91440" marR="91440" marT="45720" marB="45720">
                    <a:lnR w="9525">
                      <a:solidFill>
                        <a:srgbClr val="D6E2E4"/>
                      </a:solidFill>
                      <a:prstDash val="solid"/>
                    </a:lnR>
                    <a:lnB w="9525">
                      <a:solidFill>
                        <a:srgbClr val="D6E2E4"/>
                      </a:solidFill>
                      <a:prstDash val="solid"/>
                    </a:lnB>
                    <a:solidFill>
                      <a:srgbClr val="E9F1F2"/>
                    </a:solidFill>
                  </a:tcPr>
                </a:tc>
                <a:tc>
                  <a:txBody>
                    <a:bodyPr>
                      <a:noAutofit/>
                    </a:bodyPr>
                    <a:lstStyle/>
                    <a:p>
                      <a:r>
                        <a:rPr sz="1725" b="0">
                          <a:solidFill>
                            <a:srgbClr val="182E35"/>
                          </a:solidFill>
                          <a:latin typeface="Arial"/>
                          <a:ea typeface="Arial"/>
                          <a:cs typeface="Arial"/>
                        </a:rPr>
                        <a:t>85%</a:t>
                      </a:r>
                    </a:p>
                  </a:txBody>
                  <a:tcPr marL="91440" marR="91440" marT="45720" marB="45720">
                    <a:lnR w="9525">
                      <a:solidFill>
                        <a:srgbClr val="D6E2E4"/>
                      </a:solidFill>
                      <a:prstDash val="solid"/>
                    </a:lnR>
                    <a:lnB w="9525">
                      <a:solidFill>
                        <a:srgbClr val="D6E2E4"/>
                      </a:solidFill>
                      <a:prstDash val="solid"/>
                    </a:lnB>
                    <a:solidFill>
                      <a:srgbClr val="E9F1F2"/>
                    </a:solidFill>
                  </a:tcPr>
                </a:tc>
              </a:tr>
              <a:tr h="678656">
                <a:tc>
                  <a:txBody>
                    <a:bodyPr>
                      <a:noAutofit/>
                    </a:bodyPr>
                    <a:lstStyle/>
                    <a:p>
                      <a:r>
                        <a:rPr sz="1725" b="0">
                          <a:solidFill>
                            <a:srgbClr val="182E35"/>
                          </a:solidFill>
                          <a:latin typeface="Arial"/>
                          <a:ea typeface="Arial"/>
                          <a:cs typeface="Arial"/>
                        </a:rPr>
                        <a:t>MRR at 5</a:t>
                      </a:r>
                    </a:p>
                  </a:txBody>
                  <a:tcPr marL="91440" marR="91440" marT="45720" marB="45720">
                    <a:lnL w="9525">
                      <a:solidFill>
                        <a:srgbClr val="D6E2E4"/>
                      </a:solidFill>
                      <a:prstDash val="solid"/>
                    </a:lnL>
                    <a:lnR w="9525">
                      <a:solidFill>
                        <a:srgbClr val="D6E2E4"/>
                      </a:solidFill>
                      <a:prstDash val="solid"/>
                    </a:lnR>
                    <a:lnB w="9525">
                      <a:solidFill>
                        <a:srgbClr val="D6E2E4"/>
                      </a:solidFill>
                      <a:prstDash val="solid"/>
                    </a:lnB>
                    <a:solidFill>
                      <a:srgbClr val="FFFFFF"/>
                    </a:solidFill>
                  </a:tcPr>
                </a:tc>
                <a:tc>
                  <a:txBody>
                    <a:bodyPr>
                      <a:noAutofit/>
                    </a:bodyPr>
                    <a:lstStyle/>
                    <a:p>
                      <a:r>
                        <a:rPr sz="1725" b="0">
                          <a:solidFill>
                            <a:srgbClr val="182E35"/>
                          </a:solidFill>
                          <a:latin typeface="Arial"/>
                          <a:ea typeface="Arial"/>
                          <a:cs typeface="Arial"/>
                        </a:rPr>
                        <a:t>0.792</a:t>
                      </a:r>
                    </a:p>
                  </a:txBody>
                  <a:tcPr marL="91440" marR="91440" marT="45720" marB="45720">
                    <a:lnR w="9525">
                      <a:solidFill>
                        <a:srgbClr val="D6E2E4"/>
                      </a:solidFill>
                      <a:prstDash val="solid"/>
                    </a:lnR>
                    <a:lnB w="9525">
                      <a:solidFill>
                        <a:srgbClr val="D6E2E4"/>
                      </a:solidFill>
                      <a:prstDash val="solid"/>
                    </a:lnB>
                    <a:solidFill>
                      <a:srgbClr val="FFFFFF"/>
                    </a:solidFill>
                  </a:tcPr>
                </a:tc>
                <a:tc>
                  <a:txBody>
                    <a:bodyPr>
                      <a:noAutofit/>
                    </a:bodyPr>
                    <a:lstStyle/>
                    <a:p>
                      <a:r>
                        <a:rPr sz="1725" b="0">
                          <a:solidFill>
                            <a:srgbClr val="182E35"/>
                          </a:solidFill>
                          <a:latin typeface="Arial"/>
                          <a:ea typeface="Arial"/>
                          <a:cs typeface="Arial"/>
                        </a:rPr>
                        <a:t>0.892</a:t>
                      </a:r>
                    </a:p>
                  </a:txBody>
                  <a:tcPr marL="91440" marR="91440" marT="45720" marB="45720">
                    <a:lnR w="9525">
                      <a:solidFill>
                        <a:srgbClr val="D6E2E4"/>
                      </a:solidFill>
                      <a:prstDash val="solid"/>
                    </a:lnR>
                    <a:lnB w="9525">
                      <a:solidFill>
                        <a:srgbClr val="D6E2E4"/>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C75AEF29-27C8-416C-B685-7C7406F8C257}"/>
              </a:ext>
            </a:extLst>
          </p:cNvPr>
          <p:cNvSpPr>
            <a:spLocks xmlns:a="http://schemas.openxmlformats.org/drawingml/2006/main" noGrp="1"/>
          </p:cNvSpPr>
          <p:nvPr/>
        </p:nvSpPr>
        <p:spPr>
          <a:xfrm xmlns:a="http://schemas.openxmlformats.org/drawingml/2006/main">
            <a:off x="685800" y="523875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52676E"/>
                </a:solidFill>
                <a:latin typeface="Arial"/>
                <a:ea typeface="Arial"/>
                <a:cs typeface="Arial"/>
              </a:defRPr>
            </a:defPPr>
          </a:lstStyle>
          <a:p xmlns:a="http://schemas.openxmlformats.org/drawingml/2006/main">
            <a:pPr>
              <a:defRPr sz="2025" b="0">
                <a:solidFill>
                  <a:srgbClr val="52676E"/>
                </a:solidFill>
                <a:latin typeface="Arial"/>
                <a:ea typeface="Arial"/>
                <a:cs typeface="Arial"/>
              </a:defRPr>
            </a:pPr>
            <a:r>
              <a:rPr sz="2025" b="0">
                <a:solidFill>
                  <a:srgbClr val="52676E"/>
                </a:solidFill>
                <a:latin typeface="Arial"/>
                <a:ea typeface="Arial"/>
                <a:cs typeface="Arial"/>
              </a:rPr>
              <a:t>One hybrid miss remains visible. A 20-query result needs a larger independent follow-up.</a:t>
            </a:r>
          </a:p>
        </p:txBody>
      </p:sp>
    </p:spTree>
    <p:extLst>
      <p:ext uri="{BB962C8B-B14F-4D97-AF65-F5344CB8AC3E}">
        <p14:creationId xmlns:p14="http://schemas.microsoft.com/office/powerpoint/2010/main" val="214537938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67C5EA5-25E9-4B57-8A32-CCF4C208294B}"/>
              </a:ext>
            </a:extLst>
          </p:cNvPr>
          <p:cNvSpPr>
            <a:spLocks xmlns:a="http://schemas.openxmlformats.org/drawingml/2006/main" noGrp="1"/>
          </p:cNvSpPr>
          <p:nvPr/>
        </p:nvSpPr>
        <p:spPr>
          <a:xfrm xmlns:a="http://schemas.openxmlformats.org/drawingml/2006/main">
            <a:off x="685800" y="5334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02B32"/>
                </a:solidFill>
                <a:latin typeface="Arial"/>
                <a:ea typeface="Arial"/>
                <a:cs typeface="Arial"/>
              </a:defRPr>
            </a:defPPr>
          </a:lstStyle>
          <a:p xmlns:a="http://schemas.openxmlformats.org/drawingml/2006/main">
            <a:pPr>
              <a:defRPr sz="3300" b="1">
                <a:solidFill>
                  <a:srgbClr val="102B32"/>
                </a:solidFill>
                <a:latin typeface="Arial"/>
                <a:ea typeface="Arial"/>
                <a:cs typeface="Arial"/>
              </a:defRPr>
            </a:pPr>
            <a:r>
              <a:rPr sz="3300" b="1">
                <a:solidFill>
                  <a:srgbClr val="102B32"/>
                </a:solidFill>
                <a:latin typeface="Arial"/>
                <a:ea typeface="Arial"/>
                <a:cs typeface="Arial"/>
              </a:rPr>
              <a:t>Actual generation and component evidence</a:t>
            </a:r>
          </a:p>
        </p:txBody>
      </p:sp>
      <p:sp>
        <p:nvSpPr>
          <p:cNvPr id="2" name="">
            <a:extLst xmlns:a="http://schemas.openxmlformats.org/drawingml/2006/main">
              <a:ext uri="{FF2B5EF4-FFF2-40B4-BE49-F238E27FC236}">
                <a16:creationId xmlns:a16="http://schemas.microsoft.com/office/drawing/2014/main" id="{FFA3EF08-8D79-48E5-96EC-55233361BAB6}"/>
              </a:ext>
            </a:extLst>
          </p:cNvPr>
          <p:cNvSpPr>
            <a:spLocks xmlns:a="http://schemas.openxmlformats.org/drawingml/2006/main" noGrp="1"/>
          </p:cNvSpPr>
          <p:nvPr/>
        </p:nvSpPr>
        <p:spPr>
          <a:xfrm xmlns:a="http://schemas.openxmlformats.org/drawingml/2006/main">
            <a:off x="685800" y="630555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2676E"/>
                </a:solidFill>
                <a:latin typeface="Arial"/>
                <a:ea typeface="Arial"/>
                <a:cs typeface="Arial"/>
              </a:defRPr>
            </a:defPPr>
          </a:lstStyle>
          <a:p xmlns:a="http://schemas.openxmlformats.org/drawingml/2006/main">
            <a:pPr>
              <a:defRPr sz="1125" b="0">
                <a:solidFill>
                  <a:srgbClr val="52676E"/>
                </a:solidFill>
                <a:latin typeface="Arial"/>
                <a:ea typeface="Arial"/>
                <a:cs typeface="Arial"/>
              </a:defRPr>
            </a:pPr>
            <a:r>
              <a:rPr sz="1125" b="0">
                <a:solidFill>
                  <a:srgbClr val="52676E"/>
                </a:solidFill>
                <a:latin typeface="Arial"/>
                <a:ea typeface="Arial"/>
                <a:cs typeface="Arial"/>
              </a:rPr>
              <a:t>ECU REVIEW STUDIO</a:t>
            </a:r>
          </a:p>
        </p:txBody>
      </p:sp>
      <p:sp>
        <p:nvSpPr>
          <p:cNvPr id="3" name="">
            <a:extLst xmlns:a="http://schemas.openxmlformats.org/drawingml/2006/main">
              <a:ext uri="{FF2B5EF4-FFF2-40B4-BE49-F238E27FC236}">
                <a16:creationId xmlns:a16="http://schemas.microsoft.com/office/drawing/2014/main" id="{864D8CB7-4E02-429A-A886-966634191C08}"/>
              </a:ext>
            </a:extLst>
          </p:cNvPr>
          <p:cNvSpPr>
            <a:spLocks xmlns:a="http://schemas.openxmlformats.org/drawingml/2006/main" noGrp="1"/>
          </p:cNvSpPr>
          <p:nvPr/>
        </p:nvSpPr>
        <p:spPr>
          <a:xfrm xmlns:a="http://schemas.openxmlformats.org/drawingml/2006/main">
            <a:off x="10953750" y="63055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2676E"/>
                </a:solidFill>
                <a:latin typeface="Arial"/>
                <a:ea typeface="Arial"/>
                <a:cs typeface="Arial"/>
              </a:defRPr>
            </a:defPPr>
          </a:lstStyle>
          <a:p xmlns:a="http://schemas.openxmlformats.org/drawingml/2006/main">
            <a:pPr>
              <a:defRPr sz="1125" b="0">
                <a:solidFill>
                  <a:srgbClr val="52676E"/>
                </a:solidFill>
                <a:latin typeface="Arial"/>
                <a:ea typeface="Arial"/>
                <a:cs typeface="Arial"/>
              </a:defRPr>
            </a:pPr>
            <a:r>
              <a:rPr sz="1125" b="0">
                <a:solidFill>
                  <a:srgbClr val="52676E"/>
                </a:solidFill>
                <a:latin typeface="Arial"/>
                <a:ea typeface="Arial"/>
                <a:cs typeface="Arial"/>
              </a:rPr>
              <a:t>11</a:t>
            </a:r>
          </a:p>
        </p:txBody>
      </p:sp>
      <p:sp>
        <p:nvSpPr>
          <p:cNvPr id="4" name="">
            <a:extLst xmlns:a="http://schemas.openxmlformats.org/drawingml/2006/main">
              <a:ext uri="{FF2B5EF4-FFF2-40B4-BE49-F238E27FC236}">
                <a16:creationId xmlns:a16="http://schemas.microsoft.com/office/drawing/2014/main" id="{C5DEA160-0877-4DE4-8F8B-0C4D5B87C4C0}"/>
              </a:ext>
            </a:extLst>
          </p:cNvPr>
          <p:cNvSpPr>
            <a:spLocks xmlns:a="http://schemas.openxmlformats.org/drawingml/2006/main" noGrp="1"/>
          </p:cNvSpPr>
          <p:nvPr/>
        </p:nvSpPr>
        <p:spPr>
          <a:xfrm xmlns:a="http://schemas.openxmlformats.org/drawingml/2006/main">
            <a:off x="685800" y="1762125"/>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450" b="1">
                <a:solidFill>
                  <a:srgbClr val="087F75"/>
                </a:solidFill>
                <a:latin typeface="Arial"/>
                <a:ea typeface="Arial"/>
                <a:cs typeface="Arial"/>
              </a:defRPr>
            </a:defPPr>
          </a:lstStyle>
          <a:p xmlns:a="http://schemas.openxmlformats.org/drawingml/2006/main">
            <a:pPr>
              <a:defRPr sz="3450" b="1">
                <a:solidFill>
                  <a:srgbClr val="087F75"/>
                </a:solidFill>
                <a:latin typeface="Arial"/>
                <a:ea typeface="Arial"/>
                <a:cs typeface="Arial"/>
              </a:defRPr>
            </a:pPr>
            <a:r>
              <a:rPr sz="3450" b="1">
                <a:solidFill>
                  <a:srgbClr val="087F75"/>
                </a:solidFill>
                <a:latin typeface="Arial"/>
                <a:ea typeface="Arial"/>
                <a:cs typeface="Arial"/>
              </a:rPr>
              <a:t>93 automated tests passed</a:t>
            </a:r>
          </a:p>
        </p:txBody>
      </p:sp>
      <p:sp>
        <p:nvSpPr>
          <p:cNvPr id="5" name="">
            <a:extLst xmlns:a="http://schemas.openxmlformats.org/drawingml/2006/main">
              <a:ext uri="{FF2B5EF4-FFF2-40B4-BE49-F238E27FC236}">
                <a16:creationId xmlns:a16="http://schemas.microsoft.com/office/drawing/2014/main" id="{AA5B1FF4-C67B-4E39-AB77-C03D1F4DE3D5}"/>
              </a:ext>
            </a:extLst>
          </p:cNvPr>
          <p:cNvSpPr>
            <a:spLocks xmlns:a="http://schemas.openxmlformats.org/drawingml/2006/main" noGrp="1"/>
          </p:cNvSpPr>
          <p:nvPr/>
        </p:nvSpPr>
        <p:spPr>
          <a:xfrm xmlns:a="http://schemas.openxmlformats.org/drawingml/2006/main">
            <a:off x="685800" y="2952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82E35"/>
                </a:solidFill>
                <a:latin typeface="Arial"/>
                <a:ea typeface="Arial"/>
                <a:cs typeface="Arial"/>
              </a:defRPr>
            </a:defPPr>
          </a:lstStyle>
          <a:p xmlns:a="http://schemas.openxmlformats.org/drawingml/2006/main">
            <a:pPr>
              <a:defRPr sz="2025" b="0">
                <a:solidFill>
                  <a:srgbClr val="182E35"/>
                </a:solidFill>
                <a:latin typeface="Arial"/>
                <a:ea typeface="Arial"/>
                <a:cs typeface="Arial"/>
              </a:defRPr>
            </a:pPr>
            <a:r>
              <a:rPr sz="2025" b="0">
                <a:solidFill>
                  <a:srgbClr val="182E35"/>
                </a:solidFill>
                <a:latin typeface="Arial"/>
                <a:ea typeface="Arial"/>
                <a:cs typeface="Arial"/>
              </a:rPr>
              <a:t>Local llama3.1 generated both defect reviews.</a:t>
            </a:r>
          </a:p>
        </p:txBody>
      </p:sp>
      <p:sp>
        <p:nvSpPr>
          <p:cNvPr id="6" name="">
            <a:extLst xmlns:a="http://schemas.openxmlformats.org/drawingml/2006/main">
              <a:ext uri="{FF2B5EF4-FFF2-40B4-BE49-F238E27FC236}">
                <a16:creationId xmlns:a16="http://schemas.microsoft.com/office/drawing/2014/main" id="{D2F15DAA-D197-47CA-86A5-DD70343C7627}"/>
              </a:ext>
            </a:extLst>
          </p:cNvPr>
          <p:cNvSpPr>
            <a:spLocks xmlns:a="http://schemas.openxmlformats.org/drawingml/2006/main" noGrp="1"/>
          </p:cNvSpPr>
          <p:nvPr/>
        </p:nvSpPr>
        <p:spPr>
          <a:xfrm xmlns:a="http://schemas.openxmlformats.org/drawingml/2006/main">
            <a:off x="685800" y="36766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82E35"/>
                </a:solidFill>
                <a:latin typeface="Arial"/>
                <a:ea typeface="Arial"/>
                <a:cs typeface="Arial"/>
              </a:defRPr>
            </a:defPPr>
          </a:lstStyle>
          <a:p xmlns:a="http://schemas.openxmlformats.org/drawingml/2006/main">
            <a:pPr>
              <a:defRPr sz="2025" b="0">
                <a:solidFill>
                  <a:srgbClr val="182E35"/>
                </a:solidFill>
                <a:latin typeface="Arial"/>
                <a:ea typeface="Arial"/>
                <a:cs typeface="Arial"/>
              </a:defRPr>
            </a:pPr>
            <a:r>
              <a:rPr sz="2025" b="0">
                <a:solidFill>
                  <a:srgbClr val="182E35"/>
                </a:solidFill>
                <a:latin typeface="Arial"/>
                <a:ea typeface="Arial"/>
                <a:cs typeface="Arial"/>
              </a:rPr>
              <a:t>Unsafe-copy evidence passed. Unsupported zero-division model evidence was rejected.</a:t>
            </a:r>
          </a:p>
        </p:txBody>
      </p:sp>
      <p:sp>
        <p:nvSpPr>
          <p:cNvPr id="7" name="">
            <a:extLst xmlns:a="http://schemas.openxmlformats.org/drawingml/2006/main">
              <a:ext uri="{FF2B5EF4-FFF2-40B4-BE49-F238E27FC236}">
                <a16:creationId xmlns:a16="http://schemas.microsoft.com/office/drawing/2014/main" id="{C126FAEE-19A0-4D8E-918A-00B1183F0803}"/>
              </a:ext>
            </a:extLst>
          </p:cNvPr>
          <p:cNvSpPr>
            <a:spLocks xmlns:a="http://schemas.openxmlformats.org/drawingml/2006/main" noGrp="1"/>
          </p:cNvSpPr>
          <p:nvPr/>
        </p:nvSpPr>
        <p:spPr>
          <a:xfrm xmlns:a="http://schemas.openxmlformats.org/drawingml/2006/main">
            <a:off x="685800" y="44005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82E35"/>
                </a:solidFill>
                <a:latin typeface="Arial"/>
                <a:ea typeface="Arial"/>
                <a:cs typeface="Arial"/>
              </a:defRPr>
            </a:defPPr>
          </a:lstStyle>
          <a:p xmlns:a="http://schemas.openxmlformats.org/drawingml/2006/main">
            <a:pPr>
              <a:defRPr sz="2025" b="0">
                <a:solidFill>
                  <a:srgbClr val="182E35"/>
                </a:solidFill>
                <a:latin typeface="Arial"/>
                <a:ea typeface="Arial"/>
                <a:cs typeface="Arial"/>
              </a:defRPr>
            </a:pPr>
            <a:r>
              <a:rPr sz="2025" b="0">
                <a:solidFill>
                  <a:srgbClr val="182E35"/>
                </a:solidFill>
                <a:latin typeface="Arial"/>
                <a:ea typeface="Arial"/>
                <a:cs typeface="Arial"/>
              </a:rPr>
              <a:t>A clean comparison did not claim a matching rule.</a:t>
            </a:r>
          </a:p>
        </p:txBody>
      </p:sp>
      <p:sp>
        <p:nvSpPr>
          <p:cNvPr id="8" name="">
            <a:extLst xmlns:a="http://schemas.openxmlformats.org/drawingml/2006/main">
              <a:ext uri="{FF2B5EF4-FFF2-40B4-BE49-F238E27FC236}">
                <a16:creationId xmlns:a16="http://schemas.microsoft.com/office/drawing/2014/main" id="{BCA49A68-5C72-4338-B30B-60744352DA58}"/>
              </a:ext>
            </a:extLst>
          </p:cNvPr>
          <p:cNvSpPr>
            <a:spLocks xmlns:a="http://schemas.openxmlformats.org/drawingml/2006/main" noGrp="1"/>
          </p:cNvSpPr>
          <p:nvPr/>
        </p:nvSpPr>
        <p:spPr>
          <a:xfrm xmlns:a="http://schemas.openxmlformats.org/drawingml/2006/main">
            <a:off x="685800" y="51244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82E35"/>
                </a:solidFill>
                <a:latin typeface="Arial"/>
                <a:ea typeface="Arial"/>
                <a:cs typeface="Arial"/>
              </a:defRPr>
            </a:defPPr>
          </a:lstStyle>
          <a:p xmlns:a="http://schemas.openxmlformats.org/drawingml/2006/main">
            <a:pPr>
              <a:defRPr sz="2025" b="0">
                <a:solidFill>
                  <a:srgbClr val="182E35"/>
                </a:solidFill>
                <a:latin typeface="Arial"/>
                <a:ea typeface="Arial"/>
                <a:cs typeface="Arial"/>
              </a:defRPr>
            </a:pPr>
            <a:r>
              <a:rPr sz="2025" b="0">
                <a:solidFill>
                  <a:srgbClr val="182E35"/>
                </a:solidFill>
                <a:latin typeface="Arial"/>
                <a:ea typeface="Arial"/>
                <a:cs typeface="Arial"/>
              </a:rPr>
              <a:t>Actual SARIF gates fail faulty input and pass the cleaner comparison.</a:t>
            </a:r>
          </a:p>
        </p:txBody>
      </p:sp>
    </p:spTree>
    <p:extLst>
      <p:ext uri="{BB962C8B-B14F-4D97-AF65-F5344CB8AC3E}">
        <p14:creationId xmlns:p14="http://schemas.microsoft.com/office/powerpoint/2010/main" val="164482204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D823ADB-8095-48F4-A386-B2E7ABDCD5C3}"/>
              </a:ext>
            </a:extLst>
          </p:cNvPr>
          <p:cNvSpPr>
            <a:spLocks xmlns:a="http://schemas.openxmlformats.org/drawingml/2006/main" noGrp="1"/>
          </p:cNvSpPr>
          <p:nvPr/>
        </p:nvSpPr>
        <p:spPr>
          <a:xfrm xmlns:a="http://schemas.openxmlformats.org/drawingml/2006/main">
            <a:off x="685800" y="5334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02B32"/>
                </a:solidFill>
                <a:latin typeface="Arial"/>
                <a:ea typeface="Arial"/>
                <a:cs typeface="Arial"/>
              </a:defRPr>
            </a:defPPr>
          </a:lstStyle>
          <a:p xmlns:a="http://schemas.openxmlformats.org/drawingml/2006/main">
            <a:pPr>
              <a:defRPr sz="3300" b="1">
                <a:solidFill>
                  <a:srgbClr val="102B32"/>
                </a:solidFill>
                <a:latin typeface="Arial"/>
                <a:ea typeface="Arial"/>
                <a:cs typeface="Arial"/>
              </a:defRPr>
            </a:pPr>
            <a:r>
              <a:rPr sz="3300" b="1">
                <a:solidFill>
                  <a:srgbClr val="102B32"/>
                </a:solidFill>
                <a:latin typeface="Arial"/>
                <a:ea typeface="Arial"/>
                <a:cs typeface="Arial"/>
              </a:rPr>
              <a:t>The reviewer can inspect the evidence</a:t>
            </a:r>
          </a:p>
        </p:txBody>
      </p:sp>
      <p:sp>
        <p:nvSpPr>
          <p:cNvPr id="2" name="">
            <a:extLst xmlns:a="http://schemas.openxmlformats.org/drawingml/2006/main">
              <a:ext uri="{FF2B5EF4-FFF2-40B4-BE49-F238E27FC236}">
                <a16:creationId xmlns:a16="http://schemas.microsoft.com/office/drawing/2014/main" id="{54E5F3C9-5A31-4FEA-AF16-8C6E4FC9D6C4}"/>
              </a:ext>
            </a:extLst>
          </p:cNvPr>
          <p:cNvSpPr>
            <a:spLocks xmlns:a="http://schemas.openxmlformats.org/drawingml/2006/main" noGrp="1"/>
          </p:cNvSpPr>
          <p:nvPr/>
        </p:nvSpPr>
        <p:spPr>
          <a:xfrm xmlns:a="http://schemas.openxmlformats.org/drawingml/2006/main">
            <a:off x="685800" y="630555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2676E"/>
                </a:solidFill>
                <a:latin typeface="Arial"/>
                <a:ea typeface="Arial"/>
                <a:cs typeface="Arial"/>
              </a:defRPr>
            </a:defPPr>
          </a:lstStyle>
          <a:p xmlns:a="http://schemas.openxmlformats.org/drawingml/2006/main">
            <a:pPr>
              <a:defRPr sz="1125" b="0">
                <a:solidFill>
                  <a:srgbClr val="52676E"/>
                </a:solidFill>
                <a:latin typeface="Arial"/>
                <a:ea typeface="Arial"/>
                <a:cs typeface="Arial"/>
              </a:defRPr>
            </a:pPr>
            <a:r>
              <a:rPr sz="1125" b="0">
                <a:solidFill>
                  <a:srgbClr val="52676E"/>
                </a:solidFill>
                <a:latin typeface="Arial"/>
                <a:ea typeface="Arial"/>
                <a:cs typeface="Arial"/>
              </a:rPr>
              <a:t>ECU REVIEW STUDIO</a:t>
            </a:r>
          </a:p>
        </p:txBody>
      </p:sp>
      <p:sp>
        <p:nvSpPr>
          <p:cNvPr id="3" name="">
            <a:extLst xmlns:a="http://schemas.openxmlformats.org/drawingml/2006/main">
              <a:ext uri="{FF2B5EF4-FFF2-40B4-BE49-F238E27FC236}">
                <a16:creationId xmlns:a16="http://schemas.microsoft.com/office/drawing/2014/main" id="{7B4EE225-FF40-4496-9289-8DD4E695B587}"/>
              </a:ext>
            </a:extLst>
          </p:cNvPr>
          <p:cNvSpPr>
            <a:spLocks xmlns:a="http://schemas.openxmlformats.org/drawingml/2006/main" noGrp="1"/>
          </p:cNvSpPr>
          <p:nvPr/>
        </p:nvSpPr>
        <p:spPr>
          <a:xfrm xmlns:a="http://schemas.openxmlformats.org/drawingml/2006/main">
            <a:off x="10953750" y="63055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2676E"/>
                </a:solidFill>
                <a:latin typeface="Arial"/>
                <a:ea typeface="Arial"/>
                <a:cs typeface="Arial"/>
              </a:defRPr>
            </a:defPPr>
          </a:lstStyle>
          <a:p xmlns:a="http://schemas.openxmlformats.org/drawingml/2006/main">
            <a:pPr>
              <a:defRPr sz="1125" b="0">
                <a:solidFill>
                  <a:srgbClr val="52676E"/>
                </a:solidFill>
                <a:latin typeface="Arial"/>
                <a:ea typeface="Arial"/>
                <a:cs typeface="Arial"/>
              </a:defRPr>
            </a:pPr>
            <a:r>
              <a:rPr sz="1125" b="0">
                <a:solidFill>
                  <a:srgbClr val="52676E"/>
                </a:solidFill>
                <a:latin typeface="Arial"/>
                <a:ea typeface="Arial"/>
                <a:cs typeface="Arial"/>
              </a:rPr>
              <a:t>12</a:t>
            </a:r>
          </a:p>
        </p:txBody>
      </p:sp>
      <p:sp>
        <p:nvSpPr>
          <p:cNvPr id="4" name="">
            <a:extLst xmlns:a="http://schemas.openxmlformats.org/drawingml/2006/main">
              <a:ext uri="{FF2B5EF4-FFF2-40B4-BE49-F238E27FC236}">
                <a16:creationId xmlns:a16="http://schemas.microsoft.com/office/drawing/2014/main" id="{C56B64FF-663D-4472-99B5-F4276273ECC9}"/>
              </a:ext>
            </a:extLst>
          </p:cNvPr>
          <p:cNvSpPr>
            <a:spLocks xmlns:a="http://schemas.openxmlformats.org/drawingml/2006/main" noGrp="1"/>
          </p:cNvSpPr>
          <p:nvPr/>
        </p:nvSpPr>
        <p:spPr>
          <a:xfrm xmlns:a="http://schemas.openxmlformats.org/drawingml/2006/main">
            <a:off x="685800" y="1666875"/>
            <a:ext cx="10668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82E35"/>
                </a:solidFill>
                <a:latin typeface="Arial"/>
                <a:ea typeface="Arial"/>
                <a:cs typeface="Arial"/>
              </a:defRPr>
            </a:defPPr>
          </a:lstStyle>
          <a:p xmlns:a="http://schemas.openxmlformats.org/drawingml/2006/main">
            <a:pPr>
              <a:defRPr sz="2100" b="0">
                <a:solidFill>
                  <a:srgbClr val="182E35"/>
                </a:solidFill>
                <a:latin typeface="Arial"/>
                <a:ea typeface="Arial"/>
                <a:cs typeface="Arial"/>
              </a:defRPr>
            </a:pPr>
            <a:r>
              <a:rPr sz="2100" b="0">
                <a:solidFill>
                  <a:srgbClr val="182E35"/>
                </a:solidFill>
                <a:latin typeface="Arial"/>
                <a:ea typeface="Arial"/>
                <a:cs typeface="Arial"/>
              </a:rPr>
              <a:t>Repository map and severity-ranked candidates establish the review scope.</a:t>
            </a:r>
          </a:p>
        </p:txBody>
      </p:sp>
      <p:sp>
        <p:nvSpPr>
          <p:cNvPr id="5" name="">
            <a:extLst xmlns:a="http://schemas.openxmlformats.org/drawingml/2006/main">
              <a:ext uri="{FF2B5EF4-FFF2-40B4-BE49-F238E27FC236}">
                <a16:creationId xmlns:a16="http://schemas.microsoft.com/office/drawing/2014/main" id="{5F4D4E04-FC73-4BBF-9C88-A59B4C415774}"/>
              </a:ext>
            </a:extLst>
          </p:cNvPr>
          <p:cNvSpPr>
            <a:spLocks xmlns:a="http://schemas.openxmlformats.org/drawingml/2006/main" noGrp="1"/>
          </p:cNvSpPr>
          <p:nvPr/>
        </p:nvSpPr>
        <p:spPr>
          <a:xfrm xmlns:a="http://schemas.openxmlformats.org/drawingml/2006/main">
            <a:off x="685800" y="2667000"/>
            <a:ext cx="10668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82E35"/>
                </a:solidFill>
                <a:latin typeface="Arial"/>
                <a:ea typeface="Arial"/>
                <a:cs typeface="Arial"/>
              </a:defRPr>
            </a:defPPr>
          </a:lstStyle>
          <a:p xmlns:a="http://schemas.openxmlformats.org/drawingml/2006/main">
            <a:pPr>
              <a:defRPr sz="2100" b="0">
                <a:solidFill>
                  <a:srgbClr val="182E35"/>
                </a:solidFill>
                <a:latin typeface="Arial"/>
                <a:ea typeface="Arial"/>
                <a:cs typeface="Arial"/>
              </a:defRPr>
            </a:pPr>
            <a:r>
              <a:rPr sz="2100" b="0">
                <a:solidFill>
                  <a:srgbClr val="182E35"/>
                </a:solidFill>
                <a:latin typeface="Arial"/>
                <a:ea typeface="Arial"/>
                <a:cs typeface="Arial"/>
              </a:rPr>
              <a:t>Filters and 20-item pages keep large result sets usable.</a:t>
            </a:r>
          </a:p>
        </p:txBody>
      </p:sp>
      <p:sp>
        <p:nvSpPr>
          <p:cNvPr id="6" name="">
            <a:extLst xmlns:a="http://schemas.openxmlformats.org/drawingml/2006/main">
              <a:ext uri="{FF2B5EF4-FFF2-40B4-BE49-F238E27FC236}">
                <a16:creationId xmlns:a16="http://schemas.microsoft.com/office/drawing/2014/main" id="{F3FE61CC-3A2E-4097-B0B7-6829587A1AE3}"/>
              </a:ext>
            </a:extLst>
          </p:cNvPr>
          <p:cNvSpPr>
            <a:spLocks xmlns:a="http://schemas.openxmlformats.org/drawingml/2006/main" noGrp="1"/>
          </p:cNvSpPr>
          <p:nvPr/>
        </p:nvSpPr>
        <p:spPr>
          <a:xfrm xmlns:a="http://schemas.openxmlformats.org/drawingml/2006/main">
            <a:off x="685800" y="3667125"/>
            <a:ext cx="10668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82E35"/>
                </a:solidFill>
                <a:latin typeface="Arial"/>
                <a:ea typeface="Arial"/>
                <a:cs typeface="Arial"/>
              </a:defRPr>
            </a:defPPr>
          </a:lstStyle>
          <a:p xmlns:a="http://schemas.openxmlformats.org/drawingml/2006/main">
            <a:pPr>
              <a:defRPr sz="2100" b="0">
                <a:solidFill>
                  <a:srgbClr val="182E35"/>
                </a:solidFill>
                <a:latin typeface="Arial"/>
                <a:ea typeface="Arial"/>
                <a:cs typeface="Arial"/>
              </a:defRPr>
            </a:pPr>
            <a:r>
              <a:rPr sz="2100" b="0">
                <a:solidFill>
                  <a:srgbClr val="182E35"/>
                </a:solidFill>
                <a:latin typeface="Arial"/>
                <a:ea typeface="Arial"/>
                <a:cs typeface="Arial"/>
              </a:rPr>
              <a:t>Each supported candidate exposes its excerpt, assumptions and hash.</a:t>
            </a:r>
          </a:p>
        </p:txBody>
      </p:sp>
      <p:sp>
        <p:nvSpPr>
          <p:cNvPr id="7" name="">
            <a:extLst xmlns:a="http://schemas.openxmlformats.org/drawingml/2006/main">
              <a:ext uri="{FF2B5EF4-FFF2-40B4-BE49-F238E27FC236}">
                <a16:creationId xmlns:a16="http://schemas.microsoft.com/office/drawing/2014/main" id="{BA70729E-FEB6-41F4-AD16-84D87C6ECDBB}"/>
              </a:ext>
            </a:extLst>
          </p:cNvPr>
          <p:cNvSpPr>
            <a:spLocks xmlns:a="http://schemas.openxmlformats.org/drawingml/2006/main" noGrp="1"/>
          </p:cNvSpPr>
          <p:nvPr/>
        </p:nvSpPr>
        <p:spPr>
          <a:xfrm xmlns:a="http://schemas.openxmlformats.org/drawingml/2006/main">
            <a:off x="685800" y="4667250"/>
            <a:ext cx="10668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82E35"/>
                </a:solidFill>
                <a:latin typeface="Arial"/>
                <a:ea typeface="Arial"/>
                <a:cs typeface="Arial"/>
              </a:defRPr>
            </a:defPPr>
          </a:lstStyle>
          <a:p xmlns:a="http://schemas.openxmlformats.org/drawingml/2006/main">
            <a:pPr>
              <a:defRPr sz="2100" b="0">
                <a:solidFill>
                  <a:srgbClr val="182E35"/>
                </a:solidFill>
                <a:latin typeface="Arial"/>
                <a:ea typeface="Arial"/>
                <a:cs typeface="Arial"/>
              </a:defRPr>
            </a:pPr>
            <a:r>
              <a:rPr sz="2100" b="0">
                <a:solidFill>
                  <a:srgbClr val="182E35"/>
                </a:solidFill>
                <a:latin typeface="Arial"/>
                <a:ea typeface="Arial"/>
                <a:cs typeface="Arial"/>
              </a:rPr>
              <a:t>Verification lab links the benchmark, mutation and live RAG records.</a:t>
            </a:r>
          </a:p>
        </p:txBody>
      </p:sp>
    </p:spTree>
    <p:extLst>
      <p:ext uri="{BB962C8B-B14F-4D97-AF65-F5344CB8AC3E}">
        <p14:creationId xmlns:p14="http://schemas.microsoft.com/office/powerpoint/2010/main" val="197943905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CFB4967-7A26-4503-931C-2142A022F996}"/>
              </a:ext>
            </a:extLst>
          </p:cNvPr>
          <p:cNvSpPr>
            <a:spLocks xmlns:a="http://schemas.openxmlformats.org/drawingml/2006/main" noGrp="1"/>
          </p:cNvSpPr>
          <p:nvPr/>
        </p:nvSpPr>
        <p:spPr>
          <a:xfrm xmlns:a="http://schemas.openxmlformats.org/drawingml/2006/main">
            <a:off x="685800" y="5334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02B32"/>
                </a:solidFill>
                <a:latin typeface="Arial"/>
                <a:ea typeface="Arial"/>
                <a:cs typeface="Arial"/>
              </a:defRPr>
            </a:defPPr>
          </a:lstStyle>
          <a:p xmlns:a="http://schemas.openxmlformats.org/drawingml/2006/main">
            <a:pPr>
              <a:defRPr sz="3300" b="1">
                <a:solidFill>
                  <a:srgbClr val="102B32"/>
                </a:solidFill>
                <a:latin typeface="Arial"/>
                <a:ea typeface="Arial"/>
                <a:cs typeface="Arial"/>
              </a:defRPr>
            </a:pPr>
            <a:r>
              <a:rPr sz="3300" b="1">
                <a:solidFill>
                  <a:srgbClr val="102B32"/>
                </a:solidFill>
                <a:latin typeface="Arial"/>
                <a:ea typeface="Arial"/>
                <a:cs typeface="Arial"/>
              </a:rPr>
              <a:t>Engineering boundaries and next steps</a:t>
            </a:r>
          </a:p>
        </p:txBody>
      </p:sp>
      <p:sp>
        <p:nvSpPr>
          <p:cNvPr id="2" name="">
            <a:extLst xmlns:a="http://schemas.openxmlformats.org/drawingml/2006/main">
              <a:ext uri="{FF2B5EF4-FFF2-40B4-BE49-F238E27FC236}">
                <a16:creationId xmlns:a16="http://schemas.microsoft.com/office/drawing/2014/main" id="{C439432B-EFAD-4B1C-B50E-57E4595D7099}"/>
              </a:ext>
            </a:extLst>
          </p:cNvPr>
          <p:cNvSpPr>
            <a:spLocks xmlns:a="http://schemas.openxmlformats.org/drawingml/2006/main" noGrp="1"/>
          </p:cNvSpPr>
          <p:nvPr/>
        </p:nvSpPr>
        <p:spPr>
          <a:xfrm xmlns:a="http://schemas.openxmlformats.org/drawingml/2006/main">
            <a:off x="685800" y="630555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2676E"/>
                </a:solidFill>
                <a:latin typeface="Arial"/>
                <a:ea typeface="Arial"/>
                <a:cs typeface="Arial"/>
              </a:defRPr>
            </a:defPPr>
          </a:lstStyle>
          <a:p xmlns:a="http://schemas.openxmlformats.org/drawingml/2006/main">
            <a:pPr>
              <a:defRPr sz="1125" b="0">
                <a:solidFill>
                  <a:srgbClr val="52676E"/>
                </a:solidFill>
                <a:latin typeface="Arial"/>
                <a:ea typeface="Arial"/>
                <a:cs typeface="Arial"/>
              </a:defRPr>
            </a:pPr>
            <a:r>
              <a:rPr sz="1125" b="0">
                <a:solidFill>
                  <a:srgbClr val="52676E"/>
                </a:solidFill>
                <a:latin typeface="Arial"/>
                <a:ea typeface="Arial"/>
                <a:cs typeface="Arial"/>
              </a:rPr>
              <a:t>ECU REVIEW STUDIO</a:t>
            </a:r>
          </a:p>
        </p:txBody>
      </p:sp>
      <p:sp>
        <p:nvSpPr>
          <p:cNvPr id="3" name="">
            <a:extLst xmlns:a="http://schemas.openxmlformats.org/drawingml/2006/main">
              <a:ext uri="{FF2B5EF4-FFF2-40B4-BE49-F238E27FC236}">
                <a16:creationId xmlns:a16="http://schemas.microsoft.com/office/drawing/2014/main" id="{CA1B5758-2AC6-45D3-99CE-4C7F7B7EDC51}"/>
              </a:ext>
            </a:extLst>
          </p:cNvPr>
          <p:cNvSpPr>
            <a:spLocks xmlns:a="http://schemas.openxmlformats.org/drawingml/2006/main" noGrp="1"/>
          </p:cNvSpPr>
          <p:nvPr/>
        </p:nvSpPr>
        <p:spPr>
          <a:xfrm xmlns:a="http://schemas.openxmlformats.org/drawingml/2006/main">
            <a:off x="10953750" y="63055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2676E"/>
                </a:solidFill>
                <a:latin typeface="Arial"/>
                <a:ea typeface="Arial"/>
                <a:cs typeface="Arial"/>
              </a:defRPr>
            </a:defPPr>
          </a:lstStyle>
          <a:p xmlns:a="http://schemas.openxmlformats.org/drawingml/2006/main">
            <a:pPr>
              <a:defRPr sz="1125" b="0">
                <a:solidFill>
                  <a:srgbClr val="52676E"/>
                </a:solidFill>
                <a:latin typeface="Arial"/>
                <a:ea typeface="Arial"/>
                <a:cs typeface="Arial"/>
              </a:defRPr>
            </a:pPr>
            <a:r>
              <a:rPr sz="1125" b="0">
                <a:solidFill>
                  <a:srgbClr val="52676E"/>
                </a:solidFill>
                <a:latin typeface="Arial"/>
                <a:ea typeface="Arial"/>
                <a:cs typeface="Arial"/>
              </a:rPr>
              <a:t>13</a:t>
            </a:r>
          </a:p>
        </p:txBody>
      </p:sp>
      <p:sp>
        <p:nvSpPr>
          <p:cNvPr id="4" name="">
            <a:extLst xmlns:a="http://schemas.openxmlformats.org/drawingml/2006/main">
              <a:ext uri="{FF2B5EF4-FFF2-40B4-BE49-F238E27FC236}">
                <a16:creationId xmlns:a16="http://schemas.microsoft.com/office/drawing/2014/main" id="{6CBCFB5B-7D83-4340-9B77-41B6303E80FA}"/>
              </a:ext>
            </a:extLst>
          </p:cNvPr>
          <p:cNvSpPr>
            <a:spLocks xmlns:a="http://schemas.openxmlformats.org/drawingml/2006/main" noGrp="1"/>
          </p:cNvSpPr>
          <p:nvPr/>
        </p:nvSpPr>
        <p:spPr>
          <a:xfrm xmlns:a="http://schemas.openxmlformats.org/drawingml/2006/main">
            <a:off x="685800" y="1666875"/>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82E35"/>
                </a:solidFill>
                <a:latin typeface="Arial"/>
                <a:ea typeface="Arial"/>
                <a:cs typeface="Arial"/>
              </a:defRPr>
            </a:defPPr>
          </a:lstStyle>
          <a:p xmlns:a="http://schemas.openxmlformats.org/drawingml/2006/main">
            <a:pPr>
              <a:defRPr sz="2100" b="0">
                <a:solidFill>
                  <a:srgbClr val="182E35"/>
                </a:solidFill>
                <a:latin typeface="Arial"/>
                <a:ea typeface="Arial"/>
                <a:cs typeface="Arial"/>
              </a:defRPr>
            </a:pPr>
            <a:r>
              <a:rPr sz="2100" b="0">
                <a:solidFill>
                  <a:srgbClr val="182E35"/>
                </a:solidFill>
                <a:latin typeface="Arial"/>
                <a:ea typeface="Arial"/>
                <a:cs typeface="Arial"/>
              </a:rPr>
              <a:t>Current boundaries: text heuristics, small advisory corpus and bounded uploads.</a:t>
            </a:r>
          </a:p>
        </p:txBody>
      </p:sp>
      <p:sp>
        <p:nvSpPr>
          <p:cNvPr id="5" name="">
            <a:extLst xmlns:a="http://schemas.openxmlformats.org/drawingml/2006/main">
              <a:ext uri="{FF2B5EF4-FFF2-40B4-BE49-F238E27FC236}">
                <a16:creationId xmlns:a16="http://schemas.microsoft.com/office/drawing/2014/main" id="{9D2C5E68-87E5-4AF2-B0C9-62CA19B9D184}"/>
              </a:ext>
            </a:extLst>
          </p:cNvPr>
          <p:cNvSpPr>
            <a:spLocks xmlns:a="http://schemas.openxmlformats.org/drawingml/2006/main" noGrp="1"/>
          </p:cNvSpPr>
          <p:nvPr/>
        </p:nvSpPr>
        <p:spPr>
          <a:xfrm xmlns:a="http://schemas.openxmlformats.org/drawingml/2006/main">
            <a:off x="685800" y="2676525"/>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82E35"/>
                </a:solidFill>
                <a:latin typeface="Arial"/>
                <a:ea typeface="Arial"/>
                <a:cs typeface="Arial"/>
              </a:defRPr>
            </a:defPPr>
          </a:lstStyle>
          <a:p xmlns:a="http://schemas.openxmlformats.org/drawingml/2006/main">
            <a:pPr>
              <a:defRPr sz="2100" b="0">
                <a:solidFill>
                  <a:srgbClr val="182E35"/>
                </a:solidFill>
                <a:latin typeface="Arial"/>
                <a:ea typeface="Arial"/>
                <a:cs typeface="Arial"/>
              </a:defRPr>
            </a:pPr>
            <a:r>
              <a:rPr sz="2100" b="0">
                <a:solidFill>
                  <a:srgbClr val="182E35"/>
                </a:solidFill>
                <a:latin typeface="Arial"/>
                <a:ea typeface="Arial"/>
                <a:cs typeface="Arial"/>
              </a:rPr>
              <a:t>Target assumptions: 32-bit int for shifts and classical CAN for can_dlc.</a:t>
            </a:r>
          </a:p>
        </p:txBody>
      </p:sp>
      <p:sp>
        <p:nvSpPr>
          <p:cNvPr id="6" name="">
            <a:extLst xmlns:a="http://schemas.openxmlformats.org/drawingml/2006/main">
              <a:ext uri="{FF2B5EF4-FFF2-40B4-BE49-F238E27FC236}">
                <a16:creationId xmlns:a16="http://schemas.microsoft.com/office/drawing/2014/main" id="{1A8694D0-ACFE-4C76-904A-230AC9AD6A5D}"/>
              </a:ext>
            </a:extLst>
          </p:cNvPr>
          <p:cNvSpPr>
            <a:spLocks xmlns:a="http://schemas.openxmlformats.org/drawingml/2006/main" noGrp="1"/>
          </p:cNvSpPr>
          <p:nvPr/>
        </p:nvSpPr>
        <p:spPr>
          <a:xfrm xmlns:a="http://schemas.openxmlformats.org/drawingml/2006/main">
            <a:off x="685800" y="3686175"/>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82E35"/>
                </a:solidFill>
                <a:latin typeface="Arial"/>
                <a:ea typeface="Arial"/>
                <a:cs typeface="Arial"/>
              </a:defRPr>
            </a:defPPr>
          </a:lstStyle>
          <a:p xmlns:a="http://schemas.openxmlformats.org/drawingml/2006/main">
            <a:pPr>
              <a:defRPr sz="2100" b="0">
                <a:solidFill>
                  <a:srgbClr val="182E35"/>
                </a:solidFill>
                <a:latin typeface="Arial"/>
                <a:ea typeface="Arial"/>
                <a:cs typeface="Arial"/>
              </a:defRPr>
            </a:pPr>
            <a:r>
              <a:rPr sz="2100" b="0">
                <a:solidFill>
                  <a:srgbClr val="182E35"/>
                </a:solidFill>
                <a:latin typeface="Arial"/>
                <a:ea typeface="Arial"/>
                <a:cs typeface="Arial"/>
              </a:rPr>
              <a:t>Next implementation: compiler facts and reviewed MCU / RTOS / CAN profiles.</a:t>
            </a:r>
          </a:p>
        </p:txBody>
      </p:sp>
      <p:sp>
        <p:nvSpPr>
          <p:cNvPr id="7" name="">
            <a:extLst xmlns:a="http://schemas.openxmlformats.org/drawingml/2006/main">
              <a:ext uri="{FF2B5EF4-FFF2-40B4-BE49-F238E27FC236}">
                <a16:creationId xmlns:a16="http://schemas.microsoft.com/office/drawing/2014/main" id="{AFC8EB28-8042-42E8-A2F5-3A3A709C7B7D}"/>
              </a:ext>
            </a:extLst>
          </p:cNvPr>
          <p:cNvSpPr>
            <a:spLocks xmlns:a="http://schemas.openxmlformats.org/drawingml/2006/main" noGrp="1"/>
          </p:cNvSpPr>
          <p:nvPr/>
        </p:nvSpPr>
        <p:spPr>
          <a:xfrm xmlns:a="http://schemas.openxmlformats.org/drawingml/2006/main">
            <a:off x="685800" y="4695825"/>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82E35"/>
                </a:solidFill>
                <a:latin typeface="Arial"/>
                <a:ea typeface="Arial"/>
                <a:cs typeface="Arial"/>
              </a:defRPr>
            </a:defPPr>
          </a:lstStyle>
          <a:p xmlns:a="http://schemas.openxmlformats.org/drawingml/2006/main">
            <a:pPr>
              <a:defRPr sz="2100" b="0">
                <a:solidFill>
                  <a:srgbClr val="182E35"/>
                </a:solidFill>
                <a:latin typeface="Arial"/>
                <a:ea typeface="Arial"/>
                <a:cs typeface="Arial"/>
              </a:defRPr>
            </a:pPr>
            <a:r>
              <a:rPr sz="2100" b="0">
                <a:solidFill>
                  <a:srgbClr val="182E35"/>
                </a:solidFill>
                <a:latin typeface="Arial"/>
                <a:ea typeface="Arial"/>
                <a:cs typeface="Arial"/>
              </a:rPr>
              <a:t>Next evidence: independent defect labels, concurrency measurements and hardware tests.</a:t>
            </a:r>
          </a:p>
        </p:txBody>
      </p:sp>
    </p:spTree>
    <p:extLst>
      <p:ext uri="{BB962C8B-B14F-4D97-AF65-F5344CB8AC3E}">
        <p14:creationId xmlns:p14="http://schemas.microsoft.com/office/powerpoint/2010/main" val="164335025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2026-10-12T11:08:16.8420000Z</dcterms:created>
  <dcterms:modified xsi:type="dcterms:W3CDTF">2026-10-12T11:08:16.8420000Z</dcterms:modified>
</coreProperties>
</file>