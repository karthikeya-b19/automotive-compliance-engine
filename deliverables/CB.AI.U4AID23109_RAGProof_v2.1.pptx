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93d2540b9c4c99" /><Relationship Type="http://schemas.openxmlformats.org/officeDocument/2006/relationships/extended-properties" Target="/docProps/app.xml" Id="R10ff24b7d21d4926" /><Relationship Type="http://schemas.openxmlformats.org/officeDocument/2006/relationships/officeDocument" Target="/ppt/presentation.xml" Id="R18caeb60de744da7" /></Relationships>
</file>

<file path=ppt/presentation.xml><?xml version="1.0" encoding="utf-8"?>
<p:presentation xmlns:p="http://schemas.openxmlformats.org/presentationml/2006/main">
  <p:sldMasterIdLst>
    <p:sldMasterId xmlns:r="http://schemas.openxmlformats.org/officeDocument/2006/relationships" id="2147483648" r:id="Re79e7c4c609942ff"/>
  </p:sldMasterIdLst>
  <p:notesMasterIdLst>
    <p:notesMasterId xmlns:r="http://schemas.openxmlformats.org/officeDocument/2006/relationships" r:id="R2ff3e90cdd354075"/>
  </p:notesMasterIdLst>
  <p:sldIdLst>
    <p:sldId xmlns:r="http://schemas.openxmlformats.org/officeDocument/2006/relationships" id="256" r:id="R9e6743e31a0d4fbf"/>
    <p:sldId xmlns:r="http://schemas.openxmlformats.org/officeDocument/2006/relationships" id="257" r:id="Rdf8b0df0a4a549c1"/>
    <p:sldId xmlns:r="http://schemas.openxmlformats.org/officeDocument/2006/relationships" id="258" r:id="Re0402c4af1ca475f"/>
    <p:sldId xmlns:r="http://schemas.openxmlformats.org/officeDocument/2006/relationships" id="259" r:id="Re0c22868921348f3"/>
    <p:sldId xmlns:r="http://schemas.openxmlformats.org/officeDocument/2006/relationships" id="260" r:id="R6041a72b40a34f42"/>
    <p:sldId xmlns:r="http://schemas.openxmlformats.org/officeDocument/2006/relationships" id="261" r:id="R3fe77e819eb4445c"/>
    <p:sldId xmlns:r="http://schemas.openxmlformats.org/officeDocument/2006/relationships" id="262" r:id="R36df032db4274d95"/>
    <p:sldId xmlns:r="http://schemas.openxmlformats.org/officeDocument/2006/relationships" id="263" r:id="Red8dfb083d414e8e"/>
    <p:sldId xmlns:r="http://schemas.openxmlformats.org/officeDocument/2006/relationships" id="264" r:id="R301b9ddf54cf4cf0"/>
    <p:sldId xmlns:r="http://schemas.openxmlformats.org/officeDocument/2006/relationships" id="265" r:id="R36e337778a7a4f6d"/>
    <p:sldId xmlns:r="http://schemas.openxmlformats.org/officeDocument/2006/relationships" id="266" r:id="R73cdcb729ad045bc"/>
    <p:sldId xmlns:r="http://schemas.openxmlformats.org/officeDocument/2006/relationships" id="267" r:id="Rf3084450f3294552"/>
    <p:sldId xmlns:r="http://schemas.openxmlformats.org/officeDocument/2006/relationships" id="268" r:id="R660902a3a388408f"/>
    <p:sldId xmlns:r="http://schemas.openxmlformats.org/officeDocument/2006/relationships" id="269" r:id="Ra69d63d6652341ad"/>
    <p:sldId xmlns:r="http://schemas.openxmlformats.org/officeDocument/2006/relationships" id="270" r:id="R3335dc8c8a80457c"/>
    <p:sldId xmlns:r="http://schemas.openxmlformats.org/officeDocument/2006/relationships" id="271" r:id="R05ba545d8cc74a0b"/>
    <p:sldId xmlns:r="http://schemas.openxmlformats.org/officeDocument/2006/relationships" id="272" r:id="Rdac6de8a8cda40fc"/>
    <p:sldId xmlns:r="http://schemas.openxmlformats.org/officeDocument/2006/relationships" id="273" r:id="R56d8e75c93664ecc"/>
    <p:sldId xmlns:r="http://schemas.openxmlformats.org/officeDocument/2006/relationships" id="274" r:id="Re4ca92fb974d44a7"/>
    <p:sldId xmlns:r="http://schemas.openxmlformats.org/officeDocument/2006/relationships" id="275" r:id="Re9286a53fa1242a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ecdca867bdb4ede" /><Relationship Type="http://schemas.openxmlformats.org/officeDocument/2006/relationships/slideMaster" Target="/ppt/slideMasters/slideMaster1.xml" Id="Re79e7c4c609942ff" /><Relationship Type="http://schemas.openxmlformats.org/officeDocument/2006/relationships/notesMaster" Target="/ppt/notesMasters/notesMaster1.xml" Id="R2ff3e90cdd354075" /><Relationship Type="http://schemas.openxmlformats.org/officeDocument/2006/relationships/presProps" Target="/ppt/presProps.xml" Id="R29ecc619fed94682" /><Relationship Type="http://schemas.openxmlformats.org/officeDocument/2006/relationships/tableStyles" Target="/ppt/tableStyles.xml" Id="R7490a8c51af54eb4" /><Relationship Type="http://schemas.openxmlformats.org/officeDocument/2006/relationships/slide" Target="/ppt/slides/slide1.xml" Id="R9e6743e31a0d4fbf" /><Relationship Type="http://schemas.openxmlformats.org/officeDocument/2006/relationships/slide" Target="/ppt/slides/slide2.xml" Id="Rdf8b0df0a4a549c1" /><Relationship Type="http://schemas.openxmlformats.org/officeDocument/2006/relationships/slide" Target="/ppt/slides/slide3.xml" Id="Re0402c4af1ca475f" /><Relationship Type="http://schemas.openxmlformats.org/officeDocument/2006/relationships/slide" Target="/ppt/slides/slide4.xml" Id="Re0c22868921348f3" /><Relationship Type="http://schemas.openxmlformats.org/officeDocument/2006/relationships/slide" Target="/ppt/slides/slide5.xml" Id="R6041a72b40a34f42" /><Relationship Type="http://schemas.openxmlformats.org/officeDocument/2006/relationships/slide" Target="/ppt/slides/slide6.xml" Id="R3fe77e819eb4445c" /><Relationship Type="http://schemas.openxmlformats.org/officeDocument/2006/relationships/slide" Target="/ppt/slides/slide7.xml" Id="R36df032db4274d95" /><Relationship Type="http://schemas.openxmlformats.org/officeDocument/2006/relationships/slide" Target="/ppt/slides/slide8.xml" Id="Red8dfb083d414e8e" /><Relationship Type="http://schemas.openxmlformats.org/officeDocument/2006/relationships/slide" Target="/ppt/slides/slide9.xml" Id="R301b9ddf54cf4cf0" /><Relationship Type="http://schemas.openxmlformats.org/officeDocument/2006/relationships/slide" Target="/ppt/slides/slide10.xml" Id="R36e337778a7a4f6d" /><Relationship Type="http://schemas.openxmlformats.org/officeDocument/2006/relationships/slide" Target="/ppt/slides/slide11.xml" Id="R73cdcb729ad045bc" /><Relationship Type="http://schemas.openxmlformats.org/officeDocument/2006/relationships/slide" Target="/ppt/slides/slide12.xml" Id="Rf3084450f3294552" /><Relationship Type="http://schemas.openxmlformats.org/officeDocument/2006/relationships/slide" Target="/ppt/slides/slide13.xml" Id="R660902a3a388408f" /><Relationship Type="http://schemas.openxmlformats.org/officeDocument/2006/relationships/slide" Target="/ppt/slides/slide14.xml" Id="Ra69d63d6652341ad" /><Relationship Type="http://schemas.openxmlformats.org/officeDocument/2006/relationships/slide" Target="/ppt/slides/slide15.xml" Id="R3335dc8c8a80457c" /><Relationship Type="http://schemas.openxmlformats.org/officeDocument/2006/relationships/slide" Target="/ppt/slides/slide16.xml" Id="R05ba545d8cc74a0b" /><Relationship Type="http://schemas.openxmlformats.org/officeDocument/2006/relationships/slide" Target="/ppt/slides/slide17.xml" Id="Rdac6de8a8cda40fc" /><Relationship Type="http://schemas.openxmlformats.org/officeDocument/2006/relationships/slide" Target="/ppt/slides/slide18.xml" Id="R56d8e75c93664ecc" /><Relationship Type="http://schemas.openxmlformats.org/officeDocument/2006/relationships/slide" Target="/ppt/slides/slide19.xml" Id="Re4ca92fb974d44a7" /><Relationship Type="http://schemas.openxmlformats.org/officeDocument/2006/relationships/slide" Target="/ppt/slides/slide20.xml" Id="Re9286a53fa1242a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39b58045d854cc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f9bcf5082844cb6" /><Relationship Type="http://schemas.openxmlformats.org/officeDocument/2006/relationships/notesMaster" Target="/ppt/notesMasters/notesMaster1.xml" Id="R9975db94a0c64e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0c567c954324dac" /><Relationship Type="http://schemas.openxmlformats.org/officeDocument/2006/relationships/notesMaster" Target="/ppt/notesMasters/notesMaster1.xml" Id="Rc850d39cc04542d9"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6ee95d0f3846ab" /><Relationship Type="http://schemas.openxmlformats.org/officeDocument/2006/relationships/notesMaster" Target="/ppt/notesMasters/notesMaster1.xml" Id="Re32163389b2842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f6f0bda003248f7" /><Relationship Type="http://schemas.openxmlformats.org/officeDocument/2006/relationships/notesMaster" Target="/ppt/notesMasters/notesMaster1.xml" Id="R6bde087f7f7b4e23" /></Relationships>
</file>

<file path=ppt/notesSlides/_rels/notesSlide5.xml.rels>&#65279;<?xml version="1.0" encoding="utf-8"?><Relationships xmlns="http://schemas.openxmlformats.org/package/2006/relationships"><Relationship Type="http://schemas.openxmlformats.org/officeDocument/2006/relationships/slide" Target="/ppt/slides/slide5.xml" Id="R9ebf1bff5bf44ffc" /><Relationship Type="http://schemas.openxmlformats.org/officeDocument/2006/relationships/notesMaster" Target="/ppt/notesMasters/notesMaster1.xml" Id="R9dfefd459f1948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798345e3b7f04ea5" /><Relationship Type="http://schemas.openxmlformats.org/officeDocument/2006/relationships/notesMaster" Target="/ppt/notesMasters/notesMaster1.xml" Id="Rd83e6f59e0f74ef2" /></Relationships>
</file>

<file path=ppt/notesSlides/_rels/notesSlide7.xml.rels>&#65279;<?xml version="1.0" encoding="utf-8"?><Relationships xmlns="http://schemas.openxmlformats.org/package/2006/relationships"><Relationship Type="http://schemas.openxmlformats.org/officeDocument/2006/relationships/slide" Target="/ppt/slides/slide7.xml" Id="Rf545ad513be243db" /><Relationship Type="http://schemas.openxmlformats.org/officeDocument/2006/relationships/notesMaster" Target="/ppt/notesMasters/notesMaster1.xml" Id="R8b39f3a6d04b4357" /></Relationships>
</file>

<file path=ppt/notesSlides/_rels/notesSlide8.xml.rels>&#65279;<?xml version="1.0" encoding="utf-8"?><Relationships xmlns="http://schemas.openxmlformats.org/package/2006/relationships"><Relationship Type="http://schemas.openxmlformats.org/officeDocument/2006/relationships/slide" Target="/ppt/slides/slide8.xml" Id="R07490a04a9b1426f" /><Relationship Type="http://schemas.openxmlformats.org/officeDocument/2006/relationships/notesMaster" Target="/ppt/notesMasters/notesMaster1.xml" Id="R60386eeff79d4f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45c5a2d6644e9b" /><Relationship Type="http://schemas.openxmlformats.org/officeDocument/2006/relationships/notesMaster" Target="/ppt/notesMasters/notesMaster1.xml" Id="Rfb0e18331c4648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8948de8df54d2f" /><Relationship Type="http://schemas.openxmlformats.org/officeDocument/2006/relationships/notesMaster" Target="/ppt/notesMasters/notesMaster1.xml" Id="Rdfae250dcc7d46e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0f4e20677974233" /><Relationship Type="http://schemas.openxmlformats.org/officeDocument/2006/relationships/notesMaster" Target="/ppt/notesMasters/notesMaster1.xml" Id="Rb324432b6b49482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a1a60c887244fcf" /><Relationship Type="http://schemas.openxmlformats.org/officeDocument/2006/relationships/notesMaster" Target="/ppt/notesMasters/notesMaster1.xml" Id="Rba3135236cc1486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f62873c55a143c7" /><Relationship Type="http://schemas.openxmlformats.org/officeDocument/2006/relationships/notesMaster" Target="/ppt/notesMasters/notesMaster1.xml" Id="R30d8211356634a2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bda7a0bc5074ddb" /><Relationship Type="http://schemas.openxmlformats.org/officeDocument/2006/relationships/notesMaster" Target="/ppt/notesMasters/notesMaster1.xml" Id="Rcdcfa475052c40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681c0d1f0a46e6" /><Relationship Type="http://schemas.openxmlformats.org/officeDocument/2006/relationships/notesMaster" Target="/ppt/notesMasters/notesMaster1.xml" Id="Rdc8a60fb5d174d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779e360e42144292" /><Relationship Type="http://schemas.openxmlformats.org/officeDocument/2006/relationships/notesMaster" Target="/ppt/notesMasters/notesMaster1.xml" Id="R20701a0d305d442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c9eb4a526d14852" /><Relationship Type="http://schemas.openxmlformats.org/officeDocument/2006/relationships/notesMaster" Target="/ppt/notesMasters/notesMaster1.xml" Id="Rc2824e970bf943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0abec798c504c4e" /><Relationship Type="http://schemas.openxmlformats.org/officeDocument/2006/relationships/notesMaster" Target="/ppt/notesMasters/notesMaster1.xml" Id="R8c6a4345399e457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ee2bb0b0fec4812" /><Relationship Type="http://schemas.openxmlformats.org/officeDocument/2006/relationships/notesMaster" Target="/ppt/notesMasters/notesMaster1.xml" Id="Reb798611906b4fe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a9f669e341947e5" /><Relationship Type="http://schemas.openxmlformats.org/officeDocument/2006/relationships/notesMaster" Target="/ppt/notesMasters/notesMaster1.xml" Id="Rf013fe54fecf45e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Individual TechPulse Case Study 4. Evidence deck v2.1. The application compatibility patch is v2.0.1. This presentation separates retrieval effectiveness, programmatic controls, actual local generation and system testing. All measured results come from retained evidence files. The guidance is synthetic project material, never official MISRA or ISO clauses.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layers answer different questions. A detector finding alone cannot prove RAG worked. Retrieval must show the selected context, interventions must show dependence on that context, and a real local-model run must show generation. Repository counts and mutation results are separate system evidence.</a:t>
            </a:r>
          </a:p>
          <a:p xmlns:a="http://schemas.openxmlformats.org/drawingml/2006/main">
            <a:r>
              <a:t>Evidence: Evaluation_Results/rag_evidence/*.json and component_evidence.json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stands for retrieval augmented generation. Retrieval selects external knowledge at review time. The generator reads that selected knowledge with the source evidence. No model fine-tuning occurs. The deterministic analyser detects supported patterns first. The retrieval system supplies guidance for those candidates. The model explains the evidence. The validator rejects unsupported citations. The current system does not use RAG as an independent semantic bug finder.</a:t>
            </a:r>
          </a:p>
          <a:p xmlns:a="http://schemas.openxmlformats.org/drawingml/2006/main">
            <a:r>
              <a:t>Evidence: src/rag/orchestrator.py and src/rag/automotive_retrieval.py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wrapper performs focused per-finding retrieval, using dense retrieval by default when available. The production orchestrator separately gathers applicable cards for generation. Missing local embeddings cause explicitly reported BM25 retrieval. Missing Ollama causes a labelled template fallback. The active v2 pipeline uses advisory JSON cards. The older PDF-to-Chroma tools remain experimental and do not feed this active review path.</a:t>
            </a:r>
          </a:p>
          <a:p xmlns:a="http://schemas.openxmlformats.org/drawingml/2006/main">
            <a:r>
              <a:t>Evidence: src/rag/automotive_retrieval.py and src/rag/orchestrator.py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20 cards: 13 added heuristic families and seven earlier C/C++ families. Each card carries origin, version, language, automotive domain, authority and assumptions. Corpus and card hashes identify the exact knowledge used. They do not prove the guidance is correct or officially authorised. The CAN rule assumes classical CAN. Shift rules assume a 32-bit int target. A real licensed MISRA corpus would require approval and edition-specific applicability review.</a:t>
            </a:r>
          </a:p>
          <a:p xmlns:a="http://schemas.openxmlformats.org/drawingml/2006/main">
            <a:r>
              <a:t>Evidence: data/standards/automotive_rule_cards.json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BM25 scores exact token agreement with term rarity, repeated-term saturation and document-length normalization. The implementation uses k1=1.5 and b=0.75. It tokenizes embedded identifiers such as can_dlc. Dense retrieval uses local all-MiniLM-L6-v2 embeddings. Normalized-vector dot products act as cosine similarity. Reciprocal rank fusion uses ranks rather than adding incompatible BM25 and cosine score scales. Rank starts at one. Dense-model unavailability produces BM25-only mode and a dense_error field.</a:t>
            </a:r>
          </a:p>
          <a:p xmlns:a="http://schemas.openxmlformats.org/drawingml/2006/main">
            <a:r>
              <a:t>Evidence: src/rag/automotive_retrieval.py: lexical_scores and _retrieve_cached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author wrote 20 natural-language queries, one labelled relevant rule per query. These queries differ from the detector-generated production query format. Both methods search the same 20-card corpus and return five results. Labels are author-generated and have not received independent expert adjudication. Recall at five is a hit rate here because there is one relevant rule per query. MRR uses zero when the rule is absent from the first five results.</a:t>
            </a:r>
          </a:p>
          <a:p xmlns:a="http://schemas.openxmlformats.org/drawingml/2006/main">
            <a:r>
              <a:t>Evidence: evaluation/prove_rag.py; retrieval_results.json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Lexical recall@5 is 18/20 and hybrid is 19/20, a five-percentage-point increase. Top-one accuracy rises from 14/20 to 17/20, a 15-point increase. MRR rises from 0.7916666667 to 0.8916666667, an absolute increase of 0.100. These are ranking metrics, not bug-detection accuracy or answer factuality. Actual strategy records confirm that the hybrid experiment used dense embeddings rather than a fallback.</a:t>
            </a:r>
          </a:p>
          <a:p xmlns:a="http://schemas.openxmlformats.org/drawingml/2006/main">
            <a:r>
              <a:t>Evidence: Evaluation_Results/rag_evidence/retrieval_results.json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ISR blocking moves from outside the top five to rank three. Constant-array bounds and assignment-in-condition queries move from rank two to rank one. The fixed-width shift query misses the top five under both methods. Keeping this failure visible prevents selective reporting. Its query is uint32_t value shifted left by 32 bits. The rank appendix lists all 20 labelled cases.</a:t>
            </a:r>
          </a:p>
          <a:p xmlns:a="http://schemas.openxmlformats.org/drawingml/2006/main">
            <a:r>
              <a:t>Evidence: retrieval_results.json: per-query strategies and ranks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additional export reruns all corpus variants with identical source, detector findings and query. Every variant uses BM25, so a dense-strategy change cannot explain the result. Only the supplied in-memory corpus changes. The file retains ranked candidates, scores, corpus hashes, expected rule IDs and the final support/abstention decision. The underlying deterministic zero-division finding remains. This proves the retrieval support contract on the controlled example, not causal correctness of all generated prose.</a:t>
            </a:r>
          </a:p>
          <a:p xmlns:a="http://schemas.openxmlformats.org/drawingml/2006/main">
            <a:r>
              <a:t>Evidence: Evaluation_Results/rag_evidence/control_interventions.json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validator requires an exact applicable rule ID, nonempty evidence and every quoted item to occur in the matching retrieved content after whitespace/case normalization. A correct ID alone is insufficient. On rejection the validator clears the model citation and evidence, lowers confidence and replaces unsupported model remediation. These proposals are programmatic controls, separate from actual LLM generation. Exact extract matching cannot establish factual correctness of every sentence in a model explanation.</a:t>
            </a:r>
          </a:p>
          <a:p xmlns:a="http://schemas.openxmlformats.org/drawingml/2006/main">
            <a:r>
              <a:t>Evidence: control_interventions.json: citation_cases; validate_model_citation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production orchestrator used actual installed llama3.1:latest, an 8B Q4_K_M model. Actual model metadata and digest appear in the JSON. The source contains an eight-byte name buffer and strcpy from a request. The model cites AUTO-STRCPY and quotes the retrieved rule text exactly. The citation validator accepts the output. Duration covers the orchestrator call and is a single observation, not a throughput benchmark.</a:t>
            </a:r>
          </a:p>
          <a:p xmlns:a="http://schemas.openxmlformats.org/drawingml/2006/main">
            <a:r>
              <a:t>Evidence: Evaluation_Results/rag_evidence/live_generation.json: unbounded_copy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zero-division example also ran the real local model. Its proposed rule ID AUTO-DIV-ZERO matches an applicable card, but it quotes the source line rather than the advisory content in source_evidence. The gate rejects that quote, clears the model citation and lowers confidence. The independently grounded deterministic finding remains in the findings collection. The returned top-level No applicable rule found refers to rejected model support and must not be misread as absence of the deterministic defect. Duration is one actual call.</a:t>
            </a:r>
          </a:p>
          <a:p xmlns:a="http://schemas.openxmlformats.org/drawingml/2006/main">
            <a:r>
              <a:t>Evidence: Evaluation_Results/rag_evidence/live_generation.json: division_zero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live clean comparison rpm/2 returns deterministic-only, no applicable rule, no retrieved context and no actual LLM generation. Its recorded 0.001-second duration is an observed clean-path call and is not a general latency claim. RAG-assisted says the model ran; citation_validation.accepted still decides whether its evidence passed. A retrieval-grounded-template response uses rules without claiming LLM generation when Ollama fails. A deterministic fallback contains no supported rule guidance.</a:t>
            </a:r>
          </a:p>
          <a:p xmlns:a="http://schemas.openxmlformats.org/drawingml/2006/main">
            <a:r>
              <a:t>Evidence: src/rag/orchestrator.py; live_generation.json; tests/test_expanded_scenarios.py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hundred distinct real public source trees yield 6,721 eligible C/C++ files and 2,650,420 source lines. Repository-level failures are zero. Candidate count is 2,017 and has no confirmed vulnerability labels. The median total time is 0.679 seconds per repository and includes cache/download plus scan effects. All eligible files run through bounded partitions; this does not permit unlimited ZIP uploads or establish concurrent service capacity. Separately, 40 mutations across ten actual files from Speeduino and rusEFI all match the expected finding at the injected line. Four supported defect families have ten cases each. No firmware compile, flash or hardware execution occurred.</a:t>
            </a:r>
          </a:p>
          <a:p xmlns:a="http://schemas.openxmlformats.org/drawingml/2006/main">
            <a:r>
              <a:t>Evidence: public_benchmark/summary.json; ecu_mutations/results.json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component suite has 93 passing tests, zero failures and zero skips. It covers positive and corrected examples, lexical masking, archive rejection, API authentication/path policies, saved trace persistence, UI screen construction and evidence widgets. Actual CLI checks return exit one and four SARIF findings for the faulty demo, and exit zero with no findings for the clean demo. A separate MinGW GCC host snippet emits a zero-division warning; it is not an ECU build. The GitHub Ubuntu/Python 3.12 run at https://github.com/Karthikeya-B19/automotive-compliance-engine/actions/runs/38255018583 confirms 93 passing tests, dependency compatibility, SARIF generation and upload. One nonfatal Starlette deprecation warning remains. Earlier run 38241357712 failed due to unpinned Arrow 26/NumPy 1 incompatibility; the patch pins Arrow 25.0.1 and guards upload on file existence.</a:t>
            </a:r>
          </a:p>
          <a:p xmlns:a="http://schemas.openxmlformats.org/drawingml/2006/main">
            <a:r>
              <a:t>Evidence: component_evidence.json; GitHub Actions run 38255018583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python evaluation/prove_rag.py for ranking and summary controls. Run python evaluation/export_rag_controls.py for same-query corpus variants and full validator proposals. Run python evaluation/prove_live_rag.py with Ollama and the local model installed for actual generation. Model output may differ between runs, so the exported citation decision is authoritative for each run. Start the app with python run.py, choose uploaded-repository, upload a real-ECU baseline and its paired mutant, compare the injected line, open the retrieval score expander and then show Verification lab. Retained source and corpus hashes support audit; they do not prove semantic correctness.</a:t>
            </a:r>
          </a:p>
          <a:p xmlns:a="http://schemas.openxmlformats.org/drawingml/2006/main">
            <a:r>
              <a:t>Evidence: evaluation/prove_rag.py, export_rag_controls.py and prove_live_rag.py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defensible conclusion is that this implementation retrieves applicable advisory guidance on the measured set, changes support under controlled corpus interventions, runs a real local model, and rejects the demonstrated unsupported citations. The current pipeline primarily grounds detector candidates and can miss semantic defects not detected by its text heuristics. The 20-card corpus and author-labelled queries are small, and there is one hybrid retrieval miss. Citation acceptance validates an extractive contract, not the entire explanation. Synthetic project cards confer no official MISRA/ISO authority. Proposed future compiler AST facts, reviewed MCU/RTOS/CAN-FD profiles and larger independent labelled studies are not implemented proof. UI AppTest and contrast checks do not constitute full browser or accessibility certification.</a:t>
            </a:r>
          </a:p>
          <a:p xmlns:a="http://schemas.openxmlformats.org/drawingml/2006/main">
            <a:r>
              <a:t>Evidence: docs/TECHNICAL_REPORT_v2.md and retained evaluation records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Ranks start at one. Miss means absent from top five. Query subject labels are shortened for readability. The JSON retains full original queries, ranked rule IDs, lexical scores, dense scores and reciprocal rank fusion scores. No misses have been removed.</a:t>
            </a:r>
          </a:p>
          <a:p xmlns:a="http://schemas.openxmlformats.org/drawingml/2006/main">
            <a:r>
              <a:t>Evidence: Evaluation_Results/rag_evidence/retrieval_results.json: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Ranks start at one. Miss means absent from top five. Query subject labels are shortened for readability. The JSON retains full original queries, ranked rule IDs, lexical scores, dense scores and reciprocal rank fusion scores. No misses have been removed.</a:t>
            </a:r>
          </a:p>
          <a:p xmlns:a="http://schemas.openxmlformats.org/drawingml/2006/main">
            <a:r>
              <a:t>Evidence: Evaluation_Results/rag_evidence/retrieval_results.json: cases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2f390dc2134fb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972efbd21614ed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75c45c910144f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4f0a3efb51747e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6cf130229cd416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2b3c555c0e4e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7B087C-51D1-49BB-BA88-8C35D233C2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B2F5BD3-7818-4629-9D22-FCD5D58407D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8BC0CC5-0A7C-45A3-A5E1-A2A35C8DF5C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EAC36E3-1AAC-4596-98C6-AE28B6370C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082EFF0-F88D-4D6C-BA8F-BC7DE8B5A0B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E0008C-BB45-45D0-939D-09004832DF8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EC3FD1-824B-446A-89F9-EC42D5FE040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62A3905-B400-4A89-8297-C6E33416934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F144707-89D3-4A99-AD53-C81A5D88D87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6531D20-169C-4B2C-A197-62A91C6059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a05f2a7c1fd42da" /><Relationship Type="http://schemas.openxmlformats.org/officeDocument/2006/relationships/slideLayout" Target="/ppt/slideLayouts/slideLayout1.xml" Id="R5e602ebea379440c" /><Relationship Type="http://schemas.openxmlformats.org/officeDocument/2006/relationships/slideLayout" Target="/ppt/slideLayouts/slideLayout2.xml" Id="Re2af596c7d1e4f3c" /><Relationship Type="http://schemas.openxmlformats.org/officeDocument/2006/relationships/slideLayout" Target="/ppt/slideLayouts/slideLayout3.xml" Id="R6ec9a4b9f3054fc9" /><Relationship Type="http://schemas.openxmlformats.org/officeDocument/2006/relationships/slideLayout" Target="/ppt/slideLayouts/slideLayout4.xml" Id="R9ed7ca61700c42ff" /><Relationship Type="http://schemas.openxmlformats.org/officeDocument/2006/relationships/slideLayout" Target="/ppt/slideLayouts/slideLayout5.xml" Id="R4b65a1374bed499d" /><Relationship Type="http://schemas.openxmlformats.org/officeDocument/2006/relationships/slideLayout" Target="/ppt/slideLayouts/slideLayout6.xml" Id="Rb329648489a541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602ebea379440c"/>
    <p:sldLayoutId xmlns:r="http://schemas.openxmlformats.org/officeDocument/2006/relationships" id="2147483650" r:id="Re2af596c7d1e4f3c"/>
    <p:sldLayoutId xmlns:r="http://schemas.openxmlformats.org/officeDocument/2006/relationships" id="2147483651" r:id="R6ec9a4b9f3054fc9"/>
    <p:sldLayoutId xmlns:r="http://schemas.openxmlformats.org/officeDocument/2006/relationships" id="2147483652" r:id="R9ed7ca61700c42ff"/>
    <p:sldLayoutId xmlns:r="http://schemas.openxmlformats.org/officeDocument/2006/relationships" id="2147483653" r:id="R4b65a1374bed499d"/>
    <p:sldLayoutId xmlns:r="http://schemas.openxmlformats.org/officeDocument/2006/relationships" id="2147483654" r:id="Rb329648489a541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33cfb112f44c32" /><Relationship Type="http://schemas.openxmlformats.org/officeDocument/2006/relationships/notesSlide" Target="/ppt/notesSlides/notesSlide1.xml" Id="R814ac9e068a3486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b6422ab9c55430e" /><Relationship Type="http://schemas.openxmlformats.org/officeDocument/2006/relationships/notesSlide" Target="/ppt/notesSlides/notesSlide2.xml" Id="R1f59b7d7344d49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96544dff1494d9d" /><Relationship Type="http://schemas.openxmlformats.org/officeDocument/2006/relationships/notesSlide" Target="/ppt/notesSlides/notesSlide3.xml" Id="Rc52c84b9f7e7414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137b32f62c4f14" /><Relationship Type="http://schemas.openxmlformats.org/officeDocument/2006/relationships/notesSlide" Target="/ppt/notesSlides/notesSlide4.xml" Id="R3e70cec20d434ba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090c69ca22543b6" /><Relationship Type="http://schemas.openxmlformats.org/officeDocument/2006/relationships/notesSlide" Target="/ppt/notesSlides/notesSlide5.xml" Id="R7466d40ab01a45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d87e82a47db499e" /><Relationship Type="http://schemas.openxmlformats.org/officeDocument/2006/relationships/notesSlide" Target="/ppt/notesSlides/notesSlide6.xml" Id="R5c84cc24593943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cc01d4f13814e4c" /><Relationship Type="http://schemas.openxmlformats.org/officeDocument/2006/relationships/notesSlide" Target="/ppt/notesSlides/notesSlide7.xml" Id="Rd4c7f3c22b74475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de598b687ea4a7b" /><Relationship Type="http://schemas.openxmlformats.org/officeDocument/2006/relationships/notesSlide" Target="/ppt/notesSlides/notesSlide8.xml" Id="R3a9e9171103c44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58f952e929f4f70" /><Relationship Type="http://schemas.openxmlformats.org/officeDocument/2006/relationships/notesSlide" Target="/ppt/notesSlides/notesSlide9.xml" Id="Rb80656e0934c4e9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fe9081a437b47cc" /><Relationship Type="http://schemas.openxmlformats.org/officeDocument/2006/relationships/notesSlide" Target="/ppt/notesSlides/notesSlide10.xml" Id="R9f89b98237644c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b392ffd06894899" /><Relationship Type="http://schemas.openxmlformats.org/officeDocument/2006/relationships/notesSlide" Target="/ppt/notesSlides/notesSlide11.xml" Id="R42edc725f2424b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b218418ae5e4243" /><Relationship Type="http://schemas.openxmlformats.org/officeDocument/2006/relationships/notesSlide" Target="/ppt/notesSlides/notesSlide12.xml" Id="R84cefca768d4441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8ac9a68a32144bc" /><Relationship Type="http://schemas.openxmlformats.org/officeDocument/2006/relationships/notesSlide" Target="/ppt/notesSlides/notesSlide13.xml" Id="Rfe42cabe0a9c42b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aac0eb4e7a4085" /><Relationship Type="http://schemas.openxmlformats.org/officeDocument/2006/relationships/notesSlide" Target="/ppt/notesSlides/notesSlide14.xml" Id="R190756c6b57e4cf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28d43dcc4db4dc1" /><Relationship Type="http://schemas.openxmlformats.org/officeDocument/2006/relationships/notesSlide" Target="/ppt/notesSlides/notesSlide15.xml" Id="Rfce449d8911540a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7d444d8d9ad473b" /><Relationship Type="http://schemas.openxmlformats.org/officeDocument/2006/relationships/notesSlide" Target="/ppt/notesSlides/notesSlide16.xml" Id="R1e5839559284445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8b740f0132cb4797" /><Relationship Type="http://schemas.openxmlformats.org/officeDocument/2006/relationships/notesSlide" Target="/ppt/notesSlides/notesSlide17.xml" Id="R86a2d8a797ae482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0ef8c8418974ada" /><Relationship Type="http://schemas.openxmlformats.org/officeDocument/2006/relationships/notesSlide" Target="/ppt/notesSlides/notesSlide18.xml" Id="R5a8fa407704c435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1a35dd2c6554ab1" /><Relationship Type="http://schemas.openxmlformats.org/officeDocument/2006/relationships/notesSlide" Target="/ppt/notesSlides/notesSlide19.xml" Id="R1097f1050a9b453d"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88223e16d37430a" /><Relationship Type="http://schemas.openxmlformats.org/officeDocument/2006/relationships/notesSlide" Target="/ppt/notesSlides/notesSlide20.xml" Id="R231309d5b796480a" /></Relationships>
</file>

<file path=ppt/slides/slide1.xml><?xml version="1.0" encoding="utf-8"?>
<p:sld xmlns:p="http://schemas.openxmlformats.org/presentationml/2006/main">
  <p:cSld>
    <p:bg>
      <p:bgPr>
        <a:solidFill xmlns:a="http://schemas.openxmlformats.org/drawingml/2006/main">
          <a:srgbClr val="102B32"/>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C439BA0-EE0B-4F4B-B444-354FF8D1903B}"/>
              </a:ext>
            </a:extLst>
          </p:cNvPr>
          <p:cNvSpPr>
            <a:spLocks xmlns:a="http://schemas.openxmlformats.org/drawingml/2006/main" noGrp="1"/>
          </p:cNvSpPr>
          <p:nvPr/>
        </p:nvSpPr>
        <p:spPr>
          <a:xfrm xmlns:a="http://schemas.openxmlformats.org/drawingml/2006/main">
            <a:off x="685800" y="1524000"/>
            <a:ext cx="108204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950" b="1">
                <a:solidFill>
                  <a:srgbClr val="FFFFFF"/>
                </a:solidFill>
                <a:latin typeface="Arial"/>
                <a:ea typeface="Arial"/>
                <a:cs typeface="Arial"/>
              </a:defRPr>
            </a:defPPr>
          </a:lstStyle>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RAG verification</a:t>
            </a:r>
          </a:p>
          <a:p xmlns:a="http://schemas.openxmlformats.org/drawingml/2006/main">
            <a:pPr>
              <a:defRPr sz="4950" b="1">
                <a:solidFill>
                  <a:srgbClr val="FFFFFF"/>
                </a:solidFill>
                <a:latin typeface="Arial"/>
                <a:ea typeface="Arial"/>
                <a:cs typeface="Arial"/>
              </a:defRPr>
            </a:pPr>
            <a:r>
              <a:rPr sz="4950" b="1">
                <a:solidFill>
                  <a:srgbClr val="FFFFFF"/>
                </a:solidFill>
                <a:latin typeface="Arial"/>
                <a:ea typeface="Arial"/>
                <a:cs typeface="Arial"/>
              </a:rPr>
              <a:t>and evaluation evidence</a:t>
            </a:r>
          </a:p>
        </p:txBody>
      </p:sp>
      <p:sp>
        <p:nvSpPr>
          <p:cNvPr id="2" name="">
            <a:extLst xmlns:a="http://schemas.openxmlformats.org/drawingml/2006/main">
              <a:ext uri="{FF2B5EF4-FFF2-40B4-BE49-F238E27FC236}">
                <a16:creationId xmlns:a16="http://schemas.microsoft.com/office/drawing/2014/main" id="{C2C23D98-44F7-4FB5-A02F-73DAF13DD238}"/>
              </a:ext>
            </a:extLst>
          </p:cNvPr>
          <p:cNvSpPr>
            <a:spLocks xmlns:a="http://schemas.openxmlformats.org/drawingml/2006/main" noGrp="1"/>
          </p:cNvSpPr>
          <p:nvPr/>
        </p:nvSpPr>
        <p:spPr>
          <a:xfrm xmlns:a="http://schemas.openxmlformats.org/drawingml/2006/main">
            <a:off x="723900" y="390525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93E0D5"/>
                </a:solidFill>
                <a:latin typeface="Arial"/>
                <a:ea typeface="Arial"/>
                <a:cs typeface="Arial"/>
              </a:defRPr>
            </a:defPPr>
          </a:lstStyle>
          <a:p xmlns:a="http://schemas.openxmlformats.org/drawingml/2006/main">
            <a:pPr>
              <a:defRPr sz="2325" b="0">
                <a:solidFill>
                  <a:srgbClr val="93E0D5"/>
                </a:solidFill>
                <a:latin typeface="Arial"/>
                <a:ea typeface="Arial"/>
                <a:cs typeface="Arial"/>
              </a:defRPr>
            </a:pPr>
            <a:r>
              <a:rPr sz="2325" b="0">
                <a:solidFill>
                  <a:srgbClr val="93E0D5"/>
                </a:solidFill>
                <a:latin typeface="Arial"/>
                <a:ea typeface="Arial"/>
                <a:cs typeface="Arial"/>
              </a:rPr>
              <a:t>Automotive Secure Code Review Assistant</a:t>
            </a:r>
          </a:p>
        </p:txBody>
      </p:sp>
      <p:sp>
        <p:nvSpPr>
          <p:cNvPr id="3" name="">
            <a:extLst xmlns:a="http://schemas.openxmlformats.org/drawingml/2006/main">
              <a:ext uri="{FF2B5EF4-FFF2-40B4-BE49-F238E27FC236}">
                <a16:creationId xmlns:a16="http://schemas.microsoft.com/office/drawing/2014/main" id="{6C92FB62-B9B3-4E9D-B24C-FB0BC3734ABA}"/>
              </a:ext>
            </a:extLst>
          </p:cNvPr>
          <p:cNvSpPr>
            <a:spLocks xmlns:a="http://schemas.openxmlformats.org/drawingml/2006/main" noGrp="1"/>
          </p:cNvSpPr>
          <p:nvPr/>
        </p:nvSpPr>
        <p:spPr>
          <a:xfrm xmlns:a="http://schemas.openxmlformats.org/drawingml/2006/main">
            <a:off x="723900" y="514350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C7D5D8"/>
                </a:solidFill>
                <a:latin typeface="Arial"/>
                <a:ea typeface="Arial"/>
                <a:cs typeface="Arial"/>
              </a:defRPr>
            </a:defPPr>
          </a:lstStyle>
          <a:p xmlns:a="http://schemas.openxmlformats.org/drawingml/2006/main">
            <a:pPr>
              <a:defRPr sz="1875" b="0">
                <a:solidFill>
                  <a:srgbClr val="C7D5D8"/>
                </a:solidFill>
                <a:latin typeface="Arial"/>
                <a:ea typeface="Arial"/>
                <a:cs typeface="Arial"/>
              </a:defRPr>
            </a:pPr>
            <a:r>
              <a:rPr sz="1875" b="0">
                <a:solidFill>
                  <a:srgbClr val="C7D5D8"/>
                </a:solidFill>
                <a:latin typeface="Arial"/>
                <a:ea typeface="Arial"/>
                <a:cs typeface="Arial"/>
              </a:rPr>
              <a:t>Karthikeya Bellapukonda</a:t>
            </a:r>
          </a:p>
          <a:p xmlns:a="http://schemas.openxmlformats.org/drawingml/2006/main">
            <a:pPr>
              <a:defRPr sz="1875" b="0">
                <a:solidFill>
                  <a:srgbClr val="C7D5D8"/>
                </a:solidFill>
                <a:latin typeface="Arial"/>
                <a:ea typeface="Arial"/>
                <a:cs typeface="Arial"/>
              </a:defRPr>
            </a:pPr>
            <a:r>
              <a:rPr sz="1875" b="0">
                <a:solidFill>
                  <a:srgbClr val="C7D5D8"/>
                </a:solidFill>
                <a:latin typeface="Arial"/>
                <a:ea typeface="Arial"/>
                <a:cs typeface="Arial"/>
              </a:rPr>
              <a:t>CB.AI.U4AID23109 · Amrita Vishwa Vidyapeetham</a:t>
            </a:r>
          </a:p>
        </p:txBody>
      </p:sp>
    </p:spTree>
    <p:extLst>
      <p:ext uri="{BB962C8B-B14F-4D97-AF65-F5344CB8AC3E}">
        <p14:creationId xmlns:p14="http://schemas.microsoft.com/office/powerpoint/2010/main" val="164925071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9D97D29-2F7A-4FC0-8435-CC6BED925CF5}"/>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Four layers of evidence</a:t>
            </a:r>
          </a:p>
        </p:txBody>
      </p:sp>
      <p:sp>
        <p:nvSpPr>
          <p:cNvPr id="2" name="">
            <a:extLst xmlns:a="http://schemas.openxmlformats.org/drawingml/2006/main">
              <a:ext uri="{FF2B5EF4-FFF2-40B4-BE49-F238E27FC236}">
                <a16:creationId xmlns:a16="http://schemas.microsoft.com/office/drawing/2014/main" id="{D829DC11-47AA-4A3D-B606-FA0D77E6906D}"/>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Evaluation_Results/rag_evidence/*.json and component_evidence.json</a:t>
            </a:r>
          </a:p>
        </p:txBody>
      </p:sp>
      <p:sp>
        <p:nvSpPr>
          <p:cNvPr id="3" name="">
            <a:extLst xmlns:a="http://schemas.openxmlformats.org/drawingml/2006/main">
              <a:ext uri="{FF2B5EF4-FFF2-40B4-BE49-F238E27FC236}">
                <a16:creationId xmlns:a16="http://schemas.microsoft.com/office/drawing/2014/main" id="{831A8438-70EC-41F3-A7CC-EC972201FCB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5039E1AF-D0F1-4463-9709-3B76EA59BF53}"/>
              </a:ext>
            </a:extLst>
          </p:cNvPr>
          <p:cNvGraphicFramePr/>
          <p:nvPr/>
        </p:nvGraphicFramePr>
        <p:xfrm>
          <a:off xmlns:a="http://schemas.openxmlformats.org/drawingml/2006/main" x="685800" y="1666875"/>
          <a:ext xmlns:a="http://schemas.openxmlformats.org/drawingml/2006/main" cx="10820400" cy="3714750"/>
        </p:xfrm>
        <a:graphic xmlns:a="http://schemas.openxmlformats.org/drawingml/2006/main">
          <a:graphicData uri="http://schemas.openxmlformats.org/drawingml/2006/table">
            <a:tbl>
              <a:tblPr/>
              <a:tblGrid>
                <a:gridCol w="2952750"/>
                <a:gridCol w="3762375"/>
                <a:gridCol w="4105275"/>
              </a:tblGrid>
              <a:tr h="742950">
                <a:tc>
                  <a:txBody>
                    <a:bodyPr>
                      <a:noAutofit/>
                    </a:bodyPr>
                    <a:lstStyle/>
                    <a:p>
                      <a:r>
                        <a:rPr sz="1875" b="1">
                          <a:solidFill>
                            <a:srgbClr val="FFFFFF"/>
                          </a:solidFill>
                          <a:latin typeface="Arial"/>
                          <a:ea typeface="Arial"/>
                          <a:cs typeface="Arial"/>
                        </a:rPr>
                        <a:t>Layer</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Measured result</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Question answered</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742950">
                <a:tc>
                  <a:txBody>
                    <a:bodyPr>
                      <a:noAutofit/>
                    </a:bodyPr>
                    <a:lstStyle/>
                    <a:p>
                      <a:r>
                        <a:rPr sz="1875" b="0">
                          <a:solidFill>
                            <a:srgbClr val="182E35"/>
                          </a:solidFill>
                          <a:latin typeface="Arial"/>
                          <a:ea typeface="Arial"/>
                          <a:cs typeface="Arial"/>
                        </a:rPr>
                        <a:t>Retrieval ranking</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19/20 relevant rules in top 5</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Does search find useful context?</a:t>
                      </a:r>
                    </a:p>
                  </a:txBody>
                  <a:tcPr marL="91440" marR="91440" marT="45720" marB="45720">
                    <a:lnR w="9525">
                      <a:solidFill>
                        <a:srgbClr val="D6E2E4"/>
                      </a:solidFill>
                      <a:prstDash val="solid"/>
                    </a:lnR>
                    <a:lnB w="9525">
                      <a:solidFill>
                        <a:srgbClr val="D6E2E4"/>
                      </a:solidFill>
                      <a:prstDash val="solid"/>
                    </a:lnB>
                    <a:solidFill>
                      <a:srgbClr val="FFFFFF"/>
                    </a:solidFill>
                  </a:tcPr>
                </a:tc>
              </a:tr>
              <a:tr h="742950">
                <a:tc>
                  <a:txBody>
                    <a:bodyPr>
                      <a:noAutofit/>
                    </a:bodyPr>
                    <a:lstStyle/>
                    <a:p>
                      <a:r>
                        <a:rPr sz="1875" b="0">
                          <a:solidFill>
                            <a:srgbClr val="182E35"/>
                          </a:solidFill>
                          <a:latin typeface="Arial"/>
                          <a:ea typeface="Arial"/>
                          <a:cs typeface="Arial"/>
                        </a:rPr>
                        <a:t>Controlled interventions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All 9 exported checks pass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Does support depend on context?</a:t>
                      </a:r>
                    </a:p>
                  </a:txBody>
                  <a:tcPr marL="91440" marR="91440" marT="45720" marB="45720">
                    <a:lnR w="9525">
                      <a:solidFill>
                        <a:srgbClr val="D6E2E4"/>
                      </a:solidFill>
                      <a:prstDash val="solid"/>
                    </a:lnR>
                    <a:lnB w="9525">
                      <a:solidFill>
                        <a:srgbClr val="D6E2E4"/>
                      </a:solidFill>
                      <a:prstDash val="solid"/>
                    </a:lnB>
                    <a:solidFill>
                      <a:srgbClr val="E9F1F2"/>
                    </a:solidFill>
                  </a:tcPr>
                </a:tc>
              </a:tr>
              <a:tr h="742950">
                <a:tc>
                  <a:txBody>
                    <a:bodyPr>
                      <a:noAutofit/>
                    </a:bodyPr>
                    <a:lstStyle/>
                    <a:p>
                      <a:r>
                        <a:rPr sz="1875" b="0">
                          <a:solidFill>
                            <a:srgbClr val="182E35"/>
                          </a:solidFill>
                          <a:latin typeface="Arial"/>
                          <a:ea typeface="Arial"/>
                          <a:cs typeface="Arial"/>
                        </a:rPr>
                        <a:t>Actual local generation</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1 accepted, 1 rejected, 1 clean</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Did generation and its gate run?</a:t>
                      </a:r>
                    </a:p>
                  </a:txBody>
                  <a:tcPr marL="91440" marR="91440" marT="45720" marB="45720">
                    <a:lnR w="9525">
                      <a:solidFill>
                        <a:srgbClr val="D6E2E4"/>
                      </a:solidFill>
                      <a:prstDash val="solid"/>
                    </a:lnR>
                    <a:lnB w="9525">
                      <a:solidFill>
                        <a:srgbClr val="D6E2E4"/>
                      </a:solidFill>
                      <a:prstDash val="solid"/>
                    </a:lnB>
                    <a:solidFill>
                      <a:srgbClr val="FFFFFF"/>
                    </a:solidFill>
                  </a:tcPr>
                </a:tc>
              </a:tr>
              <a:tr h="742950">
                <a:tc>
                  <a:txBody>
                    <a:bodyPr>
                      <a:noAutofit/>
                    </a:bodyPr>
                    <a:lstStyle/>
                    <a:p>
                      <a:r>
                        <a:rPr sz="1875" b="0">
                          <a:solidFill>
                            <a:srgbClr val="182E35"/>
                          </a:solidFill>
                          <a:latin typeface="Arial"/>
                          <a:ea typeface="Arial"/>
                          <a:cs typeface="Arial"/>
                        </a:rPr>
                        <a:t>System verification</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93 tests; 100 repositories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Do surrounding contracts hold?</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
        <p:nvSpPr>
          <p:cNvPr id="5" name="">
            <a:extLst xmlns:a="http://schemas.openxmlformats.org/drawingml/2006/main">
              <a:ext uri="{FF2B5EF4-FFF2-40B4-BE49-F238E27FC236}">
                <a16:creationId xmlns:a16="http://schemas.microsoft.com/office/drawing/2014/main" id="{40201680-2984-408F-91CE-B9EA85F9EAAD}"/>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Different layers establish different contracts. No single score proves unrestricted correctness.</a:t>
            </a:r>
          </a:p>
        </p:txBody>
      </p:sp>
    </p:spTree>
    <p:extLst>
      <p:ext uri="{BB962C8B-B14F-4D97-AF65-F5344CB8AC3E}">
        <p14:creationId xmlns:p14="http://schemas.microsoft.com/office/powerpoint/2010/main" val="108350178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54D8018-E6E9-418F-BF61-79684786AB06}"/>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What RAG contributes</a:t>
            </a:r>
          </a:p>
        </p:txBody>
      </p:sp>
      <p:sp>
        <p:nvSpPr>
          <p:cNvPr id="2" name="">
            <a:extLst xmlns:a="http://schemas.openxmlformats.org/drawingml/2006/main">
              <a:ext uri="{FF2B5EF4-FFF2-40B4-BE49-F238E27FC236}">
                <a16:creationId xmlns:a16="http://schemas.microsoft.com/office/drawing/2014/main" id="{3D7AE8E3-308C-4849-9BFB-50C7EE274546}"/>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src/rag/orchestrator.py and src/rag/automotive_retrieval.py</a:t>
            </a:r>
          </a:p>
        </p:txBody>
      </p:sp>
      <p:sp>
        <p:nvSpPr>
          <p:cNvPr id="3" name="">
            <a:extLst xmlns:a="http://schemas.openxmlformats.org/drawingml/2006/main">
              <a:ext uri="{FF2B5EF4-FFF2-40B4-BE49-F238E27FC236}">
                <a16:creationId xmlns:a16="http://schemas.microsoft.com/office/drawing/2014/main" id="{9BC46C64-6042-4867-BEE5-C53A8AC18938}"/>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847F9834-A420-4BBF-B5D0-E9AE844BCB15}"/>
              </a:ext>
            </a:extLst>
          </p:cNvPr>
          <p:cNvSpPr>
            <a:spLocks xmlns:a="http://schemas.openxmlformats.org/drawingml/2006/main" noGrp="1"/>
          </p:cNvSpPr>
          <p:nvPr/>
        </p:nvSpPr>
        <p:spPr>
          <a:xfrm xmlns:a="http://schemas.openxmlformats.org/drawingml/2006/main">
            <a:off x="685800" y="1714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087F75"/>
                </a:solidFill>
                <a:latin typeface="Arial"/>
                <a:ea typeface="Arial"/>
                <a:cs typeface="Arial"/>
              </a:defRPr>
            </a:defPPr>
          </a:lstStyle>
          <a:p xmlns:a="http://schemas.openxmlformats.org/drawingml/2006/main">
            <a:pPr>
              <a:defRPr sz="2850" b="1">
                <a:solidFill>
                  <a:srgbClr val="087F75"/>
                </a:solidFill>
                <a:latin typeface="Arial"/>
                <a:ea typeface="Arial"/>
                <a:cs typeface="Arial"/>
              </a:defRPr>
            </a:pPr>
            <a:r>
              <a:rPr sz="2850" b="1">
                <a:solidFill>
                  <a:srgbClr val="087F75"/>
                </a:solidFill>
                <a:latin typeface="Arial"/>
                <a:ea typeface="Arial"/>
                <a:cs typeface="Arial"/>
              </a:rPr>
              <a:t>RAG = retrieval augmented generation</a:t>
            </a:r>
          </a:p>
        </p:txBody>
      </p:sp>
      <p:sp>
        <p:nvSpPr>
          <p:cNvPr id="5" name="">
            <a:extLst xmlns:a="http://schemas.openxmlformats.org/drawingml/2006/main">
              <a:ext uri="{FF2B5EF4-FFF2-40B4-BE49-F238E27FC236}">
                <a16:creationId xmlns:a16="http://schemas.microsoft.com/office/drawing/2014/main" id="{5E89AE57-7F79-47F4-ADF1-4377A380A4C3}"/>
              </a:ext>
            </a:extLst>
          </p:cNvPr>
          <p:cNvSpPr>
            <a:spLocks xmlns:a="http://schemas.openxmlformats.org/drawingml/2006/main" noGrp="1"/>
          </p:cNvSpPr>
          <p:nvPr/>
        </p:nvSpPr>
        <p:spPr>
          <a:xfrm xmlns:a="http://schemas.openxmlformats.org/drawingml/2006/main">
            <a:off x="685800" y="27146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The detector locates supported C/C++ review candidates.</a:t>
            </a:r>
          </a:p>
        </p:txBody>
      </p:sp>
      <p:sp>
        <p:nvSpPr>
          <p:cNvPr id="6" name="">
            <a:extLst xmlns:a="http://schemas.openxmlformats.org/drawingml/2006/main">
              <a:ext uri="{FF2B5EF4-FFF2-40B4-BE49-F238E27FC236}">
                <a16:creationId xmlns:a16="http://schemas.microsoft.com/office/drawing/2014/main" id="{F37A9F5B-2B29-4C79-A9AA-6E4729CD0A14}"/>
              </a:ext>
            </a:extLst>
          </p:cNvPr>
          <p:cNvSpPr>
            <a:spLocks xmlns:a="http://schemas.openxmlformats.org/drawingml/2006/main" noGrp="1"/>
          </p:cNvSpPr>
          <p:nvPr/>
        </p:nvSpPr>
        <p:spPr>
          <a:xfrm xmlns:a="http://schemas.openxmlformats.org/drawingml/2006/main">
            <a:off x="685800" y="34575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Retrieval supplies applicable advisory guidance from a versioned corpus.</a:t>
            </a:r>
          </a:p>
        </p:txBody>
      </p:sp>
      <p:sp>
        <p:nvSpPr>
          <p:cNvPr id="7" name="">
            <a:extLst xmlns:a="http://schemas.openxmlformats.org/drawingml/2006/main">
              <a:ext uri="{FF2B5EF4-FFF2-40B4-BE49-F238E27FC236}">
                <a16:creationId xmlns:a16="http://schemas.microsoft.com/office/drawing/2014/main" id="{2492CDAA-F9E1-4B2F-8BB2-7F27404155F4}"/>
              </a:ext>
            </a:extLst>
          </p:cNvPr>
          <p:cNvSpPr>
            <a:spLocks xmlns:a="http://schemas.openxmlformats.org/drawingml/2006/main" noGrp="1"/>
          </p:cNvSpPr>
          <p:nvPr/>
        </p:nvSpPr>
        <p:spPr>
          <a:xfrm xmlns:a="http://schemas.openxmlformats.org/drawingml/2006/main">
            <a:off x="685800" y="420052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Local llama3.1 generates a structured explanation using that context.</a:t>
            </a:r>
          </a:p>
        </p:txBody>
      </p:sp>
      <p:sp>
        <p:nvSpPr>
          <p:cNvPr id="8" name="">
            <a:extLst xmlns:a="http://schemas.openxmlformats.org/drawingml/2006/main">
              <a:ext uri="{FF2B5EF4-FFF2-40B4-BE49-F238E27FC236}">
                <a16:creationId xmlns:a16="http://schemas.microsoft.com/office/drawing/2014/main" id="{8B0F2150-F25F-442D-867B-B05C170BF34F}"/>
              </a:ext>
            </a:extLst>
          </p:cNvPr>
          <p:cNvSpPr>
            <a:spLocks xmlns:a="http://schemas.openxmlformats.org/drawingml/2006/main" noGrp="1"/>
          </p:cNvSpPr>
          <p:nvPr/>
        </p:nvSpPr>
        <p:spPr>
          <a:xfrm xmlns:a="http://schemas.openxmlformats.org/drawingml/2006/main">
            <a:off x="685800" y="4943475"/>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A programmatic gate checks its rule ID and quoted evidence.</a:t>
            </a:r>
          </a:p>
        </p:txBody>
      </p:sp>
    </p:spTree>
    <p:extLst>
      <p:ext uri="{BB962C8B-B14F-4D97-AF65-F5344CB8AC3E}">
        <p14:creationId xmlns:p14="http://schemas.microsoft.com/office/powerpoint/2010/main" val="85605405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3FE0AF-CA43-40C6-9886-E40272A240D5}"/>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The active review pipeline</a:t>
            </a:r>
          </a:p>
        </p:txBody>
      </p:sp>
      <p:sp>
        <p:nvSpPr>
          <p:cNvPr id="2" name="">
            <a:extLst xmlns:a="http://schemas.openxmlformats.org/drawingml/2006/main">
              <a:ext uri="{FF2B5EF4-FFF2-40B4-BE49-F238E27FC236}">
                <a16:creationId xmlns:a16="http://schemas.microsoft.com/office/drawing/2014/main" id="{853211EB-D458-4F54-80B7-F318B8225EDC}"/>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src/rag/automotive_retrieval.py and src/rag/orchestrator.py</a:t>
            </a:r>
          </a:p>
        </p:txBody>
      </p:sp>
      <p:sp>
        <p:nvSpPr>
          <p:cNvPr id="3" name="">
            <a:extLst xmlns:a="http://schemas.openxmlformats.org/drawingml/2006/main">
              <a:ext uri="{FF2B5EF4-FFF2-40B4-BE49-F238E27FC236}">
                <a16:creationId xmlns:a16="http://schemas.microsoft.com/office/drawing/2014/main" id="{BDA5D484-14FD-4F9E-9A93-42B252E348C1}"/>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6879E290-D666-4FDD-B7BA-5568D95F3C92}"/>
              </a:ext>
            </a:extLst>
          </p:cNvPr>
          <p:cNvSpPr>
            <a:spLocks xmlns:a="http://schemas.openxmlformats.org/drawingml/2006/main" noGrp="1"/>
          </p:cNvSpPr>
          <p:nvPr/>
        </p:nvSpPr>
        <p:spPr>
          <a:xfrm xmlns:a="http://schemas.openxmlformats.org/drawingml/2006/main">
            <a:off x="685800" y="15811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01  Detector facts form a focused query.</a:t>
            </a:r>
          </a:p>
        </p:txBody>
      </p:sp>
      <p:sp>
        <p:nvSpPr>
          <p:cNvPr id="5" name="">
            <a:extLst xmlns:a="http://schemas.openxmlformats.org/drawingml/2006/main">
              <a:ext uri="{FF2B5EF4-FFF2-40B4-BE49-F238E27FC236}">
                <a16:creationId xmlns:a16="http://schemas.microsoft.com/office/drawing/2014/main" id="{4372862B-3F16-497A-B97D-8F0B1453EAA3}"/>
              </a:ext>
            </a:extLst>
          </p:cNvPr>
          <p:cNvSpPr>
            <a:spLocks xmlns:a="http://schemas.openxmlformats.org/drawingml/2006/main" noGrp="1"/>
          </p:cNvSpPr>
          <p:nvPr/>
        </p:nvSpPr>
        <p:spPr>
          <a:xfrm xmlns:a="http://schemas.openxmlformats.org/drawingml/2006/main">
            <a:off x="685800" y="22955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02  BM25 and optional local embeddings rank the advisory cards.</a:t>
            </a:r>
          </a:p>
        </p:txBody>
      </p:sp>
      <p:sp>
        <p:nvSpPr>
          <p:cNvPr id="6" name="">
            <a:extLst xmlns:a="http://schemas.openxmlformats.org/drawingml/2006/main">
              <a:ext uri="{FF2B5EF4-FFF2-40B4-BE49-F238E27FC236}">
                <a16:creationId xmlns:a16="http://schemas.microsoft.com/office/drawing/2014/main" id="{C90B1637-BA55-42BE-B54A-1A520E722DA8}"/>
              </a:ext>
            </a:extLst>
          </p:cNvPr>
          <p:cNvSpPr>
            <a:spLocks xmlns:a="http://schemas.openxmlformats.org/drawingml/2006/main" noGrp="1"/>
          </p:cNvSpPr>
          <p:nvPr/>
        </p:nvSpPr>
        <p:spPr>
          <a:xfrm xmlns:a="http://schemas.openxmlformats.org/drawingml/2006/main">
            <a:off x="685800" y="30099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03  Reciprocal rank fusion combines the rankings.</a:t>
            </a:r>
          </a:p>
        </p:txBody>
      </p:sp>
      <p:sp>
        <p:nvSpPr>
          <p:cNvPr id="7" name="">
            <a:extLst xmlns:a="http://schemas.openxmlformats.org/drawingml/2006/main">
              <a:ext uri="{FF2B5EF4-FFF2-40B4-BE49-F238E27FC236}">
                <a16:creationId xmlns:a16="http://schemas.microsoft.com/office/drawing/2014/main" id="{754C8B88-87E2-4E81-8911-3E81B4B4A2D3}"/>
              </a:ext>
            </a:extLst>
          </p:cNvPr>
          <p:cNvSpPr>
            <a:spLocks xmlns:a="http://schemas.openxmlformats.org/drawingml/2006/main" noGrp="1"/>
          </p:cNvSpPr>
          <p:nvPr/>
        </p:nvSpPr>
        <p:spPr>
          <a:xfrm xmlns:a="http://schemas.openxmlformats.org/drawingml/2006/main">
            <a:off x="685800" y="37242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04  The typed rule gate accepts applicable context or abstains.</a:t>
            </a:r>
          </a:p>
        </p:txBody>
      </p:sp>
      <p:sp>
        <p:nvSpPr>
          <p:cNvPr id="8" name="">
            <a:extLst xmlns:a="http://schemas.openxmlformats.org/drawingml/2006/main">
              <a:ext uri="{FF2B5EF4-FFF2-40B4-BE49-F238E27FC236}">
                <a16:creationId xmlns:a16="http://schemas.microsoft.com/office/drawing/2014/main" id="{A9C17E1B-709A-4D8E-BFAD-D569AFF2A197}"/>
              </a:ext>
            </a:extLst>
          </p:cNvPr>
          <p:cNvSpPr>
            <a:spLocks xmlns:a="http://schemas.openxmlformats.org/drawingml/2006/main" noGrp="1"/>
          </p:cNvSpPr>
          <p:nvPr/>
        </p:nvSpPr>
        <p:spPr>
          <a:xfrm xmlns:a="http://schemas.openxmlformats.org/drawingml/2006/main">
            <a:off x="685800" y="44386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05  Local generation returns JSON with an exact rule ID and quote.</a:t>
            </a:r>
          </a:p>
        </p:txBody>
      </p:sp>
      <p:sp>
        <p:nvSpPr>
          <p:cNvPr id="9" name="">
            <a:extLst xmlns:a="http://schemas.openxmlformats.org/drawingml/2006/main">
              <a:ext uri="{FF2B5EF4-FFF2-40B4-BE49-F238E27FC236}">
                <a16:creationId xmlns:a16="http://schemas.microsoft.com/office/drawing/2014/main" id="{9481377C-D25F-4EAB-A9B5-1C07CE748D04}"/>
              </a:ext>
            </a:extLst>
          </p:cNvPr>
          <p:cNvSpPr>
            <a:spLocks xmlns:a="http://schemas.openxmlformats.org/drawingml/2006/main" noGrp="1"/>
          </p:cNvSpPr>
          <p:nvPr/>
        </p:nvSpPr>
        <p:spPr>
          <a:xfrm xmlns:a="http://schemas.openxmlformats.org/drawingml/2006/main">
            <a:off x="685800" y="51530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06  Citation validation and the UI expose the result and its evidence.</a:t>
            </a:r>
          </a:p>
        </p:txBody>
      </p:sp>
    </p:spTree>
    <p:extLst>
      <p:ext uri="{BB962C8B-B14F-4D97-AF65-F5344CB8AC3E}">
        <p14:creationId xmlns:p14="http://schemas.microsoft.com/office/powerpoint/2010/main" val="110149462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FF05A7-4711-46D8-A38D-7F7C631E5E2D}"/>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The knowledge corpus and its authority</a:t>
            </a:r>
          </a:p>
        </p:txBody>
      </p:sp>
      <p:sp>
        <p:nvSpPr>
          <p:cNvPr id="2" name="">
            <a:extLst xmlns:a="http://schemas.openxmlformats.org/drawingml/2006/main">
              <a:ext uri="{FF2B5EF4-FFF2-40B4-BE49-F238E27FC236}">
                <a16:creationId xmlns:a16="http://schemas.microsoft.com/office/drawing/2014/main" id="{448C1B51-7B9D-4809-8C68-77E306C94DDD}"/>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data/standards/automotive_rule_cards.json</a:t>
            </a:r>
          </a:p>
        </p:txBody>
      </p:sp>
      <p:sp>
        <p:nvSpPr>
          <p:cNvPr id="3" name="">
            <a:extLst xmlns:a="http://schemas.openxmlformats.org/drawingml/2006/main">
              <a:ext uri="{FF2B5EF4-FFF2-40B4-BE49-F238E27FC236}">
                <a16:creationId xmlns:a16="http://schemas.microsoft.com/office/drawing/2014/main" id="{D75CAC48-6C8E-4510-930C-DA0B4963EBFF}"/>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2DB96345-EDE2-491C-AFA1-F2DBF381EB4F}"/>
              </a:ext>
            </a:extLst>
          </p:cNvPr>
          <p:cNvSpPr>
            <a:spLocks xmlns:a="http://schemas.openxmlformats.org/drawingml/2006/main" noGrp="1"/>
          </p:cNvSpPr>
          <p:nvPr/>
        </p:nvSpPr>
        <p:spPr>
          <a:xfrm xmlns:a="http://schemas.openxmlformats.org/drawingml/2006/main">
            <a:off x="685800" y="166687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087F75"/>
                </a:solidFill>
                <a:latin typeface="Arial"/>
                <a:ea typeface="Arial"/>
                <a:cs typeface="Arial"/>
              </a:defRPr>
            </a:defPPr>
          </a:lstStyle>
          <a:p xmlns:a="http://schemas.openxmlformats.org/drawingml/2006/main">
            <a:pPr>
              <a:defRPr sz="3150" b="1">
                <a:solidFill>
                  <a:srgbClr val="087F75"/>
                </a:solidFill>
                <a:latin typeface="Arial"/>
                <a:ea typeface="Arial"/>
                <a:cs typeface="Arial"/>
              </a:defRPr>
            </a:pPr>
            <a:r>
              <a:rPr sz="3150" b="1">
                <a:solidFill>
                  <a:srgbClr val="087F75"/>
                </a:solidFill>
                <a:latin typeface="Arial"/>
                <a:ea typeface="Arial"/>
                <a:cs typeface="Arial"/>
              </a:rPr>
              <a:t>20 synthetic advisory cards</a:t>
            </a:r>
          </a:p>
        </p:txBody>
      </p:sp>
      <p:sp>
        <p:nvSpPr>
          <p:cNvPr id="5" name="">
            <a:extLst xmlns:a="http://schemas.openxmlformats.org/drawingml/2006/main">
              <a:ext uri="{FF2B5EF4-FFF2-40B4-BE49-F238E27FC236}">
                <a16:creationId xmlns:a16="http://schemas.microsoft.com/office/drawing/2014/main" id="{D3575E55-55B9-4882-9AE6-DC832FA2450C}"/>
              </a:ext>
            </a:extLst>
          </p:cNvPr>
          <p:cNvSpPr>
            <a:spLocks xmlns:a="http://schemas.openxmlformats.org/drawingml/2006/main" noGrp="1"/>
          </p:cNvSpPr>
          <p:nvPr/>
        </p:nvSpPr>
        <p:spPr>
          <a:xfrm xmlns:a="http://schemas.openxmlformats.org/drawingml/2006/main">
            <a:off x="685800" y="2667000"/>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75" b="1">
                <a:solidFill>
                  <a:srgbClr val="102B32"/>
                </a:solidFill>
                <a:latin typeface="Arial"/>
                <a:ea typeface="Arial"/>
                <a:cs typeface="Arial"/>
              </a:defRPr>
            </a:defPPr>
          </a:lstStyle>
          <a:p xmlns:a="http://schemas.openxmlformats.org/drawingml/2006/main">
            <a:pPr>
              <a:defRPr sz="2475" b="1">
                <a:solidFill>
                  <a:srgbClr val="102B32"/>
                </a:solidFill>
                <a:latin typeface="Arial"/>
                <a:ea typeface="Arial"/>
                <a:cs typeface="Arial"/>
              </a:defRPr>
            </a:pPr>
            <a:r>
              <a:rPr sz="2475" b="1">
                <a:solidFill>
                  <a:srgbClr val="102B32"/>
                </a:solidFill>
                <a:latin typeface="Arial"/>
                <a:ea typeface="Arial"/>
                <a:cs typeface="Arial"/>
              </a:rPr>
              <a:t>Example: AUTO-STRCPY</a:t>
            </a:r>
          </a:p>
        </p:txBody>
      </p:sp>
      <p:sp>
        <p:nvSpPr>
          <p:cNvPr id="6" name="">
            <a:extLst xmlns:a="http://schemas.openxmlformats.org/drawingml/2006/main">
              <a:ext uri="{FF2B5EF4-FFF2-40B4-BE49-F238E27FC236}">
                <a16:creationId xmlns:a16="http://schemas.microsoft.com/office/drawing/2014/main" id="{61E62C88-E241-46BE-A5DE-BE330ACCC3DD}"/>
              </a:ext>
            </a:extLst>
          </p:cNvPr>
          <p:cNvSpPr>
            <a:spLocks xmlns:a="http://schemas.openxmlformats.org/drawingml/2006/main" noGrp="1"/>
          </p:cNvSpPr>
          <p:nvPr/>
        </p:nvSpPr>
        <p:spPr>
          <a:xfrm xmlns:a="http://schemas.openxmlformats.org/drawingml/2006/main">
            <a:off x="685800" y="33337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0">
                <a:solidFill>
                  <a:srgbClr val="182E35"/>
                </a:solidFill>
                <a:latin typeface="Arial"/>
                <a:ea typeface="Arial"/>
                <a:cs typeface="Arial"/>
              </a:defRPr>
            </a:defPPr>
          </a:lstStyle>
          <a:p xmlns:a="http://schemas.openxmlformats.org/drawingml/2006/main">
            <a:pPr>
              <a:defRPr sz="2400" b="0">
                <a:solidFill>
                  <a:srgbClr val="182E35"/>
                </a:solidFill>
                <a:latin typeface="Arial"/>
                <a:ea typeface="Arial"/>
                <a:cs typeface="Arial"/>
              </a:defRPr>
            </a:pPr>
            <a:r>
              <a:rPr sz="2400" b="0">
                <a:solidFill>
                  <a:srgbClr val="182E35"/>
                </a:solidFill>
                <a:latin typeface="Arial"/>
                <a:ea typeface="Arial"/>
                <a:cs typeface="Arial"/>
              </a:rPr>
              <a:t>“For strcpy, prove destination capacity and source length including the terminator.”</a:t>
            </a:r>
          </a:p>
        </p:txBody>
      </p:sp>
      <p:sp>
        <p:nvSpPr>
          <p:cNvPr id="7" name="">
            <a:extLst xmlns:a="http://schemas.openxmlformats.org/drawingml/2006/main">
              <a:ext uri="{FF2B5EF4-FFF2-40B4-BE49-F238E27FC236}">
                <a16:creationId xmlns:a16="http://schemas.microsoft.com/office/drawing/2014/main" id="{6CF06C6A-0F27-4EF9-AA71-E6F01EB4A342}"/>
              </a:ext>
            </a:extLst>
          </p:cNvPr>
          <p:cNvSpPr>
            <a:spLocks xmlns:a="http://schemas.openxmlformats.org/drawingml/2006/main" noGrp="1"/>
          </p:cNvSpPr>
          <p:nvPr/>
        </p:nvSpPr>
        <p:spPr>
          <a:xfrm xmlns:a="http://schemas.openxmlformats.org/drawingml/2006/main">
            <a:off x="685800" y="476250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Metadata: origin, version, language, domain, assumptions and authority</a:t>
            </a:r>
          </a:p>
        </p:txBody>
      </p:sp>
      <p:sp>
        <p:nvSpPr>
          <p:cNvPr id="8" name="">
            <a:extLst xmlns:a="http://schemas.openxmlformats.org/drawingml/2006/main">
              <a:ext uri="{FF2B5EF4-FFF2-40B4-BE49-F238E27FC236}">
                <a16:creationId xmlns:a16="http://schemas.microsoft.com/office/drawing/2014/main" id="{18A8012A-DAE8-49FB-B587-DE2DF2F4E672}"/>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These project rules do not establish official MISRA or ISO compliance.</a:t>
            </a:r>
          </a:p>
        </p:txBody>
      </p:sp>
    </p:spTree>
    <p:extLst>
      <p:ext uri="{BB962C8B-B14F-4D97-AF65-F5344CB8AC3E}">
        <p14:creationId xmlns:p14="http://schemas.microsoft.com/office/powerpoint/2010/main" val="5968669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E6CC496-2CE3-47ED-AD9C-CC3746A61EB2}"/>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Lexical search, embeddings and rank fusion</a:t>
            </a:r>
          </a:p>
        </p:txBody>
      </p:sp>
      <p:sp>
        <p:nvSpPr>
          <p:cNvPr id="2" name="">
            <a:extLst xmlns:a="http://schemas.openxmlformats.org/drawingml/2006/main">
              <a:ext uri="{FF2B5EF4-FFF2-40B4-BE49-F238E27FC236}">
                <a16:creationId xmlns:a16="http://schemas.microsoft.com/office/drawing/2014/main" id="{F3C8D446-2B88-4BA8-8B55-10D4B119DD7D}"/>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src/rag/automotive_retrieval.py: lexical_scores and _retrieve_cached</a:t>
            </a:r>
          </a:p>
        </p:txBody>
      </p:sp>
      <p:sp>
        <p:nvSpPr>
          <p:cNvPr id="3" name="">
            <a:extLst xmlns:a="http://schemas.openxmlformats.org/drawingml/2006/main">
              <a:ext uri="{FF2B5EF4-FFF2-40B4-BE49-F238E27FC236}">
                <a16:creationId xmlns:a16="http://schemas.microsoft.com/office/drawing/2014/main" id="{C92F5E34-7722-4E6A-B6C6-16408C62905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02FA1376-ADD4-4578-BB6E-EA38E5DECC90}"/>
              </a:ext>
            </a:extLst>
          </p:cNvPr>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2857500"/>
                <a:gridCol w="4857750"/>
                <a:gridCol w="3105150"/>
              </a:tblGrid>
              <a:tr h="714375">
                <a:tc>
                  <a:txBody>
                    <a:bodyPr>
                      <a:noAutofit/>
                    </a:bodyPr>
                    <a:lstStyle/>
                    <a:p>
                      <a:r>
                        <a:rPr sz="1875" b="1">
                          <a:solidFill>
                            <a:srgbClr val="FFFFFF"/>
                          </a:solidFill>
                          <a:latin typeface="Arial"/>
                          <a:ea typeface="Arial"/>
                          <a:cs typeface="Arial"/>
                        </a:rPr>
                        <a:t>Method</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Purpose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Example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714375">
                <a:tc>
                  <a:txBody>
                    <a:bodyPr>
                      <a:noAutofit/>
                    </a:bodyPr>
                    <a:lstStyle/>
                    <a:p>
                      <a:r>
                        <a:rPr sz="1875" b="0">
                          <a:solidFill>
                            <a:srgbClr val="182E35"/>
                          </a:solidFill>
                          <a:latin typeface="Arial"/>
                          <a:ea typeface="Arial"/>
                          <a:cs typeface="Arial"/>
                        </a:rPr>
                        <a:t>BM25</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Preserve exact embedded vocabulary</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can_dlc, strcpy, ISR</a:t>
                      </a:r>
                    </a:p>
                  </a:txBody>
                  <a:tcPr marL="91440" marR="91440" marT="45720" marB="45720">
                    <a:lnR w="9525">
                      <a:solidFill>
                        <a:srgbClr val="D6E2E4"/>
                      </a:solidFill>
                      <a:prstDash val="solid"/>
                    </a:lnR>
                    <a:lnB w="9525">
                      <a:solidFill>
                        <a:srgbClr val="D6E2E4"/>
                      </a:solidFill>
                      <a:prstDash val="solid"/>
                    </a:lnB>
                    <a:solidFill>
                      <a:srgbClr val="FFFFFF"/>
                    </a:solidFill>
                  </a:tcPr>
                </a:tc>
              </a:tr>
              <a:tr h="714375">
                <a:tc>
                  <a:txBody>
                    <a:bodyPr>
                      <a:noAutofit/>
                    </a:bodyPr>
                    <a:lstStyle/>
                    <a:p>
                      <a:r>
                        <a:rPr sz="1875" b="0">
                          <a:solidFill>
                            <a:srgbClr val="182E35"/>
                          </a:solidFill>
                          <a:latin typeface="Arial"/>
                          <a:ea typeface="Arial"/>
                          <a:cs typeface="Arial"/>
                        </a:rPr>
                        <a:t>Dense embeddings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Match related engineering language</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release and free</a:t>
                      </a:r>
                    </a:p>
                  </a:txBody>
                  <a:tcPr marL="91440" marR="91440" marT="45720" marB="45720">
                    <a:lnR w="9525">
                      <a:solidFill>
                        <a:srgbClr val="D6E2E4"/>
                      </a:solidFill>
                      <a:prstDash val="solid"/>
                    </a:lnR>
                    <a:lnB w="9525">
                      <a:solidFill>
                        <a:srgbClr val="D6E2E4"/>
                      </a:solidFill>
                      <a:prstDash val="solid"/>
                    </a:lnB>
                    <a:solidFill>
                      <a:srgbClr val="E9F1F2"/>
                    </a:solidFill>
                  </a:tcPr>
                </a:tc>
              </a:tr>
              <a:tr h="714375">
                <a:tc>
                  <a:txBody>
                    <a:bodyPr>
                      <a:noAutofit/>
                    </a:bodyPr>
                    <a:lstStyle/>
                    <a:p>
                      <a:r>
                        <a:rPr sz="1875" b="0">
                          <a:solidFill>
                            <a:srgbClr val="182E35"/>
                          </a:solidFill>
                          <a:latin typeface="Arial"/>
                          <a:ea typeface="Arial"/>
                          <a:cs typeface="Arial"/>
                        </a:rPr>
                        <a:t>Reciprocal rank fusion</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Combine rank positions</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sum of 1 / (60 + rank)</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0BC83D2-129A-400E-8689-D113DF358E9F}"/>
              </a:ext>
            </a:extLst>
          </p:cNvPr>
          <p:cNvSpPr>
            <a:spLocks xmlns:a="http://schemas.openxmlformats.org/drawingml/2006/main" noGrp="1"/>
          </p:cNvSpPr>
          <p:nvPr/>
        </p:nvSpPr>
        <p:spPr>
          <a:xfrm xmlns:a="http://schemas.openxmlformats.org/drawingml/2006/main">
            <a:off x="685800" y="523875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A high similarity score still needs the typed applicability gate.</a:t>
            </a:r>
          </a:p>
        </p:txBody>
      </p:sp>
    </p:spTree>
    <p:extLst>
      <p:ext uri="{BB962C8B-B14F-4D97-AF65-F5344CB8AC3E}">
        <p14:creationId xmlns:p14="http://schemas.microsoft.com/office/powerpoint/2010/main" val="33770698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98776C-B207-40F1-9C85-80C174686544}"/>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Evaluation protocol and metric definitions</a:t>
            </a:r>
          </a:p>
        </p:txBody>
      </p:sp>
      <p:sp>
        <p:nvSpPr>
          <p:cNvPr id="2" name="">
            <a:extLst xmlns:a="http://schemas.openxmlformats.org/drawingml/2006/main">
              <a:ext uri="{FF2B5EF4-FFF2-40B4-BE49-F238E27FC236}">
                <a16:creationId xmlns:a16="http://schemas.microsoft.com/office/drawing/2014/main" id="{9023C769-A3A6-450E-9E0C-3C7CF9EC8F44}"/>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evaluation/prove_rag.py; retrieval_results.json</a:t>
            </a:r>
          </a:p>
        </p:txBody>
      </p:sp>
      <p:sp>
        <p:nvSpPr>
          <p:cNvPr id="3" name="">
            <a:extLst xmlns:a="http://schemas.openxmlformats.org/drawingml/2006/main">
              <a:ext uri="{FF2B5EF4-FFF2-40B4-BE49-F238E27FC236}">
                <a16:creationId xmlns:a16="http://schemas.microsoft.com/office/drawing/2014/main" id="{93BBA0C0-2148-4EDB-BD96-65E5277315DD}"/>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1B0791BB-E88D-4740-84A4-E0CCD65CF5C1}"/>
              </a:ext>
            </a:extLst>
          </p:cNvPr>
          <p:cNvSpPr>
            <a:spLocks xmlns:a="http://schemas.openxmlformats.org/drawingml/2006/main" noGrp="1"/>
          </p:cNvSpPr>
          <p:nvPr/>
        </p:nvSpPr>
        <p:spPr>
          <a:xfrm xmlns:a="http://schemas.openxmlformats.org/drawingml/2006/main">
            <a:off x="685800" y="1666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625" b="1">
                <a:solidFill>
                  <a:srgbClr val="087F75"/>
                </a:solidFill>
                <a:latin typeface="Arial"/>
                <a:ea typeface="Arial"/>
                <a:cs typeface="Arial"/>
              </a:defRPr>
            </a:defPPr>
          </a:lstStyle>
          <a:p xmlns:a="http://schemas.openxmlformats.org/drawingml/2006/main">
            <a:pPr>
              <a:defRPr sz="2625" b="1">
                <a:solidFill>
                  <a:srgbClr val="087F75"/>
                </a:solidFill>
                <a:latin typeface="Arial"/>
                <a:ea typeface="Arial"/>
                <a:cs typeface="Arial"/>
              </a:defRPr>
            </a:pPr>
            <a:r>
              <a:rPr sz="2625" b="1">
                <a:solidFill>
                  <a:srgbClr val="087F75"/>
                </a:solidFill>
                <a:latin typeface="Arial"/>
                <a:ea typeface="Arial"/>
                <a:cs typeface="Arial"/>
              </a:rPr>
              <a:t>20 labelled queries · same corpus · top 5 results</a:t>
            </a:r>
          </a:p>
        </p:txBody>
      </p:sp>
      <p:sp>
        <p:nvSpPr>
          <p:cNvPr id="5" name="">
            <a:extLst xmlns:a="http://schemas.openxmlformats.org/drawingml/2006/main">
              <a:ext uri="{FF2B5EF4-FFF2-40B4-BE49-F238E27FC236}">
                <a16:creationId xmlns:a16="http://schemas.microsoft.com/office/drawing/2014/main" id="{D4CBE910-E33E-4476-8A45-CA04BFBF75B1}"/>
              </a:ext>
            </a:extLst>
          </p:cNvPr>
          <p:cNvSpPr>
            <a:spLocks xmlns:a="http://schemas.openxmlformats.org/drawingml/2006/main" noGrp="1"/>
          </p:cNvSpPr>
          <p:nvPr/>
        </p:nvSpPr>
        <p:spPr>
          <a:xfrm xmlns:a="http://schemas.openxmlformats.org/drawingml/2006/main">
            <a:off x="685800" y="27146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Recall@5 = queries with the relevant rule in top 5 / 20</a:t>
            </a:r>
          </a:p>
        </p:txBody>
      </p:sp>
      <p:sp>
        <p:nvSpPr>
          <p:cNvPr id="6" name="">
            <a:extLst xmlns:a="http://schemas.openxmlformats.org/drawingml/2006/main">
              <a:ext uri="{FF2B5EF4-FFF2-40B4-BE49-F238E27FC236}">
                <a16:creationId xmlns:a16="http://schemas.microsoft.com/office/drawing/2014/main" id="{CFDCFC31-A07A-42D5-AEEF-85F80397A1AA}"/>
              </a:ext>
            </a:extLst>
          </p:cNvPr>
          <p:cNvSpPr>
            <a:spLocks xmlns:a="http://schemas.openxmlformats.org/drawingml/2006/main" noGrp="1"/>
          </p:cNvSpPr>
          <p:nvPr/>
        </p:nvSpPr>
        <p:spPr>
          <a:xfrm xmlns:a="http://schemas.openxmlformats.org/drawingml/2006/main">
            <a:off x="685800" y="357187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Top-1 accuracy = queries with the relevant rule ranked first / 20</a:t>
            </a:r>
          </a:p>
        </p:txBody>
      </p:sp>
      <p:sp>
        <p:nvSpPr>
          <p:cNvPr id="7" name="">
            <a:extLst xmlns:a="http://schemas.openxmlformats.org/drawingml/2006/main">
              <a:ext uri="{FF2B5EF4-FFF2-40B4-BE49-F238E27FC236}">
                <a16:creationId xmlns:a16="http://schemas.microsoft.com/office/drawing/2014/main" id="{93888A4F-992D-4D36-A0F3-FC8BBE2F0416}"/>
              </a:ext>
            </a:extLst>
          </p:cNvPr>
          <p:cNvSpPr>
            <a:spLocks xmlns:a="http://schemas.openxmlformats.org/drawingml/2006/main" noGrp="1"/>
          </p:cNvSpPr>
          <p:nvPr/>
        </p:nvSpPr>
        <p:spPr>
          <a:xfrm xmlns:a="http://schemas.openxmlformats.org/drawingml/2006/main">
            <a:off x="685800" y="4429125"/>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MRR@5 = average of 1 / rank; a top-5 miss contributes zero</a:t>
            </a:r>
          </a:p>
        </p:txBody>
      </p:sp>
      <p:sp>
        <p:nvSpPr>
          <p:cNvPr id="8" name="">
            <a:extLst xmlns:a="http://schemas.openxmlformats.org/drawingml/2006/main">
              <a:ext uri="{FF2B5EF4-FFF2-40B4-BE49-F238E27FC236}">
                <a16:creationId xmlns:a16="http://schemas.microsoft.com/office/drawing/2014/main" id="{0E9C04A4-20F7-4D99-B61C-7BF7AEC020B1}"/>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Author-labelled query set. One extra correct query changes recall by 5 percentage points.</a:t>
            </a:r>
          </a:p>
        </p:txBody>
      </p:sp>
    </p:spTree>
    <p:extLst>
      <p:ext uri="{BB962C8B-B14F-4D97-AF65-F5344CB8AC3E}">
        <p14:creationId xmlns:p14="http://schemas.microsoft.com/office/powerpoint/2010/main" val="52683732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D2C4B0-E7CB-4697-B9AE-E44651F96BA7}"/>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Hybrid retrieval improves this query set</a:t>
            </a:r>
          </a:p>
        </p:txBody>
      </p:sp>
      <p:sp>
        <p:nvSpPr>
          <p:cNvPr id="2" name="">
            <a:extLst xmlns:a="http://schemas.openxmlformats.org/drawingml/2006/main">
              <a:ext uri="{FF2B5EF4-FFF2-40B4-BE49-F238E27FC236}">
                <a16:creationId xmlns:a16="http://schemas.microsoft.com/office/drawing/2014/main" id="{6E7DFAC0-4EFB-4B0C-8DD6-B13474F9C6C5}"/>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Evaluation_Results/rag_evidence/retrieval_results.json</a:t>
            </a:r>
          </a:p>
        </p:txBody>
      </p:sp>
      <p:sp>
        <p:nvSpPr>
          <p:cNvPr id="3" name="">
            <a:extLst xmlns:a="http://schemas.openxmlformats.org/drawingml/2006/main">
              <a:ext uri="{FF2B5EF4-FFF2-40B4-BE49-F238E27FC236}">
                <a16:creationId xmlns:a16="http://schemas.microsoft.com/office/drawing/2014/main" id="{24A7420D-2D4A-4F85-A32C-AD09B2DD0B53}"/>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B5FDFF1C-A2DC-4771-A280-99A564CBD313}"/>
              </a:ext>
            </a:extLst>
          </p:cNvPr>
          <p:cNvGraphicFramePr/>
          <p:nvPr/>
        </p:nvGraphicFramePr>
        <p:xfrm>
          <a:off xmlns:a="http://schemas.openxmlformats.org/drawingml/2006/main" x="685800" y="1809750"/>
          <a:ext xmlns:a="http://schemas.openxmlformats.org/drawingml/2006/main" cx="10820400" cy="3048000"/>
        </p:xfrm>
        <a:graphic xmlns:a="http://schemas.openxmlformats.org/drawingml/2006/main">
          <a:graphicData uri="http://schemas.openxmlformats.org/drawingml/2006/table">
            <a:tbl>
              <a:tblPr/>
              <a:tblGrid>
                <a:gridCol w="3429000"/>
                <a:gridCol w="2381250"/>
                <a:gridCol w="3105150"/>
                <a:gridCol w="1905000"/>
              </a:tblGrid>
              <a:tr h="762000">
                <a:tc>
                  <a:txBody>
                    <a:bodyPr>
                      <a:noAutofit/>
                    </a:bodyPr>
                    <a:lstStyle/>
                    <a:p>
                      <a:r>
                        <a:rPr sz="1875" b="1">
                          <a:solidFill>
                            <a:srgbClr val="FFFFFF"/>
                          </a:solidFill>
                          <a:latin typeface="Arial"/>
                          <a:ea typeface="Arial"/>
                          <a:cs typeface="Arial"/>
                        </a:rPr>
                        <a:t>Metric</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BM25</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BM25 + dense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Change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762000">
                <a:tc>
                  <a:txBody>
                    <a:bodyPr>
                      <a:noAutofit/>
                    </a:bodyPr>
                    <a:lstStyle/>
                    <a:p>
                      <a:r>
                        <a:rPr sz="1875" b="0">
                          <a:solidFill>
                            <a:srgbClr val="182E35"/>
                          </a:solidFill>
                          <a:latin typeface="Arial"/>
                          <a:ea typeface="Arial"/>
                          <a:cs typeface="Arial"/>
                        </a:rPr>
                        <a:t>Recall@5</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90% (18/20)</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95% (19/20)</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+5 pp</a:t>
                      </a:r>
                    </a:p>
                  </a:txBody>
                  <a:tcPr marL="91440" marR="91440" marT="45720" marB="45720">
                    <a:lnR w="9525">
                      <a:solidFill>
                        <a:srgbClr val="D6E2E4"/>
                      </a:solidFill>
                      <a:prstDash val="solid"/>
                    </a:lnR>
                    <a:lnB w="9525">
                      <a:solidFill>
                        <a:srgbClr val="D6E2E4"/>
                      </a:solidFill>
                      <a:prstDash val="solid"/>
                    </a:lnB>
                    <a:solidFill>
                      <a:srgbClr val="FFFFFF"/>
                    </a:solidFill>
                  </a:tcPr>
                </a:tc>
              </a:tr>
              <a:tr h="762000">
                <a:tc>
                  <a:txBody>
                    <a:bodyPr>
                      <a:noAutofit/>
                    </a:bodyPr>
                    <a:lstStyle/>
                    <a:p>
                      <a:r>
                        <a:rPr sz="1875" b="0">
                          <a:solidFill>
                            <a:srgbClr val="182E35"/>
                          </a:solidFill>
                          <a:latin typeface="Arial"/>
                          <a:ea typeface="Arial"/>
                          <a:cs typeface="Arial"/>
                        </a:rPr>
                        <a:t>Top-1 accuracy</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70% (14/20)</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85% (17/20)</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+15 pp</a:t>
                      </a:r>
                    </a:p>
                  </a:txBody>
                  <a:tcPr marL="91440" marR="91440" marT="45720" marB="45720">
                    <a:lnR w="9525">
                      <a:solidFill>
                        <a:srgbClr val="D6E2E4"/>
                      </a:solidFill>
                      <a:prstDash val="solid"/>
                    </a:lnR>
                    <a:lnB w="9525">
                      <a:solidFill>
                        <a:srgbClr val="D6E2E4"/>
                      </a:solidFill>
                      <a:prstDash val="solid"/>
                    </a:lnB>
                    <a:solidFill>
                      <a:srgbClr val="E9F1F2"/>
                    </a:solidFill>
                  </a:tcPr>
                </a:tc>
              </a:tr>
              <a:tr h="762000">
                <a:tc>
                  <a:txBody>
                    <a:bodyPr>
                      <a:noAutofit/>
                    </a:bodyPr>
                    <a:lstStyle/>
                    <a:p>
                      <a:r>
                        <a:rPr sz="1875" b="0">
                          <a:solidFill>
                            <a:srgbClr val="182E35"/>
                          </a:solidFill>
                          <a:latin typeface="Arial"/>
                          <a:ea typeface="Arial"/>
                          <a:cs typeface="Arial"/>
                        </a:rPr>
                        <a:t>MRR@5</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0.792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0.892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+0.100</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DD5B764-69D8-4C85-8BEC-FB1BC158F42A}"/>
              </a:ext>
            </a:extLst>
          </p:cNvPr>
          <p:cNvSpPr>
            <a:spLocks xmlns:a="http://schemas.openxmlformats.org/drawingml/2006/main" noGrp="1"/>
          </p:cNvSpPr>
          <p:nvPr/>
        </p:nvSpPr>
        <p:spPr>
          <a:xfrm xmlns:a="http://schemas.openxmlformats.org/drawingml/2006/main">
            <a:off x="685800" y="52863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Actual hybrid strategy: bm25+dense-rrf. One hybrid top-5 miss remains visible.</a:t>
            </a:r>
          </a:p>
        </p:txBody>
      </p:sp>
    </p:spTree>
    <p:extLst>
      <p:ext uri="{BB962C8B-B14F-4D97-AF65-F5344CB8AC3E}">
        <p14:creationId xmlns:p14="http://schemas.microsoft.com/office/powerpoint/2010/main" val="89869196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658C367-9628-4CB1-AD42-1033F2A962EF}"/>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The improvements and remaining miss</a:t>
            </a:r>
          </a:p>
        </p:txBody>
      </p:sp>
      <p:sp>
        <p:nvSpPr>
          <p:cNvPr id="2" name="">
            <a:extLst xmlns:a="http://schemas.openxmlformats.org/drawingml/2006/main">
              <a:ext uri="{FF2B5EF4-FFF2-40B4-BE49-F238E27FC236}">
                <a16:creationId xmlns:a16="http://schemas.microsoft.com/office/drawing/2014/main" id="{D784B849-CD6F-4DE1-9AC7-458A49DD7F2D}"/>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retrieval_results.json: per-query strategies and ranks</a:t>
            </a:r>
          </a:p>
        </p:txBody>
      </p:sp>
      <p:sp>
        <p:nvSpPr>
          <p:cNvPr id="3" name="">
            <a:extLst xmlns:a="http://schemas.openxmlformats.org/drawingml/2006/main">
              <a:ext uri="{FF2B5EF4-FFF2-40B4-BE49-F238E27FC236}">
                <a16:creationId xmlns:a16="http://schemas.microsoft.com/office/drawing/2014/main" id="{9EFA19A0-6441-46A0-BACB-CC163A001072}"/>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09</a:t>
            </a:r>
          </a:p>
        </p:txBody>
      </p:sp>
      <p:graphicFrame>
        <p:nvGraphicFramePr>
          <p:cNvPr id="4" name="">
            <a:extLst xmlns:a="http://schemas.openxmlformats.org/drawingml/2006/main">
              <a:ext uri="{FF2B5EF4-FFF2-40B4-BE49-F238E27FC236}">
                <a16:creationId xmlns:a16="http://schemas.microsoft.com/office/drawing/2014/main" id="{F0D1DA82-6BEA-4ECC-8098-D95E13592A95}"/>
              </a:ext>
            </a:extLst>
          </p:cNvPr>
          <p:cNvGraphicFramePr/>
          <p:nvPr/>
        </p:nvGraphicFramePr>
        <p:xfrm>
          <a:off xmlns:a="http://schemas.openxmlformats.org/drawingml/2006/main" x="685800" y="1714500"/>
          <a:ext xmlns:a="http://schemas.openxmlformats.org/drawingml/2006/main" cx="10820400" cy="3429000"/>
        </p:xfrm>
        <a:graphic xmlns:a="http://schemas.openxmlformats.org/drawingml/2006/main">
          <a:graphicData uri="http://schemas.openxmlformats.org/drawingml/2006/table">
            <a:tbl>
              <a:tblPr/>
              <a:tblGrid>
                <a:gridCol w="3238500"/>
                <a:gridCol w="4572000"/>
                <a:gridCol w="1504950"/>
                <a:gridCol w="1504950"/>
              </a:tblGrid>
              <a:tr h="685800">
                <a:tc>
                  <a:txBody>
                    <a:bodyPr>
                      <a:noAutofit/>
                    </a:bodyPr>
                    <a:lstStyle/>
                    <a:p>
                      <a:r>
                        <a:rPr sz="1800" b="1">
                          <a:solidFill>
                            <a:srgbClr val="FFFFFF"/>
                          </a:solidFill>
                          <a:latin typeface="Arial"/>
                          <a:ea typeface="Arial"/>
                          <a:cs typeface="Arial"/>
                        </a:rPr>
                        <a:t>Expected rule</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Query subject</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BM25 rank</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Hybrid rank</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85800">
                <a:tc>
                  <a:txBody>
                    <a:bodyPr>
                      <a:noAutofit/>
                    </a:bodyPr>
                    <a:lstStyle/>
                    <a:p>
                      <a:r>
                        <a:rPr sz="1800" b="0">
                          <a:solidFill>
                            <a:srgbClr val="182E35"/>
                          </a:solidFill>
                          <a:latin typeface="Arial"/>
                          <a:ea typeface="Arial"/>
                          <a:cs typeface="Arial"/>
                        </a:rPr>
                        <a:t>AUTO-ISR-BLOCK</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Blocking inside a CAN ISR</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3</a:t>
                      </a:r>
                    </a:p>
                  </a:txBody>
                  <a:tcPr marL="91440" marR="91440" marT="45720" marB="45720">
                    <a:lnR w="9525">
                      <a:solidFill>
                        <a:srgbClr val="D6E2E4"/>
                      </a:solidFill>
                      <a:prstDash val="solid"/>
                    </a:lnR>
                    <a:lnB w="9525">
                      <a:solidFill>
                        <a:srgbClr val="D6E2E4"/>
                      </a:solidFill>
                      <a:prstDash val="solid"/>
                    </a:lnB>
                    <a:solidFill>
                      <a:srgbClr val="FFFFFF"/>
                    </a:solidFill>
                  </a:tcPr>
                </a:tc>
              </a:tr>
              <a:tr h="685800">
                <a:tc>
                  <a:txBody>
                    <a:bodyPr>
                      <a:noAutofit/>
                    </a:bodyPr>
                    <a:lstStyle/>
                    <a:p>
                      <a:r>
                        <a:rPr sz="1800" b="0">
                          <a:solidFill>
                            <a:srgbClr val="182E35"/>
                          </a:solidFill>
                          <a:latin typeface="Arial"/>
                          <a:ea typeface="Arial"/>
                          <a:cs typeface="Arial"/>
                        </a:rPr>
                        <a:t>AUTO-ARRAY-BOUND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Four-element table, index four</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685800">
                <a:tc>
                  <a:txBody>
                    <a:bodyPr>
                      <a:noAutofit/>
                    </a:bodyPr>
                    <a:lstStyle/>
                    <a:p>
                      <a:r>
                        <a:rPr sz="1800" b="0">
                          <a:solidFill>
                            <a:srgbClr val="182E35"/>
                          </a:solidFill>
                          <a:latin typeface="Arial"/>
                          <a:ea typeface="Arial"/>
                          <a:cs typeface="Arial"/>
                        </a:rPr>
                        <a:t>AUTO-ASSIGN-COND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Assignment inside an if</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685800">
                <a:tc>
                  <a:txBody>
                    <a:bodyPr>
                      <a:noAutofit/>
                    </a:bodyPr>
                    <a:lstStyle/>
                    <a:p>
                      <a:r>
                        <a:rPr sz="1800" b="0">
                          <a:solidFill>
                            <a:srgbClr val="182E35"/>
                          </a:solidFill>
                          <a:latin typeface="Arial"/>
                          <a:ea typeface="Arial"/>
                          <a:cs typeface="Arial"/>
                        </a:rPr>
                        <a:t>AUTO-SHIFT-WIDTH</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uint32_t shifted by 32 bits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
        <p:nvSpPr>
          <p:cNvPr id="5" name="">
            <a:extLst xmlns:a="http://schemas.openxmlformats.org/drawingml/2006/main">
              <a:ext uri="{FF2B5EF4-FFF2-40B4-BE49-F238E27FC236}">
                <a16:creationId xmlns:a16="http://schemas.microsoft.com/office/drawing/2014/main" id="{61CFB85F-1366-4D85-9D51-375952A2A6DB}"/>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Miss means the labelled rule did not appear in the first five results.</a:t>
            </a:r>
          </a:p>
        </p:txBody>
      </p:sp>
    </p:spTree>
    <p:extLst>
      <p:ext uri="{BB962C8B-B14F-4D97-AF65-F5344CB8AC3E}">
        <p14:creationId xmlns:p14="http://schemas.microsoft.com/office/powerpoint/2010/main" val="7983887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D204AFB-EA12-4267-990A-4E9E50D7365F}"/>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Corpus interventions prove retrieval dependence</a:t>
            </a:r>
          </a:p>
        </p:txBody>
      </p:sp>
      <p:sp>
        <p:nvSpPr>
          <p:cNvPr id="2" name="">
            <a:extLst xmlns:a="http://schemas.openxmlformats.org/drawingml/2006/main">
              <a:ext uri="{FF2B5EF4-FFF2-40B4-BE49-F238E27FC236}">
                <a16:creationId xmlns:a16="http://schemas.microsoft.com/office/drawing/2014/main" id="{EE8D3A34-CF02-4C43-A3AF-1C0C29771DA4}"/>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Evaluation_Results/rag_evidence/control_interventions.json</a:t>
            </a:r>
          </a:p>
        </p:txBody>
      </p:sp>
      <p:sp>
        <p:nvSpPr>
          <p:cNvPr id="3" name="">
            <a:extLst xmlns:a="http://schemas.openxmlformats.org/drawingml/2006/main">
              <a:ext uri="{FF2B5EF4-FFF2-40B4-BE49-F238E27FC236}">
                <a16:creationId xmlns:a16="http://schemas.microsoft.com/office/drawing/2014/main" id="{3401668C-738C-4565-9D34-88B3B392B82B}"/>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BF5DEBA9-A033-4416-96D2-33DAFB0AAADE}"/>
              </a:ext>
            </a:extLst>
          </p:cNvPr>
          <p:cNvSpPr>
            <a:spLocks xmlns:a="http://schemas.openxmlformats.org/drawingml/2006/main" noGrp="1"/>
          </p:cNvSpPr>
          <p:nvPr/>
        </p:nvSpPr>
        <p:spPr>
          <a:xfrm xmlns:a="http://schemas.openxmlformats.org/drawingml/2006/main">
            <a:off x="685800" y="1571625"/>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75"/>
                </a:solidFill>
                <a:latin typeface="Arial"/>
                <a:ea typeface="Arial"/>
                <a:cs typeface="Arial"/>
              </a:defRPr>
            </a:defPPr>
          </a:lstStyle>
          <a:p xmlns:a="http://schemas.openxmlformats.org/drawingml/2006/main">
            <a:pPr>
              <a:defRPr sz="2250" b="1">
                <a:solidFill>
                  <a:srgbClr val="087F75"/>
                </a:solidFill>
                <a:latin typeface="Arial"/>
                <a:ea typeface="Arial"/>
                <a:cs typeface="Arial"/>
              </a:defRPr>
            </a:pPr>
            <a:r>
              <a:rPr sz="2250" b="1">
                <a:solidFill>
                  <a:srgbClr val="087F75"/>
                </a:solidFill>
                <a:latin typeface="Arial"/>
                <a:ea typeface="Arial"/>
                <a:cs typeface="Arial"/>
              </a:rPr>
              <a:t>Same source, same finding, same query, same retrieval strategy</a:t>
            </a:r>
          </a:p>
        </p:txBody>
      </p:sp>
      <p:graphicFrame>
        <p:nvGraphicFramePr>
          <p:cNvPr id="5" name="">
            <a:extLst xmlns:a="http://schemas.openxmlformats.org/drawingml/2006/main">
              <a:ext uri="{FF2B5EF4-FFF2-40B4-BE49-F238E27FC236}">
                <a16:creationId xmlns:a16="http://schemas.microsoft.com/office/drawing/2014/main" id="{7BA968CE-EE88-4428-8708-EB2C92F66831}"/>
              </a:ext>
            </a:extLst>
          </p:cNvPr>
          <p:cNvGraphicFramePr/>
          <p:nvPr/>
        </p:nvGraphicFramePr>
        <p:xfrm>
          <a:off xmlns:a="http://schemas.openxmlformats.org/drawingml/2006/main" x="685800" y="2571750"/>
          <a:ext xmlns:a="http://schemas.openxmlformats.org/drawingml/2006/main" cx="10820400" cy="2571750"/>
        </p:xfrm>
        <a:graphic xmlns:a="http://schemas.openxmlformats.org/drawingml/2006/main">
          <a:graphicData uri="http://schemas.openxmlformats.org/drawingml/2006/table">
            <a:tbl>
              <a:tblPr/>
              <a:tblGrid>
                <a:gridCol w="4381500"/>
                <a:gridCol w="4533900"/>
                <a:gridCol w="1905000"/>
              </a:tblGrid>
              <a:tr h="642938">
                <a:tc>
                  <a:txBody>
                    <a:bodyPr>
                      <a:noAutofit/>
                    </a:bodyPr>
                    <a:lstStyle/>
                    <a:p>
                      <a:r>
                        <a:rPr sz="1875" b="1">
                          <a:solidFill>
                            <a:srgbClr val="FFFFFF"/>
                          </a:solidFill>
                          <a:latin typeface="Arial"/>
                          <a:ea typeface="Arial"/>
                          <a:cs typeface="Arial"/>
                        </a:rPr>
                        <a:t>Corpus intervention</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Expected decision</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Observed</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42938">
                <a:tc>
                  <a:txBody>
                    <a:bodyPr>
                      <a:noAutofit/>
                    </a:bodyPr>
                    <a:lstStyle/>
                    <a:p>
                      <a:r>
                        <a:rPr sz="1875" b="0">
                          <a:solidFill>
                            <a:srgbClr val="182E35"/>
                          </a:solidFill>
                          <a:latin typeface="Arial"/>
                          <a:ea typeface="Arial"/>
                          <a:cs typeface="Arial"/>
                        </a:rPr>
                        <a:t>AUTO-DIV-ZERO present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Support candidate</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FFFFFF"/>
                    </a:solidFill>
                  </a:tcPr>
                </a:tc>
              </a:tr>
              <a:tr h="642938">
                <a:tc>
                  <a:txBody>
                    <a:bodyPr>
                      <a:noAutofit/>
                    </a:bodyPr>
                    <a:lstStyle/>
                    <a:p>
                      <a:r>
                        <a:rPr sz="1875" b="0">
                          <a:solidFill>
                            <a:srgbClr val="182E35"/>
                          </a:solidFill>
                          <a:latin typeface="Arial"/>
                          <a:ea typeface="Arial"/>
                          <a:cs typeface="Arial"/>
                        </a:rPr>
                        <a:t>AUTO-DIV-ZERO deleted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Abstain from rule support</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E9F1F2"/>
                    </a:solidFill>
                  </a:tcPr>
                </a:tc>
              </a:tr>
              <a:tr h="642938">
                <a:tc>
                  <a:txBody>
                    <a:bodyPr>
                      <a:noAutofit/>
                    </a:bodyPr>
                    <a:lstStyle/>
                    <a:p>
                      <a:r>
                        <a:rPr sz="1875" b="0">
                          <a:solidFill>
                            <a:srgbClr val="182E35"/>
                          </a:solidFill>
                          <a:latin typeface="Arial"/>
                          <a:ea typeface="Arial"/>
                          <a:cs typeface="Arial"/>
                        </a:rPr>
                        <a:t>Only AUTO-NULL remains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Abstain despite a retrieved card</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FB799BF9-2AF7-414B-B6B5-7BC0805B5F9B}"/>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The deterministic finding stays present when the retrieval gate abstains.</a:t>
            </a:r>
          </a:p>
        </p:txBody>
      </p:sp>
    </p:spTree>
    <p:extLst>
      <p:ext uri="{BB962C8B-B14F-4D97-AF65-F5344CB8AC3E}">
        <p14:creationId xmlns:p14="http://schemas.microsoft.com/office/powerpoint/2010/main" val="172303999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AAD9238-DE2B-48A3-BEFB-927E38068000}"/>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Citation controls reject unsupported evidence</a:t>
            </a:r>
          </a:p>
        </p:txBody>
      </p:sp>
      <p:sp>
        <p:nvSpPr>
          <p:cNvPr id="2" name="">
            <a:extLst xmlns:a="http://schemas.openxmlformats.org/drawingml/2006/main">
              <a:ext uri="{FF2B5EF4-FFF2-40B4-BE49-F238E27FC236}">
                <a16:creationId xmlns:a16="http://schemas.microsoft.com/office/drawing/2014/main" id="{71ED7D90-2337-4D98-AB4F-457D41E28823}"/>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control_interventions.json: citation_cases; validate_model_citation</a:t>
            </a:r>
          </a:p>
        </p:txBody>
      </p:sp>
      <p:sp>
        <p:nvSpPr>
          <p:cNvPr id="3" name="">
            <a:extLst xmlns:a="http://schemas.openxmlformats.org/drawingml/2006/main">
              <a:ext uri="{FF2B5EF4-FFF2-40B4-BE49-F238E27FC236}">
                <a16:creationId xmlns:a16="http://schemas.microsoft.com/office/drawing/2014/main" id="{D860876B-058D-4794-852D-544158CC0A1E}"/>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11</a:t>
            </a:r>
          </a:p>
        </p:txBody>
      </p:sp>
      <p:graphicFrame>
        <p:nvGraphicFramePr>
          <p:cNvPr id="4" name="">
            <a:extLst xmlns:a="http://schemas.openxmlformats.org/drawingml/2006/main">
              <a:ext uri="{FF2B5EF4-FFF2-40B4-BE49-F238E27FC236}">
                <a16:creationId xmlns:a16="http://schemas.microsoft.com/office/drawing/2014/main" id="{82CD6CB7-3139-4360-9C26-3835A5C45244}"/>
              </a:ext>
            </a:extLst>
          </p:cNvPr>
          <p:cNvGraphicFramePr/>
          <p:nvPr/>
        </p:nvGraphicFramePr>
        <p:xfrm>
          <a:off xmlns:a="http://schemas.openxmlformats.org/drawingml/2006/main" x="685800" y="1714500"/>
          <a:ext xmlns:a="http://schemas.openxmlformats.org/drawingml/2006/main" cx="10820400" cy="3524250"/>
        </p:xfrm>
        <a:graphic xmlns:a="http://schemas.openxmlformats.org/drawingml/2006/main">
          <a:graphicData uri="http://schemas.openxmlformats.org/drawingml/2006/table">
            <a:tbl>
              <a:tblPr/>
              <a:tblGrid>
                <a:gridCol w="5524500"/>
                <a:gridCol w="3105150"/>
                <a:gridCol w="2190750"/>
              </a:tblGrid>
              <a:tr h="704850">
                <a:tc>
                  <a:txBody>
                    <a:bodyPr>
                      <a:noAutofit/>
                    </a:bodyPr>
                    <a:lstStyle/>
                    <a:p>
                      <a:r>
                        <a:rPr sz="1875" b="1">
                          <a:solidFill>
                            <a:srgbClr val="FFFFFF"/>
                          </a:solidFill>
                          <a:latin typeface="Arial"/>
                          <a:ea typeface="Arial"/>
                          <a:cs typeface="Arial"/>
                        </a:rPr>
                        <a:t>Programmatic proposal</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Required result</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Observed</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704850">
                <a:tc>
                  <a:txBody>
                    <a:bodyPr>
                      <a:noAutofit/>
                    </a:bodyPr>
                    <a:lstStyle/>
                    <a:p>
                      <a:r>
                        <a:rPr sz="1875" b="0">
                          <a:solidFill>
                            <a:srgbClr val="182E35"/>
                          </a:solidFill>
                          <a:latin typeface="Arial"/>
                          <a:ea typeface="Arial"/>
                          <a:cs typeface="Arial"/>
                        </a:rPr>
                        <a:t>Correct ID and retrieved quote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Accept</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FFFFFF"/>
                    </a:solidFill>
                  </a:tcPr>
                </a:tc>
              </a:tr>
              <a:tr h="704850">
                <a:tc>
                  <a:txBody>
                    <a:bodyPr>
                      <a:noAutofit/>
                    </a:bodyPr>
                    <a:lstStyle/>
                    <a:p>
                      <a:r>
                        <a:rPr sz="1875" b="0">
                          <a:solidFill>
                            <a:srgbClr val="182E35"/>
                          </a:solidFill>
                          <a:latin typeface="Arial"/>
                          <a:ea typeface="Arial"/>
                          <a:cs typeface="Arial"/>
                        </a:rPr>
                        <a:t>Invented rule ID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Reject</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E9F1F2"/>
                    </a:solidFill>
                  </a:tcPr>
                </a:tc>
              </a:tr>
              <a:tr h="704850">
                <a:tc>
                  <a:txBody>
                    <a:bodyPr>
                      <a:noAutofit/>
                    </a:bodyPr>
                    <a:lstStyle/>
                    <a:p>
                      <a:r>
                        <a:rPr sz="1875" b="0">
                          <a:solidFill>
                            <a:srgbClr val="182E35"/>
                          </a:solidFill>
                          <a:latin typeface="Arial"/>
                          <a:ea typeface="Arial"/>
                          <a:cs typeface="Arial"/>
                        </a:rPr>
                        <a:t>Correct ID but invented quote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Reject</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FFFFFF"/>
                    </a:solidFill>
                  </a:tcPr>
                </a:tc>
              </a:tr>
              <a:tr h="704850">
                <a:tc>
                  <a:txBody>
                    <a:bodyPr>
                      <a:noAutofit/>
                    </a:bodyPr>
                    <a:lstStyle/>
                    <a:p>
                      <a:r>
                        <a:rPr sz="1875" b="0">
                          <a:solidFill>
                            <a:srgbClr val="182E35"/>
                          </a:solidFill>
                          <a:latin typeface="Arial"/>
                          <a:ea typeface="Arial"/>
                          <a:cs typeface="Arial"/>
                        </a:rPr>
                        <a:t>Correct ID but empty evidence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Reject</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Pass</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
        <p:nvSpPr>
          <p:cNvPr id="5" name="">
            <a:extLst xmlns:a="http://schemas.openxmlformats.org/drawingml/2006/main">
              <a:ext uri="{FF2B5EF4-FFF2-40B4-BE49-F238E27FC236}">
                <a16:creationId xmlns:a16="http://schemas.microsoft.com/office/drawing/2014/main" id="{F14531C3-3471-4822-9D57-49416FB760E7}"/>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9/9 exported checks pass, including identical-query and identical-input controls.</a:t>
            </a:r>
          </a:p>
        </p:txBody>
      </p:sp>
    </p:spTree>
    <p:extLst>
      <p:ext uri="{BB962C8B-B14F-4D97-AF65-F5344CB8AC3E}">
        <p14:creationId xmlns:p14="http://schemas.microsoft.com/office/powerpoint/2010/main" val="20777537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DA77A87-2461-4500-88DD-93008BC3E491}"/>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Actual local generation: accepted evidence</a:t>
            </a:r>
          </a:p>
        </p:txBody>
      </p:sp>
      <p:sp>
        <p:nvSpPr>
          <p:cNvPr id="2" name="">
            <a:extLst xmlns:a="http://schemas.openxmlformats.org/drawingml/2006/main">
              <a:ext uri="{FF2B5EF4-FFF2-40B4-BE49-F238E27FC236}">
                <a16:creationId xmlns:a16="http://schemas.microsoft.com/office/drawing/2014/main" id="{66710796-CA8B-4758-B811-1D8787BFEFB0}"/>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Evaluation_Results/rag_evidence/live_generation.json: unbounded_copy</a:t>
            </a:r>
          </a:p>
        </p:txBody>
      </p:sp>
      <p:sp>
        <p:nvSpPr>
          <p:cNvPr id="3" name="">
            <a:extLst xmlns:a="http://schemas.openxmlformats.org/drawingml/2006/main">
              <a:ext uri="{FF2B5EF4-FFF2-40B4-BE49-F238E27FC236}">
                <a16:creationId xmlns:a16="http://schemas.microsoft.com/office/drawing/2014/main" id="{B5087553-2963-4575-A4C9-681A56948DCA}"/>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87BB4760-253A-4BDE-8C18-CE34E950C23F}"/>
              </a:ext>
            </a:extLst>
          </p:cNvPr>
          <p:cNvSpPr>
            <a:spLocks xmlns:a="http://schemas.openxmlformats.org/drawingml/2006/main" noGrp="1"/>
          </p:cNvSpPr>
          <p:nvPr/>
        </p:nvSpPr>
        <p:spPr>
          <a:xfrm xmlns:a="http://schemas.openxmlformats.org/drawingml/2006/main">
            <a:off x="685800" y="16192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087F75"/>
                </a:solidFill>
                <a:latin typeface="Arial"/>
                <a:ea typeface="Arial"/>
                <a:cs typeface="Arial"/>
              </a:defRPr>
            </a:defPPr>
          </a:lstStyle>
          <a:p xmlns:a="http://schemas.openxmlformats.org/drawingml/2006/main">
            <a:pPr>
              <a:defRPr sz="2925" b="1">
                <a:solidFill>
                  <a:srgbClr val="087F75"/>
                </a:solidFill>
                <a:latin typeface="Arial"/>
                <a:ea typeface="Arial"/>
                <a:cs typeface="Arial"/>
              </a:defRPr>
            </a:pPr>
            <a:r>
              <a:rPr sz="2925" b="1">
                <a:solidFill>
                  <a:srgbClr val="087F75"/>
                </a:solidFill>
                <a:latin typeface="Arial"/>
                <a:ea typeface="Arial"/>
                <a:cs typeface="Arial"/>
              </a:rPr>
              <a:t>AUTO-STRCPY citation accepted</a:t>
            </a:r>
          </a:p>
        </p:txBody>
      </p:sp>
      <p:sp>
        <p:nvSpPr>
          <p:cNvPr id="5" name="">
            <a:extLst xmlns:a="http://schemas.openxmlformats.org/drawingml/2006/main">
              <a:ext uri="{FF2B5EF4-FFF2-40B4-BE49-F238E27FC236}">
                <a16:creationId xmlns:a16="http://schemas.microsoft.com/office/drawing/2014/main" id="{300AE468-2E83-4056-A3C4-518678C50DAA}"/>
              </a:ext>
            </a:extLst>
          </p:cNvPr>
          <p:cNvSpPr>
            <a:spLocks xmlns:a="http://schemas.openxmlformats.org/drawingml/2006/main" noGrp="1"/>
          </p:cNvSpPr>
          <p:nvPr/>
        </p:nvSpPr>
        <p:spPr>
          <a:xfrm xmlns:a="http://schemas.openxmlformats.org/drawingml/2006/main">
            <a:off x="685800" y="25717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400" b="1">
                <a:solidFill>
                  <a:srgbClr val="102B32"/>
                </a:solidFill>
                <a:latin typeface="Arial"/>
                <a:ea typeface="Arial"/>
                <a:cs typeface="Arial"/>
              </a:defRPr>
            </a:defPPr>
          </a:lstStyle>
          <a:p xmlns:a="http://schemas.openxmlformats.org/drawingml/2006/main">
            <a:pPr>
              <a:defRPr sz="2400" b="1">
                <a:solidFill>
                  <a:srgbClr val="102B32"/>
                </a:solidFill>
                <a:latin typeface="Arial"/>
                <a:ea typeface="Arial"/>
                <a:cs typeface="Arial"/>
              </a:defRPr>
            </a:pPr>
            <a:r>
              <a:rPr sz="2400" b="1">
                <a:solidFill>
                  <a:srgbClr val="102B32"/>
                </a:solidFill>
                <a:latin typeface="Arial"/>
                <a:ea typeface="Arial"/>
                <a:cs typeface="Arial"/>
              </a:rPr>
              <a:t>char name[8]; strcpy(name, request);</a:t>
            </a:r>
          </a:p>
        </p:txBody>
      </p:sp>
      <p:sp>
        <p:nvSpPr>
          <p:cNvPr id="6" name="">
            <a:extLst xmlns:a="http://schemas.openxmlformats.org/drawingml/2006/main">
              <a:ext uri="{FF2B5EF4-FFF2-40B4-BE49-F238E27FC236}">
                <a16:creationId xmlns:a16="http://schemas.microsoft.com/office/drawing/2014/main" id="{05B5D62A-19FA-4BF2-B9FF-7BC8D11297B1}"/>
              </a:ext>
            </a:extLst>
          </p:cNvPr>
          <p:cNvSpPr>
            <a:spLocks xmlns:a="http://schemas.openxmlformats.org/drawingml/2006/main" noGrp="1"/>
          </p:cNvSpPr>
          <p:nvPr/>
        </p:nvSpPr>
        <p:spPr>
          <a:xfrm xmlns:a="http://schemas.openxmlformats.org/drawingml/2006/main">
            <a:off x="685800" y="35242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0">
                <a:solidFill>
                  <a:srgbClr val="182E35"/>
                </a:solidFill>
                <a:latin typeface="Arial"/>
                <a:ea typeface="Arial"/>
                <a:cs typeface="Arial"/>
              </a:defRPr>
            </a:defPPr>
          </a:lstStyle>
          <a:p xmlns:a="http://schemas.openxmlformats.org/drawingml/2006/main">
            <a:pPr>
              <a:defRPr sz="2325" b="0">
                <a:solidFill>
                  <a:srgbClr val="182E35"/>
                </a:solidFill>
                <a:latin typeface="Arial"/>
                <a:ea typeface="Arial"/>
                <a:cs typeface="Arial"/>
              </a:defRPr>
            </a:pPr>
            <a:r>
              <a:rPr sz="2325" b="0">
                <a:solidFill>
                  <a:srgbClr val="182E35"/>
                </a:solidFill>
                <a:latin typeface="Arial"/>
                <a:ea typeface="Arial"/>
                <a:cs typeface="Arial"/>
              </a:rPr>
              <a:t>“For strcpy, prove destination capacity and source length including the terminator.”</a:t>
            </a:r>
          </a:p>
        </p:txBody>
      </p:sp>
      <p:sp>
        <p:nvSpPr>
          <p:cNvPr id="7" name="">
            <a:extLst xmlns:a="http://schemas.openxmlformats.org/drawingml/2006/main">
              <a:ext uri="{FF2B5EF4-FFF2-40B4-BE49-F238E27FC236}">
                <a16:creationId xmlns:a16="http://schemas.microsoft.com/office/drawing/2014/main" id="{27EC7983-CF19-47C3-830C-D8E19183FA4B}"/>
              </a:ext>
            </a:extLst>
          </p:cNvPr>
          <p:cNvSpPr>
            <a:spLocks xmlns:a="http://schemas.openxmlformats.org/drawingml/2006/main" noGrp="1"/>
          </p:cNvSpPr>
          <p:nvPr/>
        </p:nvSpPr>
        <p:spPr>
          <a:xfrm xmlns:a="http://schemas.openxmlformats.org/drawingml/2006/main">
            <a:off x="685800" y="5143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Actual generation: true     Recorded call: 4.991 seconds</a:t>
            </a:r>
          </a:p>
        </p:txBody>
      </p:sp>
    </p:spTree>
    <p:extLst>
      <p:ext uri="{BB962C8B-B14F-4D97-AF65-F5344CB8AC3E}">
        <p14:creationId xmlns:p14="http://schemas.microsoft.com/office/powerpoint/2010/main" val="91630943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7535A0-FE74-4EAC-8ED2-7B7B21AAA79C}"/>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Actual local generation: rejected evidence</a:t>
            </a:r>
          </a:p>
        </p:txBody>
      </p:sp>
      <p:sp>
        <p:nvSpPr>
          <p:cNvPr id="2" name="">
            <a:extLst xmlns:a="http://schemas.openxmlformats.org/drawingml/2006/main">
              <a:ext uri="{FF2B5EF4-FFF2-40B4-BE49-F238E27FC236}">
                <a16:creationId xmlns:a16="http://schemas.microsoft.com/office/drawing/2014/main" id="{228DC79B-9708-4FEA-8028-BE768B80380D}"/>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Evaluation_Results/rag_evidence/live_generation.json: division_zero</a:t>
            </a:r>
          </a:p>
        </p:txBody>
      </p:sp>
      <p:sp>
        <p:nvSpPr>
          <p:cNvPr id="3" name="">
            <a:extLst xmlns:a="http://schemas.openxmlformats.org/drawingml/2006/main">
              <a:ext uri="{FF2B5EF4-FFF2-40B4-BE49-F238E27FC236}">
                <a16:creationId xmlns:a16="http://schemas.microsoft.com/office/drawing/2014/main" id="{0603C8B5-4992-4D02-901F-8FAF6DCB0065}"/>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EE3578E8-E592-4573-9BF4-4F0D183B81AF}"/>
              </a:ext>
            </a:extLst>
          </p:cNvPr>
          <p:cNvSpPr>
            <a:spLocks xmlns:a="http://schemas.openxmlformats.org/drawingml/2006/main" noGrp="1"/>
          </p:cNvSpPr>
          <p:nvPr/>
        </p:nvSpPr>
        <p:spPr>
          <a:xfrm xmlns:a="http://schemas.openxmlformats.org/drawingml/2006/main">
            <a:off x="685800" y="16192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925" b="1">
                <a:solidFill>
                  <a:srgbClr val="95601D"/>
                </a:solidFill>
                <a:latin typeface="Arial"/>
                <a:ea typeface="Arial"/>
                <a:cs typeface="Arial"/>
              </a:defRPr>
            </a:defPPr>
          </a:lstStyle>
          <a:p xmlns:a="http://schemas.openxmlformats.org/drawingml/2006/main">
            <a:pPr>
              <a:defRPr sz="2925" b="1">
                <a:solidFill>
                  <a:srgbClr val="95601D"/>
                </a:solidFill>
                <a:latin typeface="Arial"/>
                <a:ea typeface="Arial"/>
                <a:cs typeface="Arial"/>
              </a:defRPr>
            </a:pPr>
            <a:r>
              <a:rPr sz="2925" b="1">
                <a:solidFill>
                  <a:srgbClr val="95601D"/>
                </a:solidFill>
                <a:latin typeface="Arial"/>
                <a:ea typeface="Arial"/>
                <a:cs typeface="Arial"/>
              </a:rPr>
              <a:t>Correct rule ID, unsupported quote</a:t>
            </a:r>
          </a:p>
        </p:txBody>
      </p:sp>
      <p:sp>
        <p:nvSpPr>
          <p:cNvPr id="5" name="">
            <a:extLst xmlns:a="http://schemas.openxmlformats.org/drawingml/2006/main">
              <a:ext uri="{FF2B5EF4-FFF2-40B4-BE49-F238E27FC236}">
                <a16:creationId xmlns:a16="http://schemas.microsoft.com/office/drawing/2014/main" id="{B27A7D0C-27BE-4B73-BFA3-E6E3CCF6EE25}"/>
              </a:ext>
            </a:extLst>
          </p:cNvPr>
          <p:cNvSpPr>
            <a:spLocks xmlns:a="http://schemas.openxmlformats.org/drawingml/2006/main" noGrp="1"/>
          </p:cNvSpPr>
          <p:nvPr/>
        </p:nvSpPr>
        <p:spPr>
          <a:xfrm xmlns:a="http://schemas.openxmlformats.org/drawingml/2006/main">
            <a:off x="685800" y="25717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325" b="1">
                <a:solidFill>
                  <a:srgbClr val="102B32"/>
                </a:solidFill>
                <a:latin typeface="Arial"/>
                <a:ea typeface="Arial"/>
                <a:cs typeface="Arial"/>
              </a:defRPr>
            </a:defPPr>
          </a:lstStyle>
          <a:p xmlns:a="http://schemas.openxmlformats.org/drawingml/2006/main">
            <a:pPr>
              <a:defRPr sz="2325" b="1">
                <a:solidFill>
                  <a:srgbClr val="102B32"/>
                </a:solidFill>
                <a:latin typeface="Arial"/>
                <a:ea typeface="Arial"/>
                <a:cs typeface="Arial"/>
              </a:defRPr>
            </a:pPr>
            <a:r>
              <a:rPr sz="2325" b="1">
                <a:solidFill>
                  <a:srgbClr val="102B32"/>
                </a:solidFill>
                <a:latin typeface="Arial"/>
                <a:ea typeface="Arial"/>
                <a:cs typeface="Arial"/>
              </a:rPr>
              <a:t>int rpm_rate(int rpm) { return rpm / 0; }</a:t>
            </a:r>
          </a:p>
        </p:txBody>
      </p:sp>
      <p:sp>
        <p:nvSpPr>
          <p:cNvPr id="6" name="">
            <a:extLst xmlns:a="http://schemas.openxmlformats.org/drawingml/2006/main">
              <a:ext uri="{FF2B5EF4-FFF2-40B4-BE49-F238E27FC236}">
                <a16:creationId xmlns:a16="http://schemas.microsoft.com/office/drawing/2014/main" id="{D1F93359-933B-4C5C-B815-EB41122178C8}"/>
              </a:ext>
            </a:extLst>
          </p:cNvPr>
          <p:cNvSpPr>
            <a:spLocks xmlns:a="http://schemas.openxmlformats.org/drawingml/2006/main" noGrp="1"/>
          </p:cNvSpPr>
          <p:nvPr/>
        </p:nvSpPr>
        <p:spPr>
          <a:xfrm xmlns:a="http://schemas.openxmlformats.org/drawingml/2006/main">
            <a:off x="685800" y="37147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The model quoted source code instead of retrieved advisory guidance.</a:t>
            </a:r>
          </a:p>
        </p:txBody>
      </p:sp>
      <p:sp>
        <p:nvSpPr>
          <p:cNvPr id="7" name="">
            <a:extLst xmlns:a="http://schemas.openxmlformats.org/drawingml/2006/main">
              <a:ext uri="{FF2B5EF4-FFF2-40B4-BE49-F238E27FC236}">
                <a16:creationId xmlns:a16="http://schemas.microsoft.com/office/drawing/2014/main" id="{44E27F44-6CC1-4483-92D2-9BA088CEDA91}"/>
              </a:ext>
            </a:extLst>
          </p:cNvPr>
          <p:cNvSpPr>
            <a:spLocks xmlns:a="http://schemas.openxmlformats.org/drawingml/2006/main" noGrp="1"/>
          </p:cNvSpPr>
          <p:nvPr/>
        </p:nvSpPr>
        <p:spPr>
          <a:xfrm xmlns:a="http://schemas.openxmlformats.org/drawingml/2006/main">
            <a:off x="685800" y="438150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The validator rejected the model evidence and cleared its citation.</a:t>
            </a:r>
          </a:p>
        </p:txBody>
      </p:sp>
      <p:sp>
        <p:nvSpPr>
          <p:cNvPr id="8" name="">
            <a:extLst xmlns:a="http://schemas.openxmlformats.org/drawingml/2006/main">
              <a:ext uri="{FF2B5EF4-FFF2-40B4-BE49-F238E27FC236}">
                <a16:creationId xmlns:a16="http://schemas.microsoft.com/office/drawing/2014/main" id="{A2F7E573-0764-4CCC-94FD-06BBFE1777AF}"/>
              </a:ext>
            </a:extLst>
          </p:cNvPr>
          <p:cNvSpPr>
            <a:spLocks xmlns:a="http://schemas.openxmlformats.org/drawingml/2006/main" noGrp="1"/>
          </p:cNvSpPr>
          <p:nvPr/>
        </p:nvSpPr>
        <p:spPr>
          <a:xfrm xmlns:a="http://schemas.openxmlformats.org/drawingml/2006/main">
            <a:off x="685800" y="5048250"/>
            <a:ext cx="108204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0">
                <a:solidFill>
                  <a:srgbClr val="182E35"/>
                </a:solidFill>
                <a:latin typeface="Arial"/>
                <a:ea typeface="Arial"/>
                <a:cs typeface="Arial"/>
              </a:defRPr>
            </a:defPPr>
          </a:lstStyle>
          <a:p xmlns:a="http://schemas.openxmlformats.org/drawingml/2006/main">
            <a:pPr>
              <a:defRPr sz="2025" b="0">
                <a:solidFill>
                  <a:srgbClr val="182E35"/>
                </a:solidFill>
                <a:latin typeface="Arial"/>
                <a:ea typeface="Arial"/>
                <a:cs typeface="Arial"/>
              </a:defRPr>
            </a:pPr>
            <a:r>
              <a:rPr sz="2025" b="0">
                <a:solidFill>
                  <a:srgbClr val="182E35"/>
                </a:solidFill>
                <a:latin typeface="Arial"/>
                <a:ea typeface="Arial"/>
                <a:cs typeface="Arial"/>
              </a:rPr>
              <a:t>The separately grounded deterministic candidate remained inspectable.</a:t>
            </a:r>
          </a:p>
        </p:txBody>
      </p:sp>
      <p:sp>
        <p:nvSpPr>
          <p:cNvPr id="9" name="">
            <a:extLst xmlns:a="http://schemas.openxmlformats.org/drawingml/2006/main">
              <a:ext uri="{FF2B5EF4-FFF2-40B4-BE49-F238E27FC236}">
                <a16:creationId xmlns:a16="http://schemas.microsoft.com/office/drawing/2014/main" id="{5748E8E3-817C-4299-BF65-B6D14050F41D}"/>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Actual generation: true. Recorded call: 8.282 seconds. Rejection demonstrates the gate.</a:t>
            </a:r>
          </a:p>
        </p:txBody>
      </p:sp>
    </p:spTree>
    <p:extLst>
      <p:ext uri="{BB962C8B-B14F-4D97-AF65-F5344CB8AC3E}">
        <p14:creationId xmlns:p14="http://schemas.microsoft.com/office/powerpoint/2010/main" val="17084622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6FA3D45-6C88-46F1-A07E-9E893E3F3B4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Execution modes and honest fallback labels</a:t>
            </a:r>
          </a:p>
        </p:txBody>
      </p:sp>
      <p:sp>
        <p:nvSpPr>
          <p:cNvPr id="2" name="">
            <a:extLst xmlns:a="http://schemas.openxmlformats.org/drawingml/2006/main">
              <a:ext uri="{FF2B5EF4-FFF2-40B4-BE49-F238E27FC236}">
                <a16:creationId xmlns:a16="http://schemas.microsoft.com/office/drawing/2014/main" id="{012EB59B-AD9E-423E-A9BD-6EC599678AF6}"/>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src/rag/orchestrator.py; live_generation.json; tests/test_expanded_scenarios.py</a:t>
            </a:r>
          </a:p>
        </p:txBody>
      </p:sp>
      <p:sp>
        <p:nvSpPr>
          <p:cNvPr id="3" name="">
            <a:extLst xmlns:a="http://schemas.openxmlformats.org/drawingml/2006/main">
              <a:ext uri="{FF2B5EF4-FFF2-40B4-BE49-F238E27FC236}">
                <a16:creationId xmlns:a16="http://schemas.microsoft.com/office/drawing/2014/main" id="{ADC039BA-C14B-40B1-9007-3B3CA9332F3F}"/>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14</a:t>
            </a:r>
          </a:p>
        </p:txBody>
      </p:sp>
      <p:graphicFrame>
        <p:nvGraphicFramePr>
          <p:cNvPr id="4" name="">
            <a:extLst xmlns:a="http://schemas.openxmlformats.org/drawingml/2006/main">
              <a:ext uri="{FF2B5EF4-FFF2-40B4-BE49-F238E27FC236}">
                <a16:creationId xmlns:a16="http://schemas.microsoft.com/office/drawing/2014/main" id="{BB09331C-A15D-4CDE-BECA-4A991FF3FB95}"/>
              </a:ext>
            </a:extLst>
          </p:cNvPr>
          <p:cNvGraphicFramePr/>
          <p:nvPr/>
        </p:nvGraphicFramePr>
        <p:xfrm>
          <a:off xmlns:a="http://schemas.openxmlformats.org/drawingml/2006/main" x="685800" y="1714500"/>
          <a:ext xmlns:a="http://schemas.openxmlformats.org/drawingml/2006/main" cx="10820400" cy="3524250"/>
        </p:xfrm>
        <a:graphic xmlns:a="http://schemas.openxmlformats.org/drawingml/2006/main">
          <a:graphicData uri="http://schemas.openxmlformats.org/drawingml/2006/table">
            <a:tbl>
              <a:tblPr/>
              <a:tblGrid>
                <a:gridCol w="4476750"/>
                <a:gridCol w="6343650"/>
              </a:tblGrid>
              <a:tr h="704850">
                <a:tc>
                  <a:txBody>
                    <a:bodyPr>
                      <a:noAutofit/>
                    </a:bodyPr>
                    <a:lstStyle/>
                    <a:p>
                      <a:r>
                        <a:rPr sz="1875" b="1">
                          <a:solidFill>
                            <a:srgbClr val="FFFFFF"/>
                          </a:solidFill>
                          <a:latin typeface="Arial"/>
                          <a:ea typeface="Arial"/>
                          <a:cs typeface="Arial"/>
                        </a:rPr>
                        <a:t>Mode</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75" b="1">
                          <a:solidFill>
                            <a:srgbClr val="FFFFFF"/>
                          </a:solidFill>
                          <a:latin typeface="Arial"/>
                          <a:ea typeface="Arial"/>
                          <a:cs typeface="Arial"/>
                        </a:rPr>
                        <a:t>Meaning</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704850">
                <a:tc>
                  <a:txBody>
                    <a:bodyPr>
                      <a:noAutofit/>
                    </a:bodyPr>
                    <a:lstStyle/>
                    <a:p>
                      <a:r>
                        <a:rPr sz="1875" b="0">
                          <a:solidFill>
                            <a:srgbClr val="182E35"/>
                          </a:solidFill>
                          <a:latin typeface="Arial"/>
                          <a:ea typeface="Arial"/>
                          <a:cs typeface="Arial"/>
                        </a:rPr>
                        <a:t>rag-assisted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Model ran; citation validation may accept or reject</a:t>
                      </a:r>
                    </a:p>
                  </a:txBody>
                  <a:tcPr marL="91440" marR="91440" marT="45720" marB="45720">
                    <a:lnR w="9525">
                      <a:solidFill>
                        <a:srgbClr val="D6E2E4"/>
                      </a:solidFill>
                      <a:prstDash val="solid"/>
                    </a:lnR>
                    <a:lnB w="9525">
                      <a:solidFill>
                        <a:srgbClr val="D6E2E4"/>
                      </a:solidFill>
                      <a:prstDash val="solid"/>
                    </a:lnB>
                    <a:solidFill>
                      <a:srgbClr val="FFFFFF"/>
                    </a:solidFill>
                  </a:tcPr>
                </a:tc>
              </a:tr>
              <a:tr h="704850">
                <a:tc>
                  <a:txBody>
                    <a:bodyPr>
                      <a:noAutofit/>
                    </a:bodyPr>
                    <a:lstStyle/>
                    <a:p>
                      <a:r>
                        <a:rPr sz="1875" b="0">
                          <a:solidFill>
                            <a:srgbClr val="182E35"/>
                          </a:solidFill>
                          <a:latin typeface="Arial"/>
                          <a:ea typeface="Arial"/>
                          <a:cs typeface="Arial"/>
                        </a:rPr>
                        <a:t>retrieval-grounded-template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Retrieved guidance available; model unavailable</a:t>
                      </a:r>
                    </a:p>
                  </a:txBody>
                  <a:tcPr marL="91440" marR="91440" marT="45720" marB="45720">
                    <a:lnR w="9525">
                      <a:solidFill>
                        <a:srgbClr val="D6E2E4"/>
                      </a:solidFill>
                      <a:prstDash val="solid"/>
                    </a:lnR>
                    <a:lnB w="9525">
                      <a:solidFill>
                        <a:srgbClr val="D6E2E4"/>
                      </a:solidFill>
                      <a:prstDash val="solid"/>
                    </a:lnB>
                    <a:solidFill>
                      <a:srgbClr val="E9F1F2"/>
                    </a:solidFill>
                  </a:tcPr>
                </a:tc>
              </a:tr>
              <a:tr h="704850">
                <a:tc>
                  <a:txBody>
                    <a:bodyPr>
                      <a:noAutofit/>
                    </a:bodyPr>
                    <a:lstStyle/>
                    <a:p>
                      <a:r>
                        <a:rPr sz="1875" b="0">
                          <a:solidFill>
                            <a:srgbClr val="182E35"/>
                          </a:solidFill>
                          <a:latin typeface="Arial"/>
                          <a:ea typeface="Arial"/>
                          <a:cs typeface="Arial"/>
                        </a:rPr>
                        <a:t>deterministic-only</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75" b="0">
                          <a:solidFill>
                            <a:srgbClr val="182E35"/>
                          </a:solidFill>
                          <a:latin typeface="Arial"/>
                          <a:ea typeface="Arial"/>
                          <a:cs typeface="Arial"/>
                        </a:rPr>
                        <a:t>No applicable candidate context for generation</a:t>
                      </a:r>
                    </a:p>
                  </a:txBody>
                  <a:tcPr marL="91440" marR="91440" marT="45720" marB="45720">
                    <a:lnR w="9525">
                      <a:solidFill>
                        <a:srgbClr val="D6E2E4"/>
                      </a:solidFill>
                      <a:prstDash val="solid"/>
                    </a:lnR>
                    <a:lnB w="9525">
                      <a:solidFill>
                        <a:srgbClr val="D6E2E4"/>
                      </a:solidFill>
                      <a:prstDash val="solid"/>
                    </a:lnB>
                    <a:solidFill>
                      <a:srgbClr val="FFFFFF"/>
                    </a:solidFill>
                  </a:tcPr>
                </a:tc>
              </a:tr>
              <a:tr h="704850">
                <a:tc>
                  <a:txBody>
                    <a:bodyPr>
                      <a:noAutofit/>
                    </a:bodyPr>
                    <a:lstStyle/>
                    <a:p>
                      <a:r>
                        <a:rPr sz="1875" b="0">
                          <a:solidFill>
                            <a:srgbClr val="182E35"/>
                          </a:solidFill>
                          <a:latin typeface="Arial"/>
                          <a:ea typeface="Arial"/>
                          <a:cs typeface="Arial"/>
                        </a:rPr>
                        <a:t>deterministic-fallback</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75" b="0">
                          <a:solidFill>
                            <a:srgbClr val="182E35"/>
                          </a:solidFill>
                          <a:latin typeface="Arial"/>
                          <a:ea typeface="Arial"/>
                          <a:cs typeface="Arial"/>
                        </a:rPr>
                        <a:t>RAG unavailable and no supported guidance</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
        <p:nvSpPr>
          <p:cNvPr id="5" name="">
            <a:extLst xmlns:a="http://schemas.openxmlformats.org/drawingml/2006/main">
              <a:ext uri="{FF2B5EF4-FFF2-40B4-BE49-F238E27FC236}">
                <a16:creationId xmlns:a16="http://schemas.microsoft.com/office/drawing/2014/main" id="{32868980-0B79-40A3-AD58-E1065B56D1A0}"/>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Clean comparison: rpm / 2, no supported candidate, no claim of model generation.</a:t>
            </a:r>
          </a:p>
        </p:txBody>
      </p:sp>
    </p:spTree>
    <p:extLst>
      <p:ext uri="{BB962C8B-B14F-4D97-AF65-F5344CB8AC3E}">
        <p14:creationId xmlns:p14="http://schemas.microsoft.com/office/powerpoint/2010/main" val="138993049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5A6AEC8-EA22-4C60-883E-5A3F71FF87EA}"/>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Repository and ECU evaluation metrics</a:t>
            </a:r>
          </a:p>
        </p:txBody>
      </p:sp>
      <p:sp>
        <p:nvSpPr>
          <p:cNvPr id="2" name="">
            <a:extLst xmlns:a="http://schemas.openxmlformats.org/drawingml/2006/main">
              <a:ext uri="{FF2B5EF4-FFF2-40B4-BE49-F238E27FC236}">
                <a16:creationId xmlns:a16="http://schemas.microsoft.com/office/drawing/2014/main" id="{E9A03EE4-966E-42A5-ABBF-DD39BCD21F73}"/>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public_benchmark/summary.json; ecu_mutations/results.json</a:t>
            </a:r>
          </a:p>
        </p:txBody>
      </p:sp>
      <p:sp>
        <p:nvSpPr>
          <p:cNvPr id="3" name="">
            <a:extLst xmlns:a="http://schemas.openxmlformats.org/drawingml/2006/main">
              <a:ext uri="{FF2B5EF4-FFF2-40B4-BE49-F238E27FC236}">
                <a16:creationId xmlns:a16="http://schemas.microsoft.com/office/drawing/2014/main" id="{855DC5BF-55B5-463D-9B0C-CBC196B64C3A}"/>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15</a:t>
            </a:r>
          </a:p>
        </p:txBody>
      </p:sp>
      <p:graphicFrame>
        <p:nvGraphicFramePr>
          <p:cNvPr id="4" name="">
            <a:extLst xmlns:a="http://schemas.openxmlformats.org/drawingml/2006/main">
              <a:ext uri="{FF2B5EF4-FFF2-40B4-BE49-F238E27FC236}">
                <a16:creationId xmlns:a16="http://schemas.microsoft.com/office/drawing/2014/main" id="{88569245-200E-4541-A326-B4F1F2C42B11}"/>
              </a:ext>
            </a:extLst>
          </p:cNvPr>
          <p:cNvGraphicFramePr/>
          <p:nvPr/>
        </p:nvGraphicFramePr>
        <p:xfrm>
          <a:off xmlns:a="http://schemas.openxmlformats.org/drawingml/2006/main" x="685800" y="1619250"/>
          <a:ext xmlns:a="http://schemas.openxmlformats.org/drawingml/2006/main" cx="10820400" cy="4048125"/>
        </p:xfrm>
        <a:graphic xmlns:a="http://schemas.openxmlformats.org/drawingml/2006/main">
          <a:graphicData uri="http://schemas.openxmlformats.org/drawingml/2006/table">
            <a:tbl>
              <a:tblPr/>
              <a:tblGrid>
                <a:gridCol w="3048000"/>
                <a:gridCol w="3333750"/>
                <a:gridCol w="4438650"/>
              </a:tblGrid>
              <a:tr h="674688">
                <a:tc>
                  <a:txBody>
                    <a:bodyPr>
                      <a:noAutofit/>
                    </a:bodyPr>
                    <a:lstStyle/>
                    <a:p>
                      <a:r>
                        <a:rPr sz="1800" b="1">
                          <a:solidFill>
                            <a:srgbClr val="FFFFFF"/>
                          </a:solidFill>
                          <a:latin typeface="Arial"/>
                          <a:ea typeface="Arial"/>
                          <a:cs typeface="Arial"/>
                        </a:rPr>
                        <a:t>Metric</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Recorded value</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Interpretation</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674688">
                <a:tc>
                  <a:txBody>
                    <a:bodyPr>
                      <a:noAutofit/>
                    </a:bodyPr>
                    <a:lstStyle/>
                    <a:p>
                      <a:r>
                        <a:rPr sz="1800" b="0">
                          <a:solidFill>
                            <a:srgbClr val="182E35"/>
                          </a:solidFill>
                          <a:latin typeface="Arial"/>
                          <a:ea typeface="Arial"/>
                          <a:cs typeface="Arial"/>
                        </a:rPr>
                        <a:t>Public corpus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100 repos; 6,721 files</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Varied-source scan robustness</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800" b="0">
                          <a:solidFill>
                            <a:srgbClr val="182E35"/>
                          </a:solidFill>
                          <a:latin typeface="Arial"/>
                          <a:ea typeface="Arial"/>
                          <a:cs typeface="Arial"/>
                        </a:rPr>
                        <a:t>Volume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2,650,420 lines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Eligible C/C++ source</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800" b="0">
                          <a:solidFill>
                            <a:srgbClr val="182E35"/>
                          </a:solidFill>
                          <a:latin typeface="Arial"/>
                          <a:ea typeface="Arial"/>
                          <a:cs typeface="Arial"/>
                        </a:rPr>
                        <a:t>Failures / candidates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0 / 2017</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Candidates lack true/false labels</a:t>
                      </a:r>
                    </a:p>
                  </a:txBody>
                  <a:tcPr marL="91440" marR="91440" marT="45720" marB="45720">
                    <a:lnR w="9525">
                      <a:solidFill>
                        <a:srgbClr val="D6E2E4"/>
                      </a:solidFill>
                      <a:prstDash val="solid"/>
                    </a:lnR>
                    <a:lnB w="9525">
                      <a:solidFill>
                        <a:srgbClr val="D6E2E4"/>
                      </a:solidFill>
                      <a:prstDash val="solid"/>
                    </a:lnB>
                    <a:solidFill>
                      <a:srgbClr val="FFFFFF"/>
                    </a:solidFill>
                  </a:tcPr>
                </a:tc>
              </a:tr>
              <a:tr h="674688">
                <a:tc>
                  <a:txBody>
                    <a:bodyPr>
                      <a:noAutofit/>
                    </a:bodyPr>
                    <a:lstStyle/>
                    <a:p>
                      <a:r>
                        <a:rPr sz="1800" b="0">
                          <a:solidFill>
                            <a:srgbClr val="182E35"/>
                          </a:solidFill>
                          <a:latin typeface="Arial"/>
                          <a:ea typeface="Arial"/>
                          <a:cs typeface="Arial"/>
                        </a:rPr>
                        <a:t>Median total time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0.679 s per repo</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Cache/download plus scan</a:t>
                      </a:r>
                    </a:p>
                  </a:txBody>
                  <a:tcPr marL="91440" marR="91440" marT="45720" marB="45720">
                    <a:lnR w="9525">
                      <a:solidFill>
                        <a:srgbClr val="D6E2E4"/>
                      </a:solidFill>
                      <a:prstDash val="solid"/>
                    </a:lnR>
                    <a:lnB w="9525">
                      <a:solidFill>
                        <a:srgbClr val="D6E2E4"/>
                      </a:solidFill>
                      <a:prstDash val="solid"/>
                    </a:lnB>
                    <a:solidFill>
                      <a:srgbClr val="E9F1F2"/>
                    </a:solidFill>
                  </a:tcPr>
                </a:tc>
              </a:tr>
              <a:tr h="674688">
                <a:tc>
                  <a:txBody>
                    <a:bodyPr>
                      <a:noAutofit/>
                    </a:bodyPr>
                    <a:lstStyle/>
                    <a:p>
                      <a:r>
                        <a:rPr sz="1800" b="0">
                          <a:solidFill>
                            <a:srgbClr val="182E35"/>
                          </a:solidFill>
                          <a:latin typeface="Arial"/>
                          <a:ea typeface="Arial"/>
                          <a:cs typeface="Arial"/>
                        </a:rPr>
                        <a:t>ECU mutation score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40/40 across 10 files</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Four controlled defect families</a:t>
                      </a:r>
                    </a:p>
                  </a:txBody>
                  <a:tcPr marL="91440" marR="91440" marT="45720" marB="45720">
                    <a:lnR w="9525">
                      <a:solidFill>
                        <a:srgbClr val="D6E2E4"/>
                      </a:solidFill>
                      <a:prstDash val="solid"/>
                    </a:lnR>
                    <a:lnB w="9525">
                      <a:solidFill>
                        <a:srgbClr val="D6E2E4"/>
                      </a:solidFill>
                      <a:prstDash val="solid"/>
                    </a:lnB>
                    <a:solidFill>
                      <a:srgbClr val="FFFFFF"/>
                    </a:solidFill>
                  </a:tcPr>
                </a:tc>
              </a:tr>
            </a:tbl>
          </a:graphicData>
        </a:graphic>
      </p:graphicFrame>
    </p:spTree>
    <p:extLst>
      <p:ext uri="{BB962C8B-B14F-4D97-AF65-F5344CB8AC3E}">
        <p14:creationId xmlns:p14="http://schemas.microsoft.com/office/powerpoint/2010/main" val="163695198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121465F-07EE-48D8-BC7C-600281F923AC}"/>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Component tests and fresh-install CI</a:t>
            </a:r>
          </a:p>
        </p:txBody>
      </p:sp>
      <p:sp>
        <p:nvSpPr>
          <p:cNvPr id="2" name="">
            <a:extLst xmlns:a="http://schemas.openxmlformats.org/drawingml/2006/main">
              <a:ext uri="{FF2B5EF4-FFF2-40B4-BE49-F238E27FC236}">
                <a16:creationId xmlns:a16="http://schemas.microsoft.com/office/drawing/2014/main" id="{11EBF631-AC28-4380-B39E-ECBFED18BB47}"/>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component_evidence.json; GitHub Actions run 38255018583</a:t>
            </a:r>
          </a:p>
        </p:txBody>
      </p:sp>
      <p:sp>
        <p:nvSpPr>
          <p:cNvPr id="3" name="">
            <a:extLst xmlns:a="http://schemas.openxmlformats.org/drawingml/2006/main">
              <a:ext uri="{FF2B5EF4-FFF2-40B4-BE49-F238E27FC236}">
                <a16:creationId xmlns:a16="http://schemas.microsoft.com/office/drawing/2014/main" id="{463D1E5D-59AB-4BF5-93C5-DF7FC2511763}"/>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F94C8CB3-86B4-422A-A976-E4A21AACB0DE}"/>
              </a:ext>
            </a:extLst>
          </p:cNvPr>
          <p:cNvSpPr>
            <a:spLocks xmlns:a="http://schemas.openxmlformats.org/drawingml/2006/main" noGrp="1"/>
          </p:cNvSpPr>
          <p:nvPr/>
        </p:nvSpPr>
        <p:spPr>
          <a:xfrm xmlns:a="http://schemas.openxmlformats.org/drawingml/2006/main">
            <a:off x="685800" y="161925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450" b="1">
                <a:solidFill>
                  <a:srgbClr val="087F75"/>
                </a:solidFill>
                <a:latin typeface="Arial"/>
                <a:ea typeface="Arial"/>
                <a:cs typeface="Arial"/>
              </a:defRPr>
            </a:defPPr>
          </a:lstStyle>
          <a:p xmlns:a="http://schemas.openxmlformats.org/drawingml/2006/main">
            <a:pPr>
              <a:defRPr sz="3450" b="1">
                <a:solidFill>
                  <a:srgbClr val="087F75"/>
                </a:solidFill>
                <a:latin typeface="Arial"/>
                <a:ea typeface="Arial"/>
                <a:cs typeface="Arial"/>
              </a:defRPr>
            </a:pPr>
            <a:r>
              <a:rPr sz="3450" b="1">
                <a:solidFill>
                  <a:srgbClr val="087F75"/>
                </a:solidFill>
                <a:latin typeface="Arial"/>
                <a:ea typeface="Arial"/>
                <a:cs typeface="Arial"/>
              </a:rPr>
              <a:t>93 / 93 automated tests pass</a:t>
            </a:r>
          </a:p>
        </p:txBody>
      </p:sp>
      <p:sp>
        <p:nvSpPr>
          <p:cNvPr id="5" name="">
            <a:extLst xmlns:a="http://schemas.openxmlformats.org/drawingml/2006/main">
              <a:ext uri="{FF2B5EF4-FFF2-40B4-BE49-F238E27FC236}">
                <a16:creationId xmlns:a16="http://schemas.microsoft.com/office/drawing/2014/main" id="{2CCDFACE-11A6-42C5-9239-F2D04E043E5A}"/>
              </a:ext>
            </a:extLst>
          </p:cNvPr>
          <p:cNvSpPr>
            <a:spLocks xmlns:a="http://schemas.openxmlformats.org/drawingml/2006/main" noGrp="1"/>
          </p:cNvSpPr>
          <p:nvPr/>
        </p:nvSpPr>
        <p:spPr>
          <a:xfrm xmlns:a="http://schemas.openxmlformats.org/drawingml/2006/main">
            <a:off x="685800" y="271462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Faulty CLI sample: exit 1, four SARIF findings.</a:t>
            </a:r>
          </a:p>
        </p:txBody>
      </p:sp>
      <p:sp>
        <p:nvSpPr>
          <p:cNvPr id="6" name="">
            <a:extLst xmlns:a="http://schemas.openxmlformats.org/drawingml/2006/main">
              <a:ext uri="{FF2B5EF4-FFF2-40B4-BE49-F238E27FC236}">
                <a16:creationId xmlns:a16="http://schemas.microsoft.com/office/drawing/2014/main" id="{67E6F67D-19FF-477A-B59D-FE7836046132}"/>
              </a:ext>
            </a:extLst>
          </p:cNvPr>
          <p:cNvSpPr>
            <a:spLocks xmlns:a="http://schemas.openxmlformats.org/drawingml/2006/main" noGrp="1"/>
          </p:cNvSpPr>
          <p:nvPr/>
        </p:nvSpPr>
        <p:spPr>
          <a:xfrm xmlns:a="http://schemas.openxmlformats.org/drawingml/2006/main">
            <a:off x="685800" y="34480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Clean CLI comparison: exit 0, zero SARIF findings.</a:t>
            </a:r>
          </a:p>
        </p:txBody>
      </p:sp>
      <p:sp>
        <p:nvSpPr>
          <p:cNvPr id="7" name="">
            <a:extLst xmlns:a="http://schemas.openxmlformats.org/drawingml/2006/main">
              <a:ext uri="{FF2B5EF4-FFF2-40B4-BE49-F238E27FC236}">
                <a16:creationId xmlns:a16="http://schemas.microsoft.com/office/drawing/2014/main" id="{25553529-8825-4DFC-89F0-0ED1D9B3457E}"/>
              </a:ext>
            </a:extLst>
          </p:cNvPr>
          <p:cNvSpPr>
            <a:spLocks xmlns:a="http://schemas.openxmlformats.org/drawingml/2006/main" noGrp="1"/>
          </p:cNvSpPr>
          <p:nvPr/>
        </p:nvSpPr>
        <p:spPr>
          <a:xfrm xmlns:a="http://schemas.openxmlformats.org/drawingml/2006/main">
            <a:off x="685800" y="41814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Fresh Ubuntu CI: dependencies, tests and SARIF upload all pass.</a:t>
            </a:r>
          </a:p>
        </p:txBody>
      </p:sp>
      <p:sp>
        <p:nvSpPr>
          <p:cNvPr id="8" name="">
            <a:extLst xmlns:a="http://schemas.openxmlformats.org/drawingml/2006/main">
              <a:ext uri="{FF2B5EF4-FFF2-40B4-BE49-F238E27FC236}">
                <a16:creationId xmlns:a16="http://schemas.microsoft.com/office/drawing/2014/main" id="{4DE69520-584B-4C90-B5C0-073018E2B21C}"/>
              </a:ext>
            </a:extLst>
          </p:cNvPr>
          <p:cNvSpPr>
            <a:spLocks xmlns:a="http://schemas.openxmlformats.org/drawingml/2006/main" noGrp="1"/>
          </p:cNvSpPr>
          <p:nvPr/>
        </p:nvSpPr>
        <p:spPr>
          <a:xfrm xmlns:a="http://schemas.openxmlformats.org/drawingml/2006/main">
            <a:off x="685800" y="491490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182E35"/>
                </a:solidFill>
                <a:latin typeface="Arial"/>
                <a:ea typeface="Arial"/>
                <a:cs typeface="Arial"/>
              </a:defRPr>
            </a:defPPr>
          </a:lstStyle>
          <a:p xmlns:a="http://schemas.openxmlformats.org/drawingml/2006/main">
            <a:pPr>
              <a:defRPr sz="2100" b="0">
                <a:solidFill>
                  <a:srgbClr val="182E35"/>
                </a:solidFill>
                <a:latin typeface="Arial"/>
                <a:ea typeface="Arial"/>
                <a:cs typeface="Arial"/>
              </a:defRPr>
            </a:pPr>
            <a:r>
              <a:rPr sz="2100" b="0">
                <a:solidFill>
                  <a:srgbClr val="182E35"/>
                </a:solidFill>
                <a:latin typeface="Arial"/>
                <a:ea typeface="Arial"/>
                <a:cs typeface="Arial"/>
              </a:rPr>
              <a:t>Independent host GCC check reports a zero-division warning.</a:t>
            </a:r>
          </a:p>
        </p:txBody>
      </p:sp>
    </p:spTree>
    <p:extLst>
      <p:ext uri="{BB962C8B-B14F-4D97-AF65-F5344CB8AC3E}">
        <p14:creationId xmlns:p14="http://schemas.microsoft.com/office/powerpoint/2010/main" val="96402490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D0CE9A7-BECD-4174-8982-1040AA282D3E}"/>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Reproducible proof and the live demonstration</a:t>
            </a:r>
          </a:p>
        </p:txBody>
      </p:sp>
      <p:sp>
        <p:nvSpPr>
          <p:cNvPr id="2" name="">
            <a:extLst xmlns:a="http://schemas.openxmlformats.org/drawingml/2006/main">
              <a:ext uri="{FF2B5EF4-FFF2-40B4-BE49-F238E27FC236}">
                <a16:creationId xmlns:a16="http://schemas.microsoft.com/office/drawing/2014/main" id="{A8849119-EE96-4E61-9AD0-91006763DDF5}"/>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evaluation/prove_rag.py, export_rag_controls.py and prove_live_rag.py</a:t>
            </a:r>
          </a:p>
        </p:txBody>
      </p:sp>
      <p:sp>
        <p:nvSpPr>
          <p:cNvPr id="3" name="">
            <a:extLst xmlns:a="http://schemas.openxmlformats.org/drawingml/2006/main">
              <a:ext uri="{FF2B5EF4-FFF2-40B4-BE49-F238E27FC236}">
                <a16:creationId xmlns:a16="http://schemas.microsoft.com/office/drawing/2014/main" id="{514074DB-DAA9-420D-9343-AA2C08AE2C67}"/>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2F7DA217-D5E8-4260-907F-D281A9865023}"/>
              </a:ext>
            </a:extLst>
          </p:cNvPr>
          <p:cNvSpPr>
            <a:spLocks xmlns:a="http://schemas.openxmlformats.org/drawingml/2006/main" noGrp="1"/>
          </p:cNvSpPr>
          <p:nvPr/>
        </p:nvSpPr>
        <p:spPr>
          <a:xfrm xmlns:a="http://schemas.openxmlformats.org/drawingml/2006/main">
            <a:off x="685800" y="17145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python evaluation/prove_rag.py</a:t>
            </a:r>
          </a:p>
        </p:txBody>
      </p:sp>
      <p:sp>
        <p:nvSpPr>
          <p:cNvPr id="5" name="">
            <a:extLst xmlns:a="http://schemas.openxmlformats.org/drawingml/2006/main">
              <a:ext uri="{FF2B5EF4-FFF2-40B4-BE49-F238E27FC236}">
                <a16:creationId xmlns:a16="http://schemas.microsoft.com/office/drawing/2014/main" id="{0A2EE1D2-28B6-4E6F-8DA6-3E5A4A596BC3}"/>
              </a:ext>
            </a:extLst>
          </p:cNvPr>
          <p:cNvSpPr>
            <a:spLocks xmlns:a="http://schemas.openxmlformats.org/drawingml/2006/main" noGrp="1"/>
          </p:cNvSpPr>
          <p:nvPr/>
        </p:nvSpPr>
        <p:spPr>
          <a:xfrm xmlns:a="http://schemas.openxmlformats.org/drawingml/2006/main">
            <a:off x="685800" y="245745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python evaluation/export_rag_controls.py</a:t>
            </a:r>
          </a:p>
        </p:txBody>
      </p:sp>
      <p:sp>
        <p:nvSpPr>
          <p:cNvPr id="6" name="">
            <a:extLst xmlns:a="http://schemas.openxmlformats.org/drawingml/2006/main">
              <a:ext uri="{FF2B5EF4-FFF2-40B4-BE49-F238E27FC236}">
                <a16:creationId xmlns:a16="http://schemas.microsoft.com/office/drawing/2014/main" id="{43F7F64C-C7C1-4327-916E-F8898146D8A6}"/>
              </a:ext>
            </a:extLst>
          </p:cNvPr>
          <p:cNvSpPr>
            <a:spLocks xmlns:a="http://schemas.openxmlformats.org/drawingml/2006/main" noGrp="1"/>
          </p:cNvSpPr>
          <p:nvPr/>
        </p:nvSpPr>
        <p:spPr>
          <a:xfrm xmlns:a="http://schemas.openxmlformats.org/drawingml/2006/main">
            <a:off x="685800" y="3200400"/>
            <a:ext cx="10820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python evaluation/prove_live_rag.py</a:t>
            </a:r>
          </a:p>
        </p:txBody>
      </p:sp>
      <p:sp>
        <p:nvSpPr>
          <p:cNvPr id="7" name="">
            <a:extLst xmlns:a="http://schemas.openxmlformats.org/drawingml/2006/main">
              <a:ext uri="{FF2B5EF4-FFF2-40B4-BE49-F238E27FC236}">
                <a16:creationId xmlns:a16="http://schemas.microsoft.com/office/drawing/2014/main" id="{A13C9614-FB98-4C68-BC36-118318748F3D}"/>
              </a:ext>
            </a:extLst>
          </p:cNvPr>
          <p:cNvSpPr>
            <a:spLocks xmlns:a="http://schemas.openxmlformats.org/drawingml/2006/main" noGrp="1"/>
          </p:cNvSpPr>
          <p:nvPr/>
        </p:nvSpPr>
        <p:spPr>
          <a:xfrm xmlns:a="http://schemas.openxmlformats.org/drawingml/2006/main">
            <a:off x="685800" y="42862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250" b="1">
                <a:solidFill>
                  <a:srgbClr val="087F75"/>
                </a:solidFill>
                <a:latin typeface="Arial"/>
                <a:ea typeface="Arial"/>
                <a:cs typeface="Arial"/>
              </a:defRPr>
            </a:defPPr>
          </a:lstStyle>
          <a:p xmlns:a="http://schemas.openxmlformats.org/drawingml/2006/main">
            <a:pPr>
              <a:defRPr sz="2250" b="1">
                <a:solidFill>
                  <a:srgbClr val="087F75"/>
                </a:solidFill>
                <a:latin typeface="Arial"/>
                <a:ea typeface="Arial"/>
                <a:cs typeface="Arial"/>
              </a:defRPr>
            </a:pPr>
            <a:r>
              <a:rPr sz="2250" b="1">
                <a:solidFill>
                  <a:srgbClr val="087F75"/>
                </a:solidFill>
                <a:latin typeface="Arial"/>
                <a:ea typeface="Arial"/>
                <a:cs typeface="Arial"/>
              </a:rPr>
              <a:t>Demo: ECU baseline and mutant, retrieved excerpt, score trace,</a:t>
            </a:r>
          </a:p>
          <a:p xmlns:a="http://schemas.openxmlformats.org/drawingml/2006/main">
            <a:pPr>
              <a:defRPr sz="2250" b="1">
                <a:solidFill>
                  <a:srgbClr val="087F75"/>
                </a:solidFill>
                <a:latin typeface="Arial"/>
                <a:ea typeface="Arial"/>
                <a:cs typeface="Arial"/>
              </a:defRPr>
            </a:pPr>
            <a:r>
              <a:rPr sz="2250" b="1">
                <a:solidFill>
                  <a:srgbClr val="087F75"/>
                </a:solidFill>
                <a:latin typeface="Arial"/>
                <a:ea typeface="Arial"/>
                <a:cs typeface="Arial"/>
              </a:rPr>
              <a:t>then corpus deletion and the saved actual-model decisions.</a:t>
            </a:r>
          </a:p>
        </p:txBody>
      </p:sp>
    </p:spTree>
    <p:extLst>
      <p:ext uri="{BB962C8B-B14F-4D97-AF65-F5344CB8AC3E}">
        <p14:creationId xmlns:p14="http://schemas.microsoft.com/office/powerpoint/2010/main" val="106384430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75C7237-6519-479A-B185-CCF81B3A0C29}"/>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Conclusions and evidence boundaries</a:t>
            </a:r>
          </a:p>
        </p:txBody>
      </p:sp>
      <p:sp>
        <p:nvSpPr>
          <p:cNvPr id="2" name="">
            <a:extLst xmlns:a="http://schemas.openxmlformats.org/drawingml/2006/main">
              <a:ext uri="{FF2B5EF4-FFF2-40B4-BE49-F238E27FC236}">
                <a16:creationId xmlns:a16="http://schemas.microsoft.com/office/drawing/2014/main" id="{37F4DEDC-3AD3-4B29-975D-87E863A4AAF6}"/>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docs/TECHNICAL_REPORT_v2.md and retained evaluation records</a:t>
            </a:r>
          </a:p>
        </p:txBody>
      </p:sp>
      <p:sp>
        <p:nvSpPr>
          <p:cNvPr id="3" name="">
            <a:extLst xmlns:a="http://schemas.openxmlformats.org/drawingml/2006/main">
              <a:ext uri="{FF2B5EF4-FFF2-40B4-BE49-F238E27FC236}">
                <a16:creationId xmlns:a16="http://schemas.microsoft.com/office/drawing/2014/main" id="{0613E213-C78B-4EA6-8E2C-97CA738685C0}"/>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A678F1FC-8F7F-4B46-AD4B-5DA7615B5660}"/>
              </a:ext>
            </a:extLst>
          </p:cNvPr>
          <p:cNvSpPr>
            <a:spLocks xmlns:a="http://schemas.openxmlformats.org/drawingml/2006/main" noGrp="1"/>
          </p:cNvSpPr>
          <p:nvPr/>
        </p:nvSpPr>
        <p:spPr>
          <a:xfrm xmlns:a="http://schemas.openxmlformats.org/drawingml/2006/main">
            <a:off x="685800" y="17145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Retrieval finds relevant guidance in 19 of 20 labelled queries.</a:t>
            </a:r>
          </a:p>
        </p:txBody>
      </p:sp>
      <p:sp>
        <p:nvSpPr>
          <p:cNvPr id="5" name="">
            <a:extLst xmlns:a="http://schemas.openxmlformats.org/drawingml/2006/main">
              <a:ext uri="{FF2B5EF4-FFF2-40B4-BE49-F238E27FC236}">
                <a16:creationId xmlns:a16="http://schemas.microsoft.com/office/drawing/2014/main" id="{E97BD555-8C9E-463E-97C7-2234ADA1A2E5}"/>
              </a:ext>
            </a:extLst>
          </p:cNvPr>
          <p:cNvSpPr>
            <a:spLocks xmlns:a="http://schemas.openxmlformats.org/drawingml/2006/main" noGrp="1"/>
          </p:cNvSpPr>
          <p:nvPr/>
        </p:nvSpPr>
        <p:spPr>
          <a:xfrm xmlns:a="http://schemas.openxmlformats.org/drawingml/2006/main">
            <a:off x="685800" y="2686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Controlled corpus changes produce the expected support or abstention.</a:t>
            </a:r>
          </a:p>
        </p:txBody>
      </p:sp>
      <p:sp>
        <p:nvSpPr>
          <p:cNvPr id="6" name="">
            <a:extLst xmlns:a="http://schemas.openxmlformats.org/drawingml/2006/main">
              <a:ext uri="{FF2B5EF4-FFF2-40B4-BE49-F238E27FC236}">
                <a16:creationId xmlns:a16="http://schemas.microsoft.com/office/drawing/2014/main" id="{7603A228-B572-4A6C-A88A-045784B1C667}"/>
              </a:ext>
            </a:extLst>
          </p:cNvPr>
          <p:cNvSpPr>
            <a:spLocks xmlns:a="http://schemas.openxmlformats.org/drawingml/2006/main" noGrp="1"/>
          </p:cNvSpPr>
          <p:nvPr/>
        </p:nvSpPr>
        <p:spPr>
          <a:xfrm xmlns:a="http://schemas.openxmlformats.org/drawingml/2006/main">
            <a:off x="685800" y="365760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Actual model runs demonstrate both accepted and rejected evidence.</a:t>
            </a:r>
          </a:p>
        </p:txBody>
      </p:sp>
      <p:sp>
        <p:nvSpPr>
          <p:cNvPr id="7" name="">
            <a:extLst xmlns:a="http://schemas.openxmlformats.org/drawingml/2006/main">
              <a:ext uri="{FF2B5EF4-FFF2-40B4-BE49-F238E27FC236}">
                <a16:creationId xmlns:a16="http://schemas.microsoft.com/office/drawing/2014/main" id="{1E99ECCA-22F5-44F4-81CA-71C9CFA56EF4}"/>
              </a:ext>
            </a:extLst>
          </p:cNvPr>
          <p:cNvSpPr>
            <a:spLocks xmlns:a="http://schemas.openxmlformats.org/drawingml/2006/main" noGrp="1"/>
          </p:cNvSpPr>
          <p:nvPr/>
        </p:nvSpPr>
        <p:spPr>
          <a:xfrm xmlns:a="http://schemas.openxmlformats.org/drawingml/2006/main">
            <a:off x="685800" y="46291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82E35"/>
                </a:solidFill>
                <a:latin typeface="Arial"/>
                <a:ea typeface="Arial"/>
                <a:cs typeface="Arial"/>
              </a:defRPr>
            </a:defPPr>
          </a:lstStyle>
          <a:p xmlns:a="http://schemas.openxmlformats.org/drawingml/2006/main">
            <a:pPr>
              <a:defRPr sz="2175" b="0">
                <a:solidFill>
                  <a:srgbClr val="182E35"/>
                </a:solidFill>
                <a:latin typeface="Arial"/>
                <a:ea typeface="Arial"/>
                <a:cs typeface="Arial"/>
              </a:defRPr>
            </a:pPr>
            <a:r>
              <a:rPr sz="2175" b="0">
                <a:solidFill>
                  <a:srgbClr val="182E35"/>
                </a:solidFill>
                <a:latin typeface="Arial"/>
                <a:ea typeface="Arial"/>
                <a:cs typeface="Arial"/>
              </a:rPr>
              <a:t>Remaining limits: small synthetic corpus, heuristic detectors, no hardware validation.</a:t>
            </a:r>
          </a:p>
        </p:txBody>
      </p:sp>
      <p:sp>
        <p:nvSpPr>
          <p:cNvPr id="8" name="">
            <a:extLst xmlns:a="http://schemas.openxmlformats.org/drawingml/2006/main">
              <a:ext uri="{FF2B5EF4-FFF2-40B4-BE49-F238E27FC236}">
                <a16:creationId xmlns:a16="http://schemas.microsoft.com/office/drawing/2014/main" id="{25D2637E-28C2-478D-9D4B-05AFA32E3AA1}"/>
              </a:ext>
            </a:extLst>
          </p:cNvPr>
          <p:cNvSpPr>
            <a:spLocks xmlns:a="http://schemas.openxmlformats.org/drawingml/2006/main" noGrp="1"/>
          </p:cNvSpPr>
          <p:nvPr/>
        </p:nvSpPr>
        <p:spPr>
          <a:xfrm xmlns:a="http://schemas.openxmlformats.org/drawingml/2006/main">
            <a:off x="685800" y="574357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2676E"/>
                </a:solidFill>
                <a:latin typeface="Arial"/>
                <a:ea typeface="Arial"/>
                <a:cs typeface="Arial"/>
              </a:defRPr>
            </a:defPPr>
          </a:lstStyle>
          <a:p xmlns:a="http://schemas.openxmlformats.org/drawingml/2006/main">
            <a:pPr>
              <a:defRPr sz="1800" b="0">
                <a:solidFill>
                  <a:srgbClr val="52676E"/>
                </a:solidFill>
                <a:latin typeface="Arial"/>
                <a:ea typeface="Arial"/>
                <a:cs typeface="Arial"/>
              </a:defRPr>
            </a:pPr>
            <a:r>
              <a:rPr sz="1800" b="0">
                <a:solidFill>
                  <a:srgbClr val="52676E"/>
                </a:solidFill>
                <a:latin typeface="Arial"/>
                <a:ea typeface="Arial"/>
                <a:cs typeface="Arial"/>
              </a:rPr>
              <a:t>These results support the stated contracts. They do not certify automotive software safety.</a:t>
            </a:r>
          </a:p>
        </p:txBody>
      </p:sp>
    </p:spTree>
    <p:extLst>
      <p:ext uri="{BB962C8B-B14F-4D97-AF65-F5344CB8AC3E}">
        <p14:creationId xmlns:p14="http://schemas.microsoft.com/office/powerpoint/2010/main" val="41607660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5BEC99-43AB-429C-A3E0-55D8F67CF77B}"/>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Appendix: all query ranks 1–10</a:t>
            </a:r>
          </a:p>
        </p:txBody>
      </p:sp>
      <p:sp>
        <p:nvSpPr>
          <p:cNvPr id="2" name="">
            <a:extLst xmlns:a="http://schemas.openxmlformats.org/drawingml/2006/main">
              <a:ext uri="{FF2B5EF4-FFF2-40B4-BE49-F238E27FC236}">
                <a16:creationId xmlns:a16="http://schemas.microsoft.com/office/drawing/2014/main" id="{2FD5924F-4D3E-4D67-9BFF-7D2E01D3927C}"/>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Evaluation_Results/rag_evidence/retrieval_results.json: cases</a:t>
            </a:r>
          </a:p>
        </p:txBody>
      </p:sp>
      <p:sp>
        <p:nvSpPr>
          <p:cNvPr id="3" name="">
            <a:extLst xmlns:a="http://schemas.openxmlformats.org/drawingml/2006/main">
              <a:ext uri="{FF2B5EF4-FFF2-40B4-BE49-F238E27FC236}">
                <a16:creationId xmlns:a16="http://schemas.microsoft.com/office/drawing/2014/main" id="{F7C9C935-E3C7-45B8-AAE6-3D255BC8527E}"/>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16AA4742-0820-4B3D-8D0D-39819D01741A}"/>
              </a:ext>
            </a:extLst>
          </p:cNvPr>
          <p:cNvGraphicFramePr/>
          <p:nvPr/>
        </p:nvGraphicFramePr>
        <p:xfrm>
          <a:off xmlns:a="http://schemas.openxmlformats.org/drawingml/2006/main" x="685800" y="1504950"/>
          <a:ext xmlns:a="http://schemas.openxmlformats.org/drawingml/2006/main" cx="10820400" cy="4476750"/>
        </p:xfrm>
        <a:graphic xmlns:a="http://schemas.openxmlformats.org/drawingml/2006/main">
          <a:graphicData uri="http://schemas.openxmlformats.org/drawingml/2006/table">
            <a:tbl>
              <a:tblPr/>
              <a:tblGrid>
                <a:gridCol w="3238500"/>
                <a:gridCol w="4572000"/>
                <a:gridCol w="1504950"/>
                <a:gridCol w="1504950"/>
              </a:tblGrid>
              <a:tr h="406977">
                <a:tc>
                  <a:txBody>
                    <a:bodyPr>
                      <a:noAutofit/>
                    </a:bodyPr>
                    <a:lstStyle/>
                    <a:p>
                      <a:r>
                        <a:rPr sz="1800" b="1">
                          <a:solidFill>
                            <a:srgbClr val="FFFFFF"/>
                          </a:solidFill>
                          <a:latin typeface="Arial"/>
                          <a:ea typeface="Arial"/>
                          <a:cs typeface="Arial"/>
                        </a:rPr>
                        <a:t>Expected rule</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Query subject</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BM25</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Hybrid</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406977">
                <a:tc>
                  <a:txBody>
                    <a:bodyPr>
                      <a:noAutofit/>
                    </a:bodyPr>
                    <a:lstStyle/>
                    <a:p>
                      <a:r>
                        <a:rPr sz="1800" b="0">
                          <a:solidFill>
                            <a:srgbClr val="182E35"/>
                          </a:solidFill>
                          <a:latin typeface="Arial"/>
                          <a:ea typeface="Arial"/>
                          <a:cs typeface="Arial"/>
                        </a:rPr>
                        <a:t>AUTO-CAN-DLC</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Classical CAN length 12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AUTO-DIV-ZERO</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RPM denominator is literal zero</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AUTO-STRCPY</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strcpy from diagnostic request</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AUTO-NULL</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NULL pointer dereference</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AUTO-ISR-HEAP</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IRQHandler allocates heap</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AUTO-ISR-BLOCK</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CAN ISR calls HAL_Delay</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3</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AUTO-ARRAY-BOUND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Four-element table, index four</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AUTO-SHIFT-WIDTH</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uint32_t shifted by 32</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Miss</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AUTO-DOUBLE-FREE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Pointer freed twice</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3</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AUTO-USE-AFTER-FREE</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Sensor access after free</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Tree>
    <p:extLst>
      <p:ext uri="{BB962C8B-B14F-4D97-AF65-F5344CB8AC3E}">
        <p14:creationId xmlns:p14="http://schemas.microsoft.com/office/powerpoint/2010/main" val="1826423702"/>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A7D3C4-99AC-417D-8CEB-C9C88CA3E743}"/>
              </a:ext>
            </a:extLst>
          </p:cNvPr>
          <p:cNvSpPr>
            <a:spLocks xmlns:a="http://schemas.openxmlformats.org/drawingml/2006/main" noGrp="1"/>
          </p:cNvSpPr>
          <p:nvPr/>
        </p:nvSpPr>
        <p:spPr>
          <a:xfrm xmlns:a="http://schemas.openxmlformats.org/drawingml/2006/main">
            <a:off x="685800" y="4762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00" b="1">
                <a:solidFill>
                  <a:srgbClr val="102B32"/>
                </a:solidFill>
                <a:latin typeface="Arial"/>
                <a:ea typeface="Arial"/>
                <a:cs typeface="Arial"/>
              </a:defRPr>
            </a:defPPr>
          </a:lstStyle>
          <a:p xmlns:a="http://schemas.openxmlformats.org/drawingml/2006/main">
            <a:pPr>
              <a:defRPr sz="3300" b="1">
                <a:solidFill>
                  <a:srgbClr val="102B32"/>
                </a:solidFill>
                <a:latin typeface="Arial"/>
                <a:ea typeface="Arial"/>
                <a:cs typeface="Arial"/>
              </a:defRPr>
            </a:pPr>
            <a:r>
              <a:rPr sz="3300" b="1">
                <a:solidFill>
                  <a:srgbClr val="102B32"/>
                </a:solidFill>
                <a:latin typeface="Arial"/>
                <a:ea typeface="Arial"/>
                <a:cs typeface="Arial"/>
              </a:rPr>
              <a:t>Appendix: all query ranks 11–20</a:t>
            </a:r>
          </a:p>
        </p:txBody>
      </p:sp>
      <p:sp>
        <p:nvSpPr>
          <p:cNvPr id="2" name="">
            <a:extLst xmlns:a="http://schemas.openxmlformats.org/drawingml/2006/main">
              <a:ext uri="{FF2B5EF4-FFF2-40B4-BE49-F238E27FC236}">
                <a16:creationId xmlns:a16="http://schemas.microsoft.com/office/drawing/2014/main" id="{2C280A6E-6D21-4EAE-9534-1DF805DC3827}"/>
              </a:ext>
            </a:extLst>
          </p:cNvPr>
          <p:cNvSpPr>
            <a:spLocks xmlns:a="http://schemas.openxmlformats.org/drawingml/2006/main" noGrp="1"/>
          </p:cNvSpPr>
          <p:nvPr/>
        </p:nvSpPr>
        <p:spPr>
          <a:xfrm xmlns:a="http://schemas.openxmlformats.org/drawingml/2006/main">
            <a:off x="685800" y="6238875"/>
            <a:ext cx="1009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52676E"/>
                </a:solidFill>
                <a:latin typeface="Arial"/>
                <a:ea typeface="Arial"/>
                <a:cs typeface="Arial"/>
              </a:defRPr>
            </a:defPPr>
          </a:lstStyle>
          <a:p xmlns:a="http://schemas.openxmlformats.org/drawingml/2006/main">
            <a:pPr>
              <a:defRPr sz="1200" b="0">
                <a:solidFill>
                  <a:srgbClr val="52676E"/>
                </a:solidFill>
                <a:latin typeface="Arial"/>
                <a:ea typeface="Arial"/>
                <a:cs typeface="Arial"/>
              </a:defRPr>
            </a:pPr>
            <a:r>
              <a:rPr sz="1200" b="0">
                <a:solidFill>
                  <a:srgbClr val="52676E"/>
                </a:solidFill>
                <a:latin typeface="Arial"/>
                <a:ea typeface="Arial"/>
                <a:cs typeface="Arial"/>
              </a:rPr>
              <a:t>Evaluation_Results/rag_evidence/retrieval_results.json: cases</a:t>
            </a:r>
          </a:p>
        </p:txBody>
      </p:sp>
      <p:sp>
        <p:nvSpPr>
          <p:cNvPr id="3" name="">
            <a:extLst xmlns:a="http://schemas.openxmlformats.org/drawingml/2006/main">
              <a:ext uri="{FF2B5EF4-FFF2-40B4-BE49-F238E27FC236}">
                <a16:creationId xmlns:a16="http://schemas.microsoft.com/office/drawing/2014/main" id="{DC7F9174-E14C-422D-8D62-8E985FA4207F}"/>
              </a:ext>
            </a:extLst>
          </p:cNvPr>
          <p:cNvSpPr>
            <a:spLocks xmlns:a="http://schemas.openxmlformats.org/drawingml/2006/main" noGrp="1"/>
          </p:cNvSpPr>
          <p:nvPr/>
        </p:nvSpPr>
        <p:spPr>
          <a:xfrm xmlns:a="http://schemas.openxmlformats.org/drawingml/2006/main">
            <a:off x="10953750"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75" b="0">
                <a:solidFill>
                  <a:srgbClr val="52676E"/>
                </a:solidFill>
                <a:latin typeface="Arial"/>
                <a:ea typeface="Arial"/>
                <a:cs typeface="Arial"/>
              </a:defRPr>
            </a:defPPr>
          </a:lstStyle>
          <a:p xmlns:a="http://schemas.openxmlformats.org/drawingml/2006/main">
            <a:pPr>
              <a:defRPr sz="1275" b="0">
                <a:solidFill>
                  <a:srgbClr val="52676E"/>
                </a:solidFill>
                <a:latin typeface="Arial"/>
                <a:ea typeface="Arial"/>
                <a:cs typeface="Arial"/>
              </a:defRPr>
            </a:pPr>
            <a:r>
              <a:rPr sz="1275" b="0">
                <a:solidFill>
                  <a:srgbClr val="52676E"/>
                </a:solidFill>
                <a:latin typeface="Arial"/>
                <a:ea typeface="Arial"/>
                <a:cs typeface="Arial"/>
              </a:rPr>
              <a:t>20</a:t>
            </a:r>
          </a:p>
        </p:txBody>
      </p:sp>
      <p:graphicFrame>
        <p:nvGraphicFramePr>
          <p:cNvPr id="4" name="">
            <a:extLst xmlns:a="http://schemas.openxmlformats.org/drawingml/2006/main">
              <a:ext uri="{FF2B5EF4-FFF2-40B4-BE49-F238E27FC236}">
                <a16:creationId xmlns:a16="http://schemas.microsoft.com/office/drawing/2014/main" id="{5983B3AD-C1C3-4F58-989A-350EC9119C2A}"/>
              </a:ext>
            </a:extLst>
          </p:cNvPr>
          <p:cNvGraphicFramePr/>
          <p:nvPr/>
        </p:nvGraphicFramePr>
        <p:xfrm>
          <a:off xmlns:a="http://schemas.openxmlformats.org/drawingml/2006/main" x="685800" y="1504950"/>
          <a:ext xmlns:a="http://schemas.openxmlformats.org/drawingml/2006/main" cx="10820400" cy="4476750"/>
        </p:xfrm>
        <a:graphic xmlns:a="http://schemas.openxmlformats.org/drawingml/2006/main">
          <a:graphicData uri="http://schemas.openxmlformats.org/drawingml/2006/table">
            <a:tbl>
              <a:tblPr/>
              <a:tblGrid>
                <a:gridCol w="3238500"/>
                <a:gridCol w="4572000"/>
                <a:gridCol w="1504950"/>
                <a:gridCol w="1504950"/>
              </a:tblGrid>
              <a:tr h="406977">
                <a:tc>
                  <a:txBody>
                    <a:bodyPr>
                      <a:noAutofit/>
                    </a:bodyPr>
                    <a:lstStyle/>
                    <a:p>
                      <a:r>
                        <a:rPr sz="1800" b="1">
                          <a:solidFill>
                            <a:srgbClr val="FFFFFF"/>
                          </a:solidFill>
                          <a:latin typeface="Arial"/>
                          <a:ea typeface="Arial"/>
                          <a:cs typeface="Arial"/>
                        </a:rPr>
                        <a:t>Expected rule</a:t>
                      </a:r>
                    </a:p>
                  </a:txBody>
                  <a:tcPr marL="91440" marR="91440" marT="45720" marB="45720">
                    <a:lnL w="9525">
                      <a:solidFill>
                        <a:srgbClr val="D6E2E4"/>
                      </a:solidFill>
                      <a:prstDash val="solid"/>
                    </a:lnL>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Query subject</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BM25</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c>
                  <a:txBody>
                    <a:bodyPr>
                      <a:noAutofit/>
                    </a:bodyPr>
                    <a:lstStyle/>
                    <a:p>
                      <a:r>
                        <a:rPr sz="1800" b="1">
                          <a:solidFill>
                            <a:srgbClr val="FFFFFF"/>
                          </a:solidFill>
                          <a:latin typeface="Arial"/>
                          <a:ea typeface="Arial"/>
                          <a:cs typeface="Arial"/>
                        </a:rPr>
                        <a:t>Hybrid</a:t>
                      </a:r>
                    </a:p>
                  </a:txBody>
                  <a:tcPr marL="91440" marR="91440" marT="45720" marB="45720">
                    <a:lnR w="9525">
                      <a:solidFill>
                        <a:srgbClr val="D6E2E4"/>
                      </a:solidFill>
                      <a:prstDash val="solid"/>
                    </a:lnR>
                    <a:lnT w="9525">
                      <a:solidFill>
                        <a:srgbClr val="D6E2E4"/>
                      </a:solidFill>
                      <a:prstDash val="solid"/>
                    </a:lnT>
                    <a:lnB w="9525">
                      <a:solidFill>
                        <a:srgbClr val="D6E2E4"/>
                      </a:solidFill>
                      <a:prstDash val="solid"/>
                    </a:lnB>
                    <a:solidFill>
                      <a:srgbClr val="102B32"/>
                    </a:solidFill>
                  </a:tcPr>
                </a:tc>
              </a:tr>
              <a:tr h="406977">
                <a:tc>
                  <a:txBody>
                    <a:bodyPr>
                      <a:noAutofit/>
                    </a:bodyPr>
                    <a:lstStyle/>
                    <a:p>
                      <a:r>
                        <a:rPr sz="1800" b="0">
                          <a:solidFill>
                            <a:srgbClr val="182E35"/>
                          </a:solidFill>
                          <a:latin typeface="Arial"/>
                          <a:ea typeface="Arial"/>
                          <a:cs typeface="Arial"/>
                        </a:rPr>
                        <a:t>AUTO-LEAK</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Allocation without release</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AUTO-DEFAULT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Switch without default</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AUTO-FORMAT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Untrusted printf format</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AUTO-BUSY-WAIT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Empty watchdog wait loop</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AUTO-RECURSION</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Direct recursion</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AUTO-SHELL</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system invokes shell</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AUTO-ASSIGN-COND</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Assignment in if</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AUTO-SPRINTF</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Unbounded sprintf</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2</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r h="406977">
                <a:tc>
                  <a:txBody>
                    <a:bodyPr>
                      <a:noAutofit/>
                    </a:bodyPr>
                    <a:lstStyle/>
                    <a:p>
                      <a:r>
                        <a:rPr sz="1800" b="0">
                          <a:solidFill>
                            <a:srgbClr val="182E35"/>
                          </a:solidFill>
                          <a:latin typeface="Arial"/>
                          <a:ea typeface="Arial"/>
                          <a:cs typeface="Arial"/>
                        </a:rPr>
                        <a:t>AUTO-STRCAT</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Unbounded strcat</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FFFFFF"/>
                    </a:solidFill>
                  </a:tcPr>
                </a:tc>
              </a:tr>
              <a:tr h="406977">
                <a:tc>
                  <a:txBody>
                    <a:bodyPr>
                      <a:noAutofit/>
                    </a:bodyPr>
                    <a:lstStyle/>
                    <a:p>
                      <a:r>
                        <a:rPr sz="1800" b="0">
                          <a:solidFill>
                            <a:srgbClr val="182E35"/>
                          </a:solidFill>
                          <a:latin typeface="Arial"/>
                          <a:ea typeface="Arial"/>
                          <a:cs typeface="Arial"/>
                        </a:rPr>
                        <a:t>AUTO-GETS</a:t>
                      </a:r>
                    </a:p>
                  </a:txBody>
                  <a:tcPr marL="91440" marR="91440" marT="45720" marB="45720">
                    <a:lnL w="9525">
                      <a:solidFill>
                        <a:srgbClr val="D6E2E4"/>
                      </a:solidFill>
                      <a:prstDash val="solid"/>
                    </a:lnL>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Unbounded gets</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c>
                  <a:txBody>
                    <a:bodyPr>
                      <a:noAutofit/>
                    </a:bodyPr>
                    <a:lstStyle/>
                    <a:p>
                      <a:r>
                        <a:rPr sz="1800" b="0">
                          <a:solidFill>
                            <a:srgbClr val="182E35"/>
                          </a:solidFill>
                          <a:latin typeface="Arial"/>
                          <a:ea typeface="Arial"/>
                          <a:cs typeface="Arial"/>
                        </a:rPr>
                        <a:t>1</a:t>
                      </a:r>
                    </a:p>
                  </a:txBody>
                  <a:tcPr marL="91440" marR="91440" marT="45720" marB="45720">
                    <a:lnR w="9525">
                      <a:solidFill>
                        <a:srgbClr val="D6E2E4"/>
                      </a:solidFill>
                      <a:prstDash val="solid"/>
                    </a:lnR>
                    <a:lnB w="9525">
                      <a:solidFill>
                        <a:srgbClr val="D6E2E4"/>
                      </a:solidFill>
                      <a:prstDash val="solid"/>
                    </a:lnB>
                    <a:solidFill>
                      <a:srgbClr val="E9F1F2"/>
                    </a:solidFill>
                  </a:tcPr>
                </a:tc>
              </a:tr>
            </a:tbl>
          </a:graphicData>
        </a:graphic>
      </p:graphicFrame>
    </p:spTree>
    <p:extLst>
      <p:ext uri="{BB962C8B-B14F-4D97-AF65-F5344CB8AC3E}">
        <p14:creationId xmlns:p14="http://schemas.microsoft.com/office/powerpoint/2010/main" val="751405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2026-10-12T14:27:30.4330000Z</dcterms:created>
  <dcterms:modified xsi:type="dcterms:W3CDTF">2026-10-12T14:27:30.4330000Z</dcterms:modified>
</coreProperties>
</file>